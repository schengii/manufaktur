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Lst>
  <p:sldSz cx="10693400" cy="7556500"/>
  <p:notesSz cx="6858000" cy="9144000"/>
  <p:embeddedFontLst>
    <p:embeddedFont>
      <p:font typeface="Now Light" charset="1" panose="00000400000000000000"/>
      <p:regular r:id="rId20"/>
    </p:embeddedFont>
    <p:embeddedFont>
      <p:font typeface="Now Medium" charset="1" panose="00000600000000000000"/>
      <p:regular r:id="rId21"/>
    </p:embeddedFont>
    <p:embeddedFont>
      <p:font typeface="Great Vibes" charset="1" panose="02000507080000020002"/>
      <p:regular r:id="rId22"/>
    </p:embeddedFont>
    <p:embeddedFont>
      <p:font typeface="Cheque Bold" charset="1" panose="00000500000000000000"/>
      <p:regular r:id="rId23"/>
    </p:embeddedFont>
    <p:embeddedFont>
      <p:font typeface="Now Bold" charset="1" panose="00000800000000000000"/>
      <p:regular r:id="rId24"/>
    </p:embeddedFont>
    <p:embeddedFont>
      <p:font typeface="Now" charset="1" panose="00000500000000000000"/>
      <p:regular r:id="rId25"/>
    </p:embeddedFont>
    <p:embeddedFont>
      <p:font typeface="Breathing" charset="1" panose="02000500000000000000"/>
      <p:regular r:id="rId26"/>
    </p:embeddedFont>
    <p:embeddedFont>
      <p:font typeface="Cheque" charset="1" panose="00000500000000000000"/>
      <p:regular r:id="rId27"/>
    </p:embeddedFont>
    <p:embeddedFont>
      <p:font typeface="Moontime" charset="1" panose="00000000000000000000"/>
      <p:regular r:id="rId28"/>
    </p:embeddedFont>
    <p:embeddedFont>
      <p:font typeface="Virtual" charset="1" panose="00000000000000000000"/>
      <p:regular r:id="rId29"/>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fonts/font20.fntdata" Type="http://schemas.openxmlformats.org/officeDocument/2006/relationships/font"/><Relationship Id="rId21" Target="fonts/font21.fntdata" Type="http://schemas.openxmlformats.org/officeDocument/2006/relationships/font"/><Relationship Id="rId22" Target="fonts/font22.fntdata" Type="http://schemas.openxmlformats.org/officeDocument/2006/relationships/font"/><Relationship Id="rId23" Target="fonts/font23.fntdata" Type="http://schemas.openxmlformats.org/officeDocument/2006/relationships/font"/><Relationship Id="rId24" Target="fonts/font24.fntdata" Type="http://schemas.openxmlformats.org/officeDocument/2006/relationships/font"/><Relationship Id="rId25" Target="fonts/font25.fntdata" Type="http://schemas.openxmlformats.org/officeDocument/2006/relationships/font"/><Relationship Id="rId26" Target="fonts/font26.fntdata" Type="http://schemas.openxmlformats.org/officeDocument/2006/relationships/font"/><Relationship Id="rId27" Target="fonts/font27.fntdata" Type="http://schemas.openxmlformats.org/officeDocument/2006/relationships/font"/><Relationship Id="rId28" Target="fonts/font28.fntdata" Type="http://schemas.openxmlformats.org/officeDocument/2006/relationships/font"/><Relationship Id="rId29" Target="fonts/font29.fntdata" Type="http://schemas.openxmlformats.org/officeDocument/2006/relationships/font"/><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9.png" Type="http://schemas.openxmlformats.org/officeDocument/2006/relationships/image"/><Relationship Id="rId11" Target="../media/image10.png" Type="http://schemas.openxmlformats.org/officeDocument/2006/relationships/image"/><Relationship Id="rId12" Target="../media/image11.svg" Type="http://schemas.openxmlformats.org/officeDocument/2006/relationships/image"/><Relationship Id="rId13" Target="../media/image12.png" Type="http://schemas.openxmlformats.org/officeDocument/2006/relationships/image"/><Relationship Id="rId14" Target="../media/image13.svg" Type="http://schemas.openxmlformats.org/officeDocument/2006/relationships/image"/><Relationship Id="rId2" Target="../media/image1.jpeg" Type="http://schemas.openxmlformats.org/officeDocument/2006/relationships/image"/><Relationship Id="rId3" Target="../media/image2.jpeg" Type="http://schemas.openxmlformats.org/officeDocument/2006/relationships/image"/><Relationship Id="rId4" Target="../media/image3.jpeg" Type="http://schemas.openxmlformats.org/officeDocument/2006/relationships/image"/><Relationship Id="rId5" Target="../media/image4.jpe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 Id="rId8" Target="../media/image7.png" Type="http://schemas.openxmlformats.org/officeDocument/2006/relationships/image"/><Relationship Id="rId9" Target="../media/image8.sv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22.jpeg" Type="http://schemas.openxmlformats.org/officeDocument/2006/relationships/image"/><Relationship Id="rId11" Target="../media/image9.png" Type="http://schemas.openxmlformats.org/officeDocument/2006/relationships/image"/><Relationship Id="rId2" Target="../media/image14.jpeg" Type="http://schemas.openxmlformats.org/officeDocument/2006/relationships/image"/><Relationship Id="rId3" Target="../media/image15.jpeg" Type="http://schemas.openxmlformats.org/officeDocument/2006/relationships/image"/><Relationship Id="rId4" Target="../media/image16.jpeg" Type="http://schemas.openxmlformats.org/officeDocument/2006/relationships/image"/><Relationship Id="rId5" Target="../media/image17.jpeg" Type="http://schemas.openxmlformats.org/officeDocument/2006/relationships/image"/><Relationship Id="rId6" Target="../media/image18.jpeg" Type="http://schemas.openxmlformats.org/officeDocument/2006/relationships/image"/><Relationship Id="rId7" Target="../media/image19.jpeg" Type="http://schemas.openxmlformats.org/officeDocument/2006/relationships/image"/><Relationship Id="rId8" Target="../media/image20.jpeg" Type="http://schemas.openxmlformats.org/officeDocument/2006/relationships/image"/><Relationship Id="rId9" Target="../media/image21.jpe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31.svg" Type="http://schemas.openxmlformats.org/officeDocument/2006/relationships/image"/><Relationship Id="rId11" Target="../media/image32.png" Type="http://schemas.openxmlformats.org/officeDocument/2006/relationships/image"/><Relationship Id="rId12" Target="../media/image33.svg" Type="http://schemas.openxmlformats.org/officeDocument/2006/relationships/image"/><Relationship Id="rId13" Target="../media/image34.png" Type="http://schemas.openxmlformats.org/officeDocument/2006/relationships/image"/><Relationship Id="rId14" Target="../media/image35.svg" Type="http://schemas.openxmlformats.org/officeDocument/2006/relationships/image"/><Relationship Id="rId15" Target="../media/image5.png" Type="http://schemas.openxmlformats.org/officeDocument/2006/relationships/image"/><Relationship Id="rId16" Target="../media/image6.svg" Type="http://schemas.openxmlformats.org/officeDocument/2006/relationships/image"/><Relationship Id="rId17" Target="../media/image7.png" Type="http://schemas.openxmlformats.org/officeDocument/2006/relationships/image"/><Relationship Id="rId18" Target="../media/image8.svg" Type="http://schemas.openxmlformats.org/officeDocument/2006/relationships/image"/><Relationship Id="rId19" Target="../media/image36.png" Type="http://schemas.openxmlformats.org/officeDocument/2006/relationships/image"/><Relationship Id="rId2" Target="../media/image23.png" Type="http://schemas.openxmlformats.org/officeDocument/2006/relationships/image"/><Relationship Id="rId20" Target="../media/image37.svg" Type="http://schemas.openxmlformats.org/officeDocument/2006/relationships/image"/><Relationship Id="rId21" Target="../media/image9.png" Type="http://schemas.openxmlformats.org/officeDocument/2006/relationships/image"/><Relationship Id="rId22" Target="../media/image10.png" Type="http://schemas.openxmlformats.org/officeDocument/2006/relationships/image"/><Relationship Id="rId23" Target="../media/image11.svg" Type="http://schemas.openxmlformats.org/officeDocument/2006/relationships/image"/><Relationship Id="rId24" Target="../media/image12.png" Type="http://schemas.openxmlformats.org/officeDocument/2006/relationships/image"/><Relationship Id="rId25" Target="../media/image13.svg" Type="http://schemas.openxmlformats.org/officeDocument/2006/relationships/image"/><Relationship Id="rId26" Target="../media/image38.png" Type="http://schemas.openxmlformats.org/officeDocument/2006/relationships/image"/><Relationship Id="rId27" Target="../media/image39.svg" Type="http://schemas.openxmlformats.org/officeDocument/2006/relationships/image"/><Relationship Id="rId28" Target="../media/image40.png" Type="http://schemas.openxmlformats.org/officeDocument/2006/relationships/image"/><Relationship Id="rId29" Target="../media/image41.svg" Type="http://schemas.openxmlformats.org/officeDocument/2006/relationships/image"/><Relationship Id="rId3" Target="../media/image24.png" Type="http://schemas.openxmlformats.org/officeDocument/2006/relationships/image"/><Relationship Id="rId4" Target="../media/image25.png" Type="http://schemas.openxmlformats.org/officeDocument/2006/relationships/image"/><Relationship Id="rId5" Target="../media/image26.png" Type="http://schemas.openxmlformats.org/officeDocument/2006/relationships/image"/><Relationship Id="rId6" Target="../media/image27.svg" Type="http://schemas.openxmlformats.org/officeDocument/2006/relationships/image"/><Relationship Id="rId7" Target="../media/image28.png" Type="http://schemas.openxmlformats.org/officeDocument/2006/relationships/image"/><Relationship Id="rId8" Target="../media/image29.svg" Type="http://schemas.openxmlformats.org/officeDocument/2006/relationships/image"/><Relationship Id="rId9" Target="../media/image30.pn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8.jpeg" Type="http://schemas.openxmlformats.org/officeDocument/2006/relationships/image"/><Relationship Id="rId11" Target="../media/image9.png" Type="http://schemas.openxmlformats.org/officeDocument/2006/relationships/image"/><Relationship Id="rId2" Target="../media/image14.jpeg" Type="http://schemas.openxmlformats.org/officeDocument/2006/relationships/image"/><Relationship Id="rId3" Target="../media/image15.jpeg" Type="http://schemas.openxmlformats.org/officeDocument/2006/relationships/image"/><Relationship Id="rId4" Target="../media/image16.jpeg" Type="http://schemas.openxmlformats.org/officeDocument/2006/relationships/image"/><Relationship Id="rId5" Target="../media/image17.jpeg" Type="http://schemas.openxmlformats.org/officeDocument/2006/relationships/image"/><Relationship Id="rId6" Target="../media/image22.jpeg" Type="http://schemas.openxmlformats.org/officeDocument/2006/relationships/image"/><Relationship Id="rId7" Target="../media/image19.jpeg" Type="http://schemas.openxmlformats.org/officeDocument/2006/relationships/image"/><Relationship Id="rId8" Target="../media/image20.jpeg" Type="http://schemas.openxmlformats.org/officeDocument/2006/relationships/image"/><Relationship Id="rId9" Target="../media/image21.jpe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8.jpeg" Type="http://schemas.openxmlformats.org/officeDocument/2006/relationships/image"/><Relationship Id="rId11" Target="../media/image9.png" Type="http://schemas.openxmlformats.org/officeDocument/2006/relationships/image"/><Relationship Id="rId2" Target="../media/image14.jpeg" Type="http://schemas.openxmlformats.org/officeDocument/2006/relationships/image"/><Relationship Id="rId3" Target="../media/image15.jpeg" Type="http://schemas.openxmlformats.org/officeDocument/2006/relationships/image"/><Relationship Id="rId4" Target="../media/image16.jpeg" Type="http://schemas.openxmlformats.org/officeDocument/2006/relationships/image"/><Relationship Id="rId5" Target="../media/image17.jpeg" Type="http://schemas.openxmlformats.org/officeDocument/2006/relationships/image"/><Relationship Id="rId6" Target="../media/image22.jpeg" Type="http://schemas.openxmlformats.org/officeDocument/2006/relationships/image"/><Relationship Id="rId7" Target="../media/image19.jpeg" Type="http://schemas.openxmlformats.org/officeDocument/2006/relationships/image"/><Relationship Id="rId8" Target="../media/image20.jpeg" Type="http://schemas.openxmlformats.org/officeDocument/2006/relationships/image"/><Relationship Id="rId9" Target="../media/image21.jpe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9.png" Type="http://schemas.openxmlformats.org/officeDocument/2006/relationships/image"/><Relationship Id="rId11" Target="../media/image10.png" Type="http://schemas.openxmlformats.org/officeDocument/2006/relationships/image"/><Relationship Id="rId12" Target="../media/image11.svg" Type="http://schemas.openxmlformats.org/officeDocument/2006/relationships/image"/><Relationship Id="rId13" Target="../media/image4.jpeg" Type="http://schemas.openxmlformats.org/officeDocument/2006/relationships/image"/><Relationship Id="rId2" Target="../media/image1.jpeg" Type="http://schemas.openxmlformats.org/officeDocument/2006/relationships/image"/><Relationship Id="rId3" Target="../media/image2.jpeg" Type="http://schemas.openxmlformats.org/officeDocument/2006/relationships/image"/><Relationship Id="rId4" Target="../media/image3.jpeg" Type="http://schemas.openxmlformats.org/officeDocument/2006/relationships/image"/><Relationship Id="rId5" Target="../media/image5.png" Type="http://schemas.openxmlformats.org/officeDocument/2006/relationships/image"/><Relationship Id="rId6" Target="../media/image6.svg" Type="http://schemas.openxmlformats.org/officeDocument/2006/relationships/image"/><Relationship Id="rId7" Target="../media/image7.png" Type="http://schemas.openxmlformats.org/officeDocument/2006/relationships/image"/><Relationship Id="rId8" Target="../media/image8.svg" Type="http://schemas.openxmlformats.org/officeDocument/2006/relationships/image"/><Relationship Id="rId9" Target="../media/image23.pn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23.png" Type="http://schemas.openxmlformats.org/officeDocument/2006/relationships/image"/><Relationship Id="rId11" Target="../media/image9.png" Type="http://schemas.openxmlformats.org/officeDocument/2006/relationships/image"/><Relationship Id="rId12" Target="../media/image10.png" Type="http://schemas.openxmlformats.org/officeDocument/2006/relationships/image"/><Relationship Id="rId13" Target="../media/image11.svg" Type="http://schemas.openxmlformats.org/officeDocument/2006/relationships/image"/><Relationship Id="rId2" Target="../media/image1.jpeg" Type="http://schemas.openxmlformats.org/officeDocument/2006/relationships/image"/><Relationship Id="rId3" Target="../media/image4.jpeg" Type="http://schemas.openxmlformats.org/officeDocument/2006/relationships/image"/><Relationship Id="rId4" Target="../media/image2.jpeg" Type="http://schemas.openxmlformats.org/officeDocument/2006/relationships/image"/><Relationship Id="rId5" Target="../media/image3.jpe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 Id="rId8" Target="../media/image7.png" Type="http://schemas.openxmlformats.org/officeDocument/2006/relationships/image"/><Relationship Id="rId9" Target="../media/image8.sv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9.png" Type="http://schemas.openxmlformats.org/officeDocument/2006/relationships/image"/><Relationship Id="rId2" Target="../media/image14.jpeg" Type="http://schemas.openxmlformats.org/officeDocument/2006/relationships/image"/><Relationship Id="rId3" Target="../media/image15.jpeg" Type="http://schemas.openxmlformats.org/officeDocument/2006/relationships/image"/><Relationship Id="rId4" Target="../media/image17.jpeg" Type="http://schemas.openxmlformats.org/officeDocument/2006/relationships/image"/><Relationship Id="rId5" Target="../media/image16.jpeg" Type="http://schemas.openxmlformats.org/officeDocument/2006/relationships/image"/><Relationship Id="rId6" Target="../media/image18.jpeg" Type="http://schemas.openxmlformats.org/officeDocument/2006/relationships/image"/><Relationship Id="rId7" Target="../media/image19.jpeg" Type="http://schemas.openxmlformats.org/officeDocument/2006/relationships/image"/><Relationship Id="rId8" Target="../media/image20.jpeg" Type="http://schemas.openxmlformats.org/officeDocument/2006/relationships/image"/><Relationship Id="rId9" Target="../media/image21.jpe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23.png" Type="http://schemas.openxmlformats.org/officeDocument/2006/relationships/image"/><Relationship Id="rId11" Target="../media/image9.png" Type="http://schemas.openxmlformats.org/officeDocument/2006/relationships/image"/><Relationship Id="rId12" Target="../media/image10.png" Type="http://schemas.openxmlformats.org/officeDocument/2006/relationships/image"/><Relationship Id="rId13" Target="../media/image11.svg" Type="http://schemas.openxmlformats.org/officeDocument/2006/relationships/image"/><Relationship Id="rId2" Target="../media/image1.jpeg" Type="http://schemas.openxmlformats.org/officeDocument/2006/relationships/image"/><Relationship Id="rId3" Target="../media/image4.jpeg" Type="http://schemas.openxmlformats.org/officeDocument/2006/relationships/image"/><Relationship Id="rId4" Target="../media/image2.jpeg" Type="http://schemas.openxmlformats.org/officeDocument/2006/relationships/image"/><Relationship Id="rId5" Target="../media/image3.jpe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 Id="rId8" Target="../media/image7.png" Type="http://schemas.openxmlformats.org/officeDocument/2006/relationships/image"/><Relationship Id="rId9" Target="../media/image8.sv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9.png" Type="http://schemas.openxmlformats.org/officeDocument/2006/relationships/image"/><Relationship Id="rId2" Target="../media/image14.jpeg" Type="http://schemas.openxmlformats.org/officeDocument/2006/relationships/image"/><Relationship Id="rId3" Target="../media/image15.jpeg" Type="http://schemas.openxmlformats.org/officeDocument/2006/relationships/image"/><Relationship Id="rId4" Target="../media/image17.jpeg" Type="http://schemas.openxmlformats.org/officeDocument/2006/relationships/image"/><Relationship Id="rId5" Target="../media/image16.jpeg" Type="http://schemas.openxmlformats.org/officeDocument/2006/relationships/image"/><Relationship Id="rId6" Target="../media/image18.jpeg" Type="http://schemas.openxmlformats.org/officeDocument/2006/relationships/image"/><Relationship Id="rId7" Target="../media/image19.jpeg" Type="http://schemas.openxmlformats.org/officeDocument/2006/relationships/image"/><Relationship Id="rId8" Target="../media/image20.jpeg" Type="http://schemas.openxmlformats.org/officeDocument/2006/relationships/image"/><Relationship Id="rId9" Target="../media/image21.jpe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1.svg" Type="http://schemas.openxmlformats.org/officeDocument/2006/relationships/image"/><Relationship Id="rId2" Target="../media/image3.jpeg" Type="http://schemas.openxmlformats.org/officeDocument/2006/relationships/image"/><Relationship Id="rId3" Target="../media/image5.png" Type="http://schemas.openxmlformats.org/officeDocument/2006/relationships/image"/><Relationship Id="rId4" Target="../media/image6.svg" Type="http://schemas.openxmlformats.org/officeDocument/2006/relationships/image"/><Relationship Id="rId5" Target="../media/image7.png" Type="http://schemas.openxmlformats.org/officeDocument/2006/relationships/image"/><Relationship Id="rId6" Target="../media/image8.svg" Type="http://schemas.openxmlformats.org/officeDocument/2006/relationships/image"/><Relationship Id="rId7" Target="../media/image23.png" Type="http://schemas.openxmlformats.org/officeDocument/2006/relationships/image"/><Relationship Id="rId8" Target="../media/image9.png" Type="http://schemas.openxmlformats.org/officeDocument/2006/relationships/image"/><Relationship Id="rId9" Target="../media/image10.pn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46.svg" Type="http://schemas.openxmlformats.org/officeDocument/2006/relationships/image"/><Relationship Id="rId11" Target="../media/image47.png" Type="http://schemas.openxmlformats.org/officeDocument/2006/relationships/image"/><Relationship Id="rId2" Target="../media/image42.png" Type="http://schemas.openxmlformats.org/officeDocument/2006/relationships/image"/><Relationship Id="rId3" Target="../media/image43.png" Type="http://schemas.openxmlformats.org/officeDocument/2006/relationships/image"/><Relationship Id="rId4" Target="../media/image44.svg" Type="http://schemas.openxmlformats.org/officeDocument/2006/relationships/image"/><Relationship Id="rId5" Target="../media/image23.png" Type="http://schemas.openxmlformats.org/officeDocument/2006/relationships/image"/><Relationship Id="rId6" Target="../media/image9.png" Type="http://schemas.openxmlformats.org/officeDocument/2006/relationships/image"/><Relationship Id="rId7" Target="../media/image10.png" Type="http://schemas.openxmlformats.org/officeDocument/2006/relationships/image"/><Relationship Id="rId8" Target="../media/image11.svg" Type="http://schemas.openxmlformats.org/officeDocument/2006/relationships/image"/><Relationship Id="rId9" Target="../media/image45.pn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8.png" Type="http://schemas.openxmlformats.org/officeDocument/2006/relationships/image"/><Relationship Id="rId3" Target="../media/image49.jpeg" Type="http://schemas.openxmlformats.org/officeDocument/2006/relationships/image"/><Relationship Id="rId4" Target="../media/image50.jpeg" Type="http://schemas.openxmlformats.org/officeDocument/2006/relationships/image"/></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1.png" Type="http://schemas.openxmlformats.org/officeDocument/2006/relationships/image"/><Relationship Id="rId3" Target="../media/image52.pn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AutoShape 2" id="2"/>
          <p:cNvSpPr/>
          <p:nvPr/>
        </p:nvSpPr>
        <p:spPr>
          <a:xfrm flipH="true">
            <a:off x="233024" y="7049251"/>
            <a:ext cx="3056632" cy="0"/>
          </a:xfrm>
          <a:prstGeom prst="line">
            <a:avLst/>
          </a:prstGeom>
          <a:ln cap="flat" w="47625">
            <a:solidFill>
              <a:srgbClr val="484540"/>
            </a:solidFill>
            <a:prstDash val="solid"/>
            <a:headEnd type="none" len="sm" w="sm"/>
            <a:tailEnd type="none" len="sm" w="sm"/>
          </a:ln>
        </p:spPr>
      </p:sp>
      <p:sp>
        <p:nvSpPr>
          <p:cNvPr name="Freeform 3" id="3"/>
          <p:cNvSpPr/>
          <p:nvPr/>
        </p:nvSpPr>
        <p:spPr>
          <a:xfrm flipH="false" flipV="false" rot="0">
            <a:off x="3817771" y="1096959"/>
            <a:ext cx="3056400" cy="2056870"/>
          </a:xfrm>
          <a:custGeom>
            <a:avLst/>
            <a:gdLst/>
            <a:ahLst/>
            <a:cxnLst/>
            <a:rect r="r" b="b" t="t" l="l"/>
            <a:pathLst>
              <a:path h="2056870" w="3056400">
                <a:moveTo>
                  <a:pt x="0" y="0"/>
                </a:moveTo>
                <a:lnTo>
                  <a:pt x="3056400" y="0"/>
                </a:lnTo>
                <a:lnTo>
                  <a:pt x="3056400" y="2056870"/>
                </a:lnTo>
                <a:lnTo>
                  <a:pt x="0" y="2056870"/>
                </a:lnTo>
                <a:lnTo>
                  <a:pt x="0" y="0"/>
                </a:lnTo>
                <a:close/>
              </a:path>
            </a:pathLst>
          </a:custGeom>
          <a:blipFill>
            <a:blip r:embed="rId2"/>
            <a:stretch>
              <a:fillRect l="-7956" t="-23132" r="-22865" b="-136375"/>
            </a:stretch>
          </a:blipFill>
          <a:ln w="4762" cap="sq">
            <a:solidFill>
              <a:srgbClr val="484540"/>
            </a:solidFill>
            <a:prstDash val="solid"/>
            <a:miter/>
          </a:ln>
        </p:spPr>
      </p:sp>
      <p:grpSp>
        <p:nvGrpSpPr>
          <p:cNvPr name="Group 4" id="4"/>
          <p:cNvGrpSpPr/>
          <p:nvPr/>
        </p:nvGrpSpPr>
        <p:grpSpPr>
          <a:xfrm rot="0">
            <a:off x="7128000" y="0"/>
            <a:ext cx="3564000" cy="7560000"/>
            <a:chOff x="0" y="0"/>
            <a:chExt cx="751328" cy="1593725"/>
          </a:xfrm>
        </p:grpSpPr>
        <p:sp>
          <p:nvSpPr>
            <p:cNvPr name="Freeform 5" id="5"/>
            <p:cNvSpPr/>
            <p:nvPr/>
          </p:nvSpPr>
          <p:spPr>
            <a:xfrm flipH="false" flipV="false" rot="0">
              <a:off x="0" y="0"/>
              <a:ext cx="751328" cy="1593725"/>
            </a:xfrm>
            <a:custGeom>
              <a:avLst/>
              <a:gdLst/>
              <a:ahLst/>
              <a:cxnLst/>
              <a:rect r="r" b="b" t="t" l="l"/>
              <a:pathLst>
                <a:path h="1593725" w="751328">
                  <a:moveTo>
                    <a:pt x="0" y="0"/>
                  </a:moveTo>
                  <a:lnTo>
                    <a:pt x="751328" y="0"/>
                  </a:lnTo>
                  <a:lnTo>
                    <a:pt x="751328" y="1593725"/>
                  </a:lnTo>
                  <a:lnTo>
                    <a:pt x="0" y="1593725"/>
                  </a:lnTo>
                  <a:close/>
                </a:path>
              </a:pathLst>
            </a:custGeom>
            <a:blipFill>
              <a:blip r:embed="rId3"/>
              <a:stretch>
                <a:fillRect l="-145849" t="-29744" r="-121104" b="0"/>
              </a:stretch>
            </a:blipFill>
          </p:spPr>
        </p:sp>
      </p:grpSp>
      <p:grpSp>
        <p:nvGrpSpPr>
          <p:cNvPr name="Group 6" id="6"/>
          <p:cNvGrpSpPr/>
          <p:nvPr/>
        </p:nvGrpSpPr>
        <p:grpSpPr>
          <a:xfrm rot="0">
            <a:off x="0" y="0"/>
            <a:ext cx="3564000" cy="7560000"/>
            <a:chOff x="0" y="0"/>
            <a:chExt cx="751328" cy="1593725"/>
          </a:xfrm>
        </p:grpSpPr>
        <p:sp>
          <p:nvSpPr>
            <p:cNvPr name="Freeform 7" id="7"/>
            <p:cNvSpPr/>
            <p:nvPr/>
          </p:nvSpPr>
          <p:spPr>
            <a:xfrm flipH="false" flipV="false" rot="0">
              <a:off x="0" y="0"/>
              <a:ext cx="751328" cy="1593725"/>
            </a:xfrm>
            <a:custGeom>
              <a:avLst/>
              <a:gdLst/>
              <a:ahLst/>
              <a:cxnLst/>
              <a:rect r="r" b="b" t="t" l="l"/>
              <a:pathLst>
                <a:path h="1593725" w="751328">
                  <a:moveTo>
                    <a:pt x="0" y="0"/>
                  </a:moveTo>
                  <a:lnTo>
                    <a:pt x="751328" y="0"/>
                  </a:lnTo>
                  <a:lnTo>
                    <a:pt x="751328" y="1593725"/>
                  </a:lnTo>
                  <a:lnTo>
                    <a:pt x="0" y="1593725"/>
                  </a:lnTo>
                  <a:close/>
                </a:path>
              </a:pathLst>
            </a:custGeom>
            <a:blipFill>
              <a:blip r:embed="rId4"/>
              <a:stretch>
                <a:fillRect l="-81276" t="-4801" r="-121533" b="-2203"/>
              </a:stretch>
            </a:blipFill>
          </p:spPr>
        </p:sp>
      </p:grpSp>
      <p:grpSp>
        <p:nvGrpSpPr>
          <p:cNvPr name="Group 8" id="8"/>
          <p:cNvGrpSpPr/>
          <p:nvPr/>
        </p:nvGrpSpPr>
        <p:grpSpPr>
          <a:xfrm rot="0">
            <a:off x="0" y="0"/>
            <a:ext cx="3564000" cy="7560000"/>
            <a:chOff x="0" y="0"/>
            <a:chExt cx="1277257" cy="2709333"/>
          </a:xfrm>
        </p:grpSpPr>
        <p:sp>
          <p:nvSpPr>
            <p:cNvPr name="Freeform 9" id="9"/>
            <p:cNvSpPr/>
            <p:nvPr/>
          </p:nvSpPr>
          <p:spPr>
            <a:xfrm flipH="false" flipV="false" rot="0">
              <a:off x="0" y="0"/>
              <a:ext cx="1277257" cy="2709333"/>
            </a:xfrm>
            <a:custGeom>
              <a:avLst/>
              <a:gdLst/>
              <a:ahLst/>
              <a:cxnLst/>
              <a:rect r="r" b="b" t="t" l="l"/>
              <a:pathLst>
                <a:path h="2709333" w="1277257">
                  <a:moveTo>
                    <a:pt x="0" y="0"/>
                  </a:moveTo>
                  <a:lnTo>
                    <a:pt x="1277257" y="0"/>
                  </a:lnTo>
                  <a:lnTo>
                    <a:pt x="1277257" y="2709333"/>
                  </a:lnTo>
                  <a:lnTo>
                    <a:pt x="0" y="2709333"/>
                  </a:lnTo>
                  <a:close/>
                </a:path>
              </a:pathLst>
            </a:custGeom>
            <a:solidFill>
              <a:srgbClr val="D9D9D9">
                <a:alpha val="49804"/>
              </a:srgbClr>
            </a:solidFill>
          </p:spPr>
        </p:sp>
        <p:sp>
          <p:nvSpPr>
            <p:cNvPr name="TextBox 10" id="10"/>
            <p:cNvSpPr txBox="true"/>
            <p:nvPr/>
          </p:nvSpPr>
          <p:spPr>
            <a:xfrm>
              <a:off x="0" y="-19050"/>
              <a:ext cx="1277257" cy="2728383"/>
            </a:xfrm>
            <a:prstGeom prst="rect">
              <a:avLst/>
            </a:prstGeom>
          </p:spPr>
          <p:txBody>
            <a:bodyPr anchor="ctr" rtlCol="false" tIns="50800" lIns="50800" bIns="50800" rIns="50800"/>
            <a:lstStyle/>
            <a:p>
              <a:pPr algn="ctr">
                <a:lnSpc>
                  <a:spcPts val="1889"/>
                </a:lnSpc>
              </a:pPr>
            </a:p>
          </p:txBody>
        </p:sp>
      </p:grpSp>
      <p:grpSp>
        <p:nvGrpSpPr>
          <p:cNvPr name="Group 11" id="11"/>
          <p:cNvGrpSpPr/>
          <p:nvPr/>
        </p:nvGrpSpPr>
        <p:grpSpPr>
          <a:xfrm rot="0">
            <a:off x="7128000" y="0"/>
            <a:ext cx="3564000" cy="7560000"/>
            <a:chOff x="0" y="0"/>
            <a:chExt cx="1277257" cy="2709333"/>
          </a:xfrm>
        </p:grpSpPr>
        <p:sp>
          <p:nvSpPr>
            <p:cNvPr name="Freeform 12" id="12"/>
            <p:cNvSpPr/>
            <p:nvPr/>
          </p:nvSpPr>
          <p:spPr>
            <a:xfrm flipH="false" flipV="false" rot="0">
              <a:off x="0" y="0"/>
              <a:ext cx="1277257" cy="2709333"/>
            </a:xfrm>
            <a:custGeom>
              <a:avLst/>
              <a:gdLst/>
              <a:ahLst/>
              <a:cxnLst/>
              <a:rect r="r" b="b" t="t" l="l"/>
              <a:pathLst>
                <a:path h="2709333" w="1277257">
                  <a:moveTo>
                    <a:pt x="0" y="0"/>
                  </a:moveTo>
                  <a:lnTo>
                    <a:pt x="1277257" y="0"/>
                  </a:lnTo>
                  <a:lnTo>
                    <a:pt x="1277257" y="2709333"/>
                  </a:lnTo>
                  <a:lnTo>
                    <a:pt x="0" y="2709333"/>
                  </a:lnTo>
                  <a:close/>
                </a:path>
              </a:pathLst>
            </a:custGeom>
            <a:solidFill>
              <a:srgbClr val="D9D9D9">
                <a:alpha val="49804"/>
              </a:srgbClr>
            </a:solidFill>
          </p:spPr>
        </p:sp>
        <p:sp>
          <p:nvSpPr>
            <p:cNvPr name="TextBox 13" id="13"/>
            <p:cNvSpPr txBox="true"/>
            <p:nvPr/>
          </p:nvSpPr>
          <p:spPr>
            <a:xfrm>
              <a:off x="0" y="-19050"/>
              <a:ext cx="1277257" cy="2728383"/>
            </a:xfrm>
            <a:prstGeom prst="rect">
              <a:avLst/>
            </a:prstGeom>
          </p:spPr>
          <p:txBody>
            <a:bodyPr anchor="ctr" rtlCol="false" tIns="50800" lIns="50800" bIns="50800" rIns="50800"/>
            <a:lstStyle/>
            <a:p>
              <a:pPr algn="ctr">
                <a:lnSpc>
                  <a:spcPts val="1889"/>
                </a:lnSpc>
              </a:pPr>
            </a:p>
          </p:txBody>
        </p:sp>
      </p:grpSp>
      <p:sp>
        <p:nvSpPr>
          <p:cNvPr name="AutoShape 14" id="14"/>
          <p:cNvSpPr/>
          <p:nvPr/>
        </p:nvSpPr>
        <p:spPr>
          <a:xfrm flipH="true">
            <a:off x="3817655" y="639590"/>
            <a:ext cx="3056632" cy="0"/>
          </a:xfrm>
          <a:prstGeom prst="line">
            <a:avLst/>
          </a:prstGeom>
          <a:ln cap="flat" w="47625">
            <a:solidFill>
              <a:srgbClr val="484540"/>
            </a:solidFill>
            <a:prstDash val="solid"/>
            <a:headEnd type="none" len="sm" w="sm"/>
            <a:tailEnd type="none" len="sm" w="sm"/>
          </a:ln>
        </p:spPr>
      </p:sp>
      <p:grpSp>
        <p:nvGrpSpPr>
          <p:cNvPr name="Group 15" id="15"/>
          <p:cNvGrpSpPr/>
          <p:nvPr/>
        </p:nvGrpSpPr>
        <p:grpSpPr>
          <a:xfrm rot="0">
            <a:off x="3817655" y="3587386"/>
            <a:ext cx="3056632" cy="1051049"/>
            <a:chOff x="0" y="0"/>
            <a:chExt cx="4075509" cy="1401399"/>
          </a:xfrm>
        </p:grpSpPr>
        <p:sp>
          <p:nvSpPr>
            <p:cNvPr name="TextBox 16" id="16"/>
            <p:cNvSpPr txBox="true"/>
            <p:nvPr/>
          </p:nvSpPr>
          <p:spPr>
            <a:xfrm rot="0">
              <a:off x="0" y="506332"/>
              <a:ext cx="4075509" cy="895067"/>
            </a:xfrm>
            <a:prstGeom prst="rect">
              <a:avLst/>
            </a:prstGeom>
          </p:spPr>
          <p:txBody>
            <a:bodyPr anchor="t" rtlCol="false" tIns="0" lIns="0" bIns="0" rIns="0">
              <a:spAutoFit/>
            </a:bodyPr>
            <a:lstStyle/>
            <a:p>
              <a:pPr algn="l" marL="172720" indent="-86360" lvl="1">
                <a:lnSpc>
                  <a:spcPts val="1119"/>
                </a:lnSpc>
                <a:buFont typeface="Arial"/>
                <a:buChar char="•"/>
              </a:pPr>
              <a:r>
                <a:rPr lang="en-US" sz="799" spc="39">
                  <a:solidFill>
                    <a:srgbClr val="484540"/>
                  </a:solidFill>
                  <a:latin typeface="Now Light"/>
                  <a:ea typeface="Now Light"/>
                  <a:cs typeface="Now Light"/>
                  <a:sym typeface="Now Light"/>
                </a:rPr>
                <a:t>Frauchen von Balou</a:t>
              </a:r>
            </a:p>
            <a:p>
              <a:pPr algn="l" marL="172720" indent="-86360" lvl="1">
                <a:lnSpc>
                  <a:spcPts val="1119"/>
                </a:lnSpc>
                <a:buFont typeface="Arial"/>
                <a:buChar char="•"/>
              </a:pPr>
              <a:r>
                <a:rPr lang="en-US" sz="799" spc="39">
                  <a:solidFill>
                    <a:srgbClr val="484540"/>
                  </a:solidFill>
                  <a:latin typeface="Now Light"/>
                  <a:ea typeface="Now Light"/>
                  <a:cs typeface="Now Light"/>
                  <a:sym typeface="Now Light"/>
                </a:rPr>
                <a:t>Leidensch</a:t>
              </a:r>
              <a:r>
                <a:rPr lang="en-US" sz="799" spc="39">
                  <a:solidFill>
                    <a:srgbClr val="484540"/>
                  </a:solidFill>
                  <a:latin typeface="Now Light"/>
                  <a:ea typeface="Now Light"/>
                  <a:cs typeface="Now Light"/>
                  <a:sym typeface="Now Light"/>
                </a:rPr>
                <a:t>aftliche Malerin (Acryl und Öl)</a:t>
              </a:r>
            </a:p>
            <a:p>
              <a:pPr algn="l" marL="172720" indent="-86360" lvl="1">
                <a:lnSpc>
                  <a:spcPts val="1119"/>
                </a:lnSpc>
                <a:buFont typeface="Arial"/>
                <a:buChar char="•"/>
              </a:pPr>
              <a:r>
                <a:rPr lang="en-US" sz="799" spc="39">
                  <a:solidFill>
                    <a:srgbClr val="484540"/>
                  </a:solidFill>
                  <a:latin typeface="Now Light"/>
                  <a:ea typeface="Now Light"/>
                  <a:cs typeface="Now Light"/>
                  <a:sym typeface="Now Light"/>
                </a:rPr>
                <a:t>Hundeliebhaberin und Naturfreundin – besonders im Wald finde ich oft die Inspiration für meine Arbeiten.</a:t>
              </a:r>
            </a:p>
          </p:txBody>
        </p:sp>
        <p:sp>
          <p:nvSpPr>
            <p:cNvPr name="TextBox 17" id="17"/>
            <p:cNvSpPr txBox="true"/>
            <p:nvPr/>
          </p:nvSpPr>
          <p:spPr>
            <a:xfrm rot="0">
              <a:off x="0" y="-28575"/>
              <a:ext cx="4075509" cy="422723"/>
            </a:xfrm>
            <a:prstGeom prst="rect">
              <a:avLst/>
            </a:prstGeom>
          </p:spPr>
          <p:txBody>
            <a:bodyPr anchor="t" rtlCol="false" tIns="0" lIns="0" bIns="0" rIns="0">
              <a:spAutoFit/>
            </a:bodyPr>
            <a:lstStyle/>
            <a:p>
              <a:pPr algn="l">
                <a:lnSpc>
                  <a:spcPts val="2676"/>
                </a:lnSpc>
              </a:pPr>
              <a:r>
                <a:rPr lang="en-US" sz="1982" spc="164" b="true">
                  <a:solidFill>
                    <a:srgbClr val="484540"/>
                  </a:solidFill>
                  <a:latin typeface="Now Medium"/>
                  <a:ea typeface="Now Medium"/>
                  <a:cs typeface="Now Medium"/>
                  <a:sym typeface="Now Medium"/>
                </a:rPr>
                <a:t>Wer bin ich?</a:t>
              </a:r>
            </a:p>
          </p:txBody>
        </p:sp>
      </p:grpSp>
      <p:sp>
        <p:nvSpPr>
          <p:cNvPr name="AutoShape 18" id="18"/>
          <p:cNvSpPr/>
          <p:nvPr/>
        </p:nvSpPr>
        <p:spPr>
          <a:xfrm flipH="true">
            <a:off x="3817655" y="7049251"/>
            <a:ext cx="3056632" cy="0"/>
          </a:xfrm>
          <a:prstGeom prst="line">
            <a:avLst/>
          </a:prstGeom>
          <a:ln cap="flat" w="47625">
            <a:solidFill>
              <a:srgbClr val="484540"/>
            </a:solidFill>
            <a:prstDash val="solid"/>
            <a:headEnd type="none" len="sm" w="sm"/>
            <a:tailEnd type="none" len="sm" w="sm"/>
          </a:ln>
        </p:spPr>
      </p:sp>
      <p:grpSp>
        <p:nvGrpSpPr>
          <p:cNvPr name="Group 19" id="19"/>
          <p:cNvGrpSpPr/>
          <p:nvPr/>
        </p:nvGrpSpPr>
        <p:grpSpPr>
          <a:xfrm rot="0">
            <a:off x="3817713" y="5071992"/>
            <a:ext cx="3056516" cy="1519890"/>
            <a:chOff x="0" y="0"/>
            <a:chExt cx="4075355" cy="2026521"/>
          </a:xfrm>
        </p:grpSpPr>
        <p:sp>
          <p:nvSpPr>
            <p:cNvPr name="TextBox 20" id="20"/>
            <p:cNvSpPr txBox="true"/>
            <p:nvPr/>
          </p:nvSpPr>
          <p:spPr>
            <a:xfrm rot="0">
              <a:off x="0" y="-28575"/>
              <a:ext cx="4075355" cy="867223"/>
            </a:xfrm>
            <a:prstGeom prst="rect">
              <a:avLst/>
            </a:prstGeom>
          </p:spPr>
          <p:txBody>
            <a:bodyPr anchor="t" rtlCol="false" tIns="0" lIns="0" bIns="0" rIns="0">
              <a:spAutoFit/>
            </a:bodyPr>
            <a:lstStyle/>
            <a:p>
              <a:pPr algn="l">
                <a:lnSpc>
                  <a:spcPts val="2676"/>
                </a:lnSpc>
              </a:pPr>
              <a:r>
                <a:rPr lang="en-US" sz="1982" spc="164" b="true">
                  <a:solidFill>
                    <a:srgbClr val="484540"/>
                  </a:solidFill>
                  <a:latin typeface="Now Medium"/>
                  <a:ea typeface="Now Medium"/>
                  <a:cs typeface="Now Medium"/>
                  <a:sym typeface="Now Medium"/>
                </a:rPr>
                <a:t>Ruf mich an oder schreib mir:</a:t>
              </a:r>
            </a:p>
          </p:txBody>
        </p:sp>
        <p:sp>
          <p:nvSpPr>
            <p:cNvPr name="TextBox 21" id="21"/>
            <p:cNvSpPr txBox="true"/>
            <p:nvPr/>
          </p:nvSpPr>
          <p:spPr>
            <a:xfrm rot="0">
              <a:off x="0" y="950832"/>
              <a:ext cx="3214954" cy="1075689"/>
            </a:xfrm>
            <a:prstGeom prst="rect">
              <a:avLst/>
            </a:prstGeom>
          </p:spPr>
          <p:txBody>
            <a:bodyPr anchor="t" rtlCol="false" tIns="0" lIns="0" bIns="0" rIns="0">
              <a:spAutoFit/>
            </a:bodyPr>
            <a:lstStyle/>
            <a:p>
              <a:pPr algn="l" marL="172720" indent="-86360" lvl="1">
                <a:lnSpc>
                  <a:spcPts val="1119"/>
                </a:lnSpc>
                <a:buFont typeface="Arial"/>
                <a:buChar char="•"/>
              </a:pPr>
              <a:r>
                <a:rPr lang="en-US" sz="799" spc="39">
                  <a:solidFill>
                    <a:srgbClr val="484540"/>
                  </a:solidFill>
                  <a:latin typeface="Now Light"/>
                  <a:ea typeface="Now Light"/>
                  <a:cs typeface="Now Light"/>
                  <a:sym typeface="Now Light"/>
                </a:rPr>
                <a:t>Am liebsten male ich Tiere &amp; Natur nach Fotovorlagen.</a:t>
              </a:r>
            </a:p>
            <a:p>
              <a:pPr algn="l" marL="172720" indent="-86360" lvl="1">
                <a:lnSpc>
                  <a:spcPts val="1119"/>
                </a:lnSpc>
                <a:buFont typeface="Arial"/>
                <a:buChar char="•"/>
              </a:pPr>
              <a:r>
                <a:rPr lang="en-US" sz="799" spc="39">
                  <a:solidFill>
                    <a:srgbClr val="484540"/>
                  </a:solidFill>
                  <a:latin typeface="Now Light"/>
                  <a:ea typeface="Now Light"/>
                  <a:cs typeface="Now Light"/>
                  <a:sym typeface="Now Light"/>
                </a:rPr>
                <a:t>Ich freue mich, Dich in einem Beratungs-gespräch näher kennenzulernen.</a:t>
              </a:r>
            </a:p>
            <a:p>
              <a:pPr algn="l" marL="172720" indent="-86360" lvl="1">
                <a:lnSpc>
                  <a:spcPts val="1119"/>
                </a:lnSpc>
                <a:buFont typeface="Arial"/>
                <a:buChar char="•"/>
              </a:pPr>
              <a:r>
                <a:rPr lang="en-US" sz="799" spc="39">
                  <a:solidFill>
                    <a:srgbClr val="484540"/>
                  </a:solidFill>
                  <a:latin typeface="Now Light"/>
                  <a:ea typeface="Now Light"/>
                  <a:cs typeface="Now Light"/>
                  <a:sym typeface="Now Light"/>
                </a:rPr>
                <a:t>Tel.: 0163 2662435</a:t>
              </a:r>
            </a:p>
            <a:p>
              <a:pPr algn="l" marL="172720" indent="-86360" lvl="1">
                <a:lnSpc>
                  <a:spcPts val="1119"/>
                </a:lnSpc>
                <a:buFont typeface="Arial"/>
                <a:buChar char="•"/>
              </a:pPr>
              <a:r>
                <a:rPr lang="en-US" sz="799" spc="39">
                  <a:solidFill>
                    <a:srgbClr val="484540"/>
                  </a:solidFill>
                  <a:latin typeface="Now Light"/>
                  <a:ea typeface="Now Light"/>
                  <a:cs typeface="Now Light"/>
                  <a:sym typeface="Now Light"/>
                </a:rPr>
                <a:t>E-Mail: manufaktur-malerei@web.de</a:t>
              </a:r>
            </a:p>
          </p:txBody>
        </p:sp>
        <p:sp>
          <p:nvSpPr>
            <p:cNvPr name="Freeform 22" id="22"/>
            <p:cNvSpPr/>
            <p:nvPr/>
          </p:nvSpPr>
          <p:spPr>
            <a:xfrm flipH="false" flipV="false" rot="0">
              <a:off x="3292627" y="977540"/>
              <a:ext cx="782728" cy="1041323"/>
            </a:xfrm>
            <a:custGeom>
              <a:avLst/>
              <a:gdLst/>
              <a:ahLst/>
              <a:cxnLst/>
              <a:rect r="r" b="b" t="t" l="l"/>
              <a:pathLst>
                <a:path h="1041323" w="782728">
                  <a:moveTo>
                    <a:pt x="0" y="0"/>
                  </a:moveTo>
                  <a:lnTo>
                    <a:pt x="782728" y="0"/>
                  </a:lnTo>
                  <a:lnTo>
                    <a:pt x="782728" y="1041323"/>
                  </a:lnTo>
                  <a:lnTo>
                    <a:pt x="0" y="1041323"/>
                  </a:lnTo>
                  <a:lnTo>
                    <a:pt x="0" y="0"/>
                  </a:lnTo>
                  <a:close/>
                </a:path>
              </a:pathLst>
            </a:custGeom>
            <a:blipFill>
              <a:blip r:embed="rId5"/>
              <a:stretch>
                <a:fillRect l="0" t="0" r="0" b="0"/>
              </a:stretch>
            </a:blipFill>
            <a:ln w="4762" cap="sq">
              <a:solidFill>
                <a:srgbClr val="484540"/>
              </a:solidFill>
              <a:prstDash val="solid"/>
              <a:miter/>
            </a:ln>
          </p:spPr>
        </p:sp>
      </p:grpSp>
      <p:grpSp>
        <p:nvGrpSpPr>
          <p:cNvPr name="Group 23" id="23"/>
          <p:cNvGrpSpPr/>
          <p:nvPr/>
        </p:nvGrpSpPr>
        <p:grpSpPr>
          <a:xfrm rot="0">
            <a:off x="7272634" y="5174049"/>
            <a:ext cx="3244021" cy="1899014"/>
            <a:chOff x="0" y="0"/>
            <a:chExt cx="4325361" cy="2532019"/>
          </a:xfrm>
        </p:grpSpPr>
        <p:sp>
          <p:nvSpPr>
            <p:cNvPr name="Freeform 24" id="24"/>
            <p:cNvSpPr/>
            <p:nvPr/>
          </p:nvSpPr>
          <p:spPr>
            <a:xfrm flipH="false" flipV="false" rot="0">
              <a:off x="295910" y="0"/>
              <a:ext cx="3733540" cy="2532019"/>
            </a:xfrm>
            <a:custGeom>
              <a:avLst/>
              <a:gdLst/>
              <a:ahLst/>
              <a:cxnLst/>
              <a:rect r="r" b="b" t="t" l="l"/>
              <a:pathLst>
                <a:path h="2532019" w="3733540">
                  <a:moveTo>
                    <a:pt x="0" y="0"/>
                  </a:moveTo>
                  <a:lnTo>
                    <a:pt x="3733541" y="0"/>
                  </a:lnTo>
                  <a:lnTo>
                    <a:pt x="3733541" y="2532019"/>
                  </a:lnTo>
                  <a:lnTo>
                    <a:pt x="0" y="2532019"/>
                  </a:lnTo>
                  <a:lnTo>
                    <a:pt x="0" y="0"/>
                  </a:lnTo>
                  <a:close/>
                </a:path>
              </a:pathLst>
            </a:custGeom>
            <a:blipFill>
              <a:blip r:embed="rId6">
                <a:alphaModFix amt="77000"/>
                <a:extLst>
                  <a:ext uri="{96DAC541-7B7A-43D3-8B79-37D633B846F1}">
                    <asvg:svgBlip xmlns:asvg="http://schemas.microsoft.com/office/drawing/2016/SVG/main" r:embed="rId7"/>
                  </a:ext>
                </a:extLst>
              </a:blip>
              <a:stretch>
                <a:fillRect l="0" t="0" r="0" b="0"/>
              </a:stretch>
            </a:blipFill>
          </p:spPr>
        </p:sp>
        <p:sp>
          <p:nvSpPr>
            <p:cNvPr name="Freeform 25" id="25"/>
            <p:cNvSpPr/>
            <p:nvPr/>
          </p:nvSpPr>
          <p:spPr>
            <a:xfrm flipH="false" flipV="false" rot="0">
              <a:off x="0" y="11655"/>
              <a:ext cx="4325361" cy="2508709"/>
            </a:xfrm>
            <a:custGeom>
              <a:avLst/>
              <a:gdLst/>
              <a:ahLst/>
              <a:cxnLst/>
              <a:rect r="r" b="b" t="t" l="l"/>
              <a:pathLst>
                <a:path h="2508709" w="4325361">
                  <a:moveTo>
                    <a:pt x="0" y="0"/>
                  </a:moveTo>
                  <a:lnTo>
                    <a:pt x="4325361" y="0"/>
                  </a:lnTo>
                  <a:lnTo>
                    <a:pt x="4325361" y="2508709"/>
                  </a:lnTo>
                  <a:lnTo>
                    <a:pt x="0" y="2508709"/>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26" id="26"/>
            <p:cNvSpPr/>
            <p:nvPr/>
          </p:nvSpPr>
          <p:spPr>
            <a:xfrm flipH="false" flipV="false" rot="-677456">
              <a:off x="652349" y="753280"/>
              <a:ext cx="1232545" cy="1075238"/>
            </a:xfrm>
            <a:custGeom>
              <a:avLst/>
              <a:gdLst/>
              <a:ahLst/>
              <a:cxnLst/>
              <a:rect r="r" b="b" t="t" l="l"/>
              <a:pathLst>
                <a:path h="1075238" w="1232545">
                  <a:moveTo>
                    <a:pt x="0" y="0"/>
                  </a:moveTo>
                  <a:lnTo>
                    <a:pt x="1232545" y="0"/>
                  </a:lnTo>
                  <a:lnTo>
                    <a:pt x="1232545" y="1075238"/>
                  </a:lnTo>
                  <a:lnTo>
                    <a:pt x="0" y="1075238"/>
                  </a:lnTo>
                  <a:lnTo>
                    <a:pt x="0" y="0"/>
                  </a:lnTo>
                  <a:close/>
                </a:path>
              </a:pathLst>
            </a:custGeom>
            <a:blipFill>
              <a:blip r:embed="rId10"/>
              <a:stretch>
                <a:fillRect l="-1242" t="-6652" r="-295" b="-5375"/>
              </a:stretch>
            </a:blipFill>
          </p:spPr>
        </p:sp>
        <p:sp>
          <p:nvSpPr>
            <p:cNvPr name="Freeform 27" id="27"/>
            <p:cNvSpPr/>
            <p:nvPr/>
          </p:nvSpPr>
          <p:spPr>
            <a:xfrm flipH="false" flipV="false" rot="0">
              <a:off x="1580136" y="1796078"/>
              <a:ext cx="142696" cy="142696"/>
            </a:xfrm>
            <a:custGeom>
              <a:avLst/>
              <a:gdLst/>
              <a:ahLst/>
              <a:cxnLst/>
              <a:rect r="r" b="b" t="t" l="l"/>
              <a:pathLst>
                <a:path h="142696" w="142696">
                  <a:moveTo>
                    <a:pt x="0" y="0"/>
                  </a:moveTo>
                  <a:lnTo>
                    <a:pt x="142696" y="0"/>
                  </a:lnTo>
                  <a:lnTo>
                    <a:pt x="142696" y="142695"/>
                  </a:lnTo>
                  <a:lnTo>
                    <a:pt x="0" y="142695"/>
                  </a:lnTo>
                  <a:lnTo>
                    <a:pt x="0" y="0"/>
                  </a:lnTo>
                  <a:close/>
                </a:path>
              </a:pathLst>
            </a:custGeom>
            <a:blipFill>
              <a:blip r:embed="rId11">
                <a:extLst>
                  <a:ext uri="{96DAC541-7B7A-43D3-8B79-37D633B846F1}">
                    <asvg:svgBlip xmlns:asvg="http://schemas.microsoft.com/office/drawing/2016/SVG/main" r:embed="rId12"/>
                  </a:ext>
                </a:extLst>
              </a:blip>
              <a:stretch>
                <a:fillRect l="0" t="0" r="0" b="0"/>
              </a:stretch>
            </a:blipFill>
          </p:spPr>
        </p:sp>
        <p:sp>
          <p:nvSpPr>
            <p:cNvPr name="TextBox 28" id="28"/>
            <p:cNvSpPr txBox="true"/>
            <p:nvPr/>
          </p:nvSpPr>
          <p:spPr>
            <a:xfrm rot="0">
              <a:off x="554659" y="855997"/>
              <a:ext cx="1398513" cy="595376"/>
            </a:xfrm>
            <a:prstGeom prst="rect">
              <a:avLst/>
            </a:prstGeom>
          </p:spPr>
          <p:txBody>
            <a:bodyPr anchor="t" rtlCol="false" tIns="0" lIns="0" bIns="0" rIns="0">
              <a:spAutoFit/>
            </a:bodyPr>
            <a:lstStyle/>
            <a:p>
              <a:pPr algn="ctr">
                <a:lnSpc>
                  <a:spcPts val="3732"/>
                </a:lnSpc>
                <a:spcBef>
                  <a:spcPct val="0"/>
                </a:spcBef>
              </a:pPr>
              <a:r>
                <a:rPr lang="en-US" sz="2764" spc="265">
                  <a:solidFill>
                    <a:srgbClr val="004AAD"/>
                  </a:solidFill>
                  <a:latin typeface="Great Vibes"/>
                  <a:ea typeface="Great Vibes"/>
                  <a:cs typeface="Great Vibes"/>
                  <a:sym typeface="Great Vibes"/>
                </a:rPr>
                <a:t>Manu</a:t>
              </a:r>
            </a:p>
          </p:txBody>
        </p:sp>
        <p:sp>
          <p:nvSpPr>
            <p:cNvPr name="TextBox 29" id="29"/>
            <p:cNvSpPr txBox="true"/>
            <p:nvPr/>
          </p:nvSpPr>
          <p:spPr>
            <a:xfrm rot="0">
              <a:off x="1791026" y="889189"/>
              <a:ext cx="2013912" cy="468981"/>
            </a:xfrm>
            <a:prstGeom prst="rect">
              <a:avLst/>
            </a:prstGeom>
          </p:spPr>
          <p:txBody>
            <a:bodyPr anchor="t" rtlCol="false" tIns="0" lIns="0" bIns="0" rIns="0">
              <a:spAutoFit/>
            </a:bodyPr>
            <a:lstStyle/>
            <a:p>
              <a:pPr algn="ctr">
                <a:lnSpc>
                  <a:spcPts val="2923"/>
                </a:lnSpc>
                <a:spcBef>
                  <a:spcPct val="0"/>
                </a:spcBef>
              </a:pPr>
              <a:r>
                <a:rPr lang="en-US" sz="2165" spc="411">
                  <a:solidFill>
                    <a:srgbClr val="004AAD"/>
                  </a:solidFill>
                  <a:latin typeface="Cheque Bold"/>
                  <a:ea typeface="Cheque Bold"/>
                  <a:cs typeface="Cheque Bold"/>
                  <a:sym typeface="Cheque Bold"/>
                </a:rPr>
                <a:t>FAKTUR</a:t>
              </a:r>
            </a:p>
          </p:txBody>
        </p:sp>
        <p:sp>
          <p:nvSpPr>
            <p:cNvPr name="TextBox 30" id="30"/>
            <p:cNvSpPr txBox="true"/>
            <p:nvPr/>
          </p:nvSpPr>
          <p:spPr>
            <a:xfrm rot="0">
              <a:off x="1436730" y="1655162"/>
              <a:ext cx="1451900" cy="122170"/>
            </a:xfrm>
            <a:prstGeom prst="rect">
              <a:avLst/>
            </a:prstGeom>
          </p:spPr>
          <p:txBody>
            <a:bodyPr anchor="t" rtlCol="false" tIns="0" lIns="0" bIns="0" rIns="0">
              <a:spAutoFit/>
            </a:bodyPr>
            <a:lstStyle/>
            <a:p>
              <a:pPr algn="ctr">
                <a:lnSpc>
                  <a:spcPts val="758"/>
                </a:lnSpc>
                <a:spcBef>
                  <a:spcPct val="0"/>
                </a:spcBef>
              </a:pPr>
              <a:r>
                <a:rPr lang="en-US" b="true" sz="562" spc="133">
                  <a:solidFill>
                    <a:srgbClr val="000000"/>
                  </a:solidFill>
                  <a:latin typeface="Now Bold"/>
                  <a:ea typeface="Now Bold"/>
                  <a:cs typeface="Now Bold"/>
                  <a:sym typeface="Now Bold"/>
                </a:rPr>
                <a:t>Individuelle Malerei</a:t>
              </a:r>
            </a:p>
          </p:txBody>
        </p:sp>
        <p:sp>
          <p:nvSpPr>
            <p:cNvPr name="TextBox 31" id="31"/>
            <p:cNvSpPr txBox="true"/>
            <p:nvPr/>
          </p:nvSpPr>
          <p:spPr>
            <a:xfrm rot="0">
              <a:off x="1793718" y="1801807"/>
              <a:ext cx="951506" cy="121712"/>
            </a:xfrm>
            <a:prstGeom prst="rect">
              <a:avLst/>
            </a:prstGeom>
          </p:spPr>
          <p:txBody>
            <a:bodyPr anchor="t" rtlCol="false" tIns="0" lIns="0" bIns="0" rIns="0">
              <a:spAutoFit/>
            </a:bodyPr>
            <a:lstStyle/>
            <a:p>
              <a:pPr algn="l">
                <a:lnSpc>
                  <a:spcPts val="755"/>
                </a:lnSpc>
                <a:spcBef>
                  <a:spcPct val="0"/>
                </a:spcBef>
              </a:pPr>
              <a:r>
                <a:rPr lang="en-US" sz="559" spc="132">
                  <a:solidFill>
                    <a:srgbClr val="000000"/>
                  </a:solidFill>
                  <a:latin typeface="Now"/>
                  <a:ea typeface="Now"/>
                  <a:cs typeface="Now"/>
                  <a:sym typeface="Now"/>
                </a:rPr>
                <a:t>0163 2662435</a:t>
              </a:r>
            </a:p>
          </p:txBody>
        </p:sp>
        <p:sp>
          <p:nvSpPr>
            <p:cNvPr name="TextBox 32" id="32"/>
            <p:cNvSpPr txBox="true"/>
            <p:nvPr/>
          </p:nvSpPr>
          <p:spPr>
            <a:xfrm rot="0">
              <a:off x="1140479" y="1396017"/>
              <a:ext cx="2044403" cy="187273"/>
            </a:xfrm>
            <a:prstGeom prst="rect">
              <a:avLst/>
            </a:prstGeom>
          </p:spPr>
          <p:txBody>
            <a:bodyPr anchor="t" rtlCol="false" tIns="0" lIns="0" bIns="0" rIns="0">
              <a:spAutoFit/>
            </a:bodyPr>
            <a:lstStyle/>
            <a:p>
              <a:pPr algn="ctr">
                <a:lnSpc>
                  <a:spcPts val="1136"/>
                </a:lnSpc>
                <a:spcBef>
                  <a:spcPct val="0"/>
                </a:spcBef>
              </a:pPr>
              <a:r>
                <a:rPr lang="en-US" b="true" sz="842" spc="199">
                  <a:solidFill>
                    <a:srgbClr val="000000"/>
                  </a:solidFill>
                  <a:latin typeface="Now Bold"/>
                  <a:ea typeface="Now Bold"/>
                  <a:cs typeface="Now Bold"/>
                  <a:sym typeface="Now Bold"/>
                </a:rPr>
                <a:t>Manuela Schenk</a:t>
              </a:r>
            </a:p>
          </p:txBody>
        </p:sp>
        <p:sp>
          <p:nvSpPr>
            <p:cNvPr name="Freeform 33" id="33"/>
            <p:cNvSpPr/>
            <p:nvPr/>
          </p:nvSpPr>
          <p:spPr>
            <a:xfrm flipH="false" flipV="false" rot="10529037">
              <a:off x="2741980" y="1839483"/>
              <a:ext cx="435662" cy="201078"/>
            </a:xfrm>
            <a:custGeom>
              <a:avLst/>
              <a:gdLst/>
              <a:ahLst/>
              <a:cxnLst/>
              <a:rect r="r" b="b" t="t" l="l"/>
              <a:pathLst>
                <a:path h="201078" w="435662">
                  <a:moveTo>
                    <a:pt x="0" y="0"/>
                  </a:moveTo>
                  <a:lnTo>
                    <a:pt x="435662" y="0"/>
                  </a:lnTo>
                  <a:lnTo>
                    <a:pt x="435662" y="201077"/>
                  </a:lnTo>
                  <a:lnTo>
                    <a:pt x="0" y="201077"/>
                  </a:lnTo>
                  <a:lnTo>
                    <a:pt x="0" y="0"/>
                  </a:lnTo>
                  <a:close/>
                </a:path>
              </a:pathLst>
            </a:custGeom>
            <a:blipFill>
              <a:blip r:embed="rId10"/>
              <a:stretch>
                <a:fillRect l="-211672" t="0" r="-133967" b="-829333"/>
              </a:stretch>
            </a:blipFill>
          </p:spPr>
        </p:sp>
        <p:sp>
          <p:nvSpPr>
            <p:cNvPr name="Freeform 34" id="34"/>
            <p:cNvSpPr/>
            <p:nvPr/>
          </p:nvSpPr>
          <p:spPr>
            <a:xfrm flipH="false" flipV="false" rot="3196809">
              <a:off x="3301659" y="1235143"/>
              <a:ext cx="126030" cy="900211"/>
            </a:xfrm>
            <a:custGeom>
              <a:avLst/>
              <a:gdLst/>
              <a:ahLst/>
              <a:cxnLst/>
              <a:rect r="r" b="b" t="t" l="l"/>
              <a:pathLst>
                <a:path h="900211" w="126030">
                  <a:moveTo>
                    <a:pt x="0" y="0"/>
                  </a:moveTo>
                  <a:lnTo>
                    <a:pt x="126030" y="0"/>
                  </a:lnTo>
                  <a:lnTo>
                    <a:pt x="126030" y="900211"/>
                  </a:lnTo>
                  <a:lnTo>
                    <a:pt x="0" y="900211"/>
                  </a:lnTo>
                  <a:lnTo>
                    <a:pt x="0" y="0"/>
                  </a:lnTo>
                  <a:close/>
                </a:path>
              </a:pathLst>
            </a:custGeom>
            <a:blipFill>
              <a:blip r:embed="rId13">
                <a:extLst>
                  <a:ext uri="{96DAC541-7B7A-43D3-8B79-37D633B846F1}">
                    <asvg:svgBlip xmlns:asvg="http://schemas.microsoft.com/office/drawing/2016/SVG/main" r:embed="rId14"/>
                  </a:ext>
                </a:extLst>
              </a:blip>
              <a:stretch>
                <a:fillRect l="0" t="0" r="0" b="0"/>
              </a:stretch>
            </a:blipFill>
          </p:spPr>
        </p:sp>
      </p:grpSp>
      <p:grpSp>
        <p:nvGrpSpPr>
          <p:cNvPr name="Group 35" id="35"/>
          <p:cNvGrpSpPr/>
          <p:nvPr/>
        </p:nvGrpSpPr>
        <p:grpSpPr>
          <a:xfrm rot="0">
            <a:off x="475801" y="5602830"/>
            <a:ext cx="2612399" cy="1041453"/>
            <a:chOff x="0" y="0"/>
            <a:chExt cx="3483198" cy="1388604"/>
          </a:xfrm>
        </p:grpSpPr>
        <p:sp>
          <p:nvSpPr>
            <p:cNvPr name="Freeform 36" id="36"/>
            <p:cNvSpPr/>
            <p:nvPr/>
          </p:nvSpPr>
          <p:spPr>
            <a:xfrm flipH="false" flipV="false" rot="-677456">
              <a:off x="104691" y="118156"/>
              <a:ext cx="1320870" cy="1152291"/>
            </a:xfrm>
            <a:custGeom>
              <a:avLst/>
              <a:gdLst/>
              <a:ahLst/>
              <a:cxnLst/>
              <a:rect r="r" b="b" t="t" l="l"/>
              <a:pathLst>
                <a:path h="1152291" w="1320870">
                  <a:moveTo>
                    <a:pt x="0" y="0"/>
                  </a:moveTo>
                  <a:lnTo>
                    <a:pt x="1320870" y="0"/>
                  </a:lnTo>
                  <a:lnTo>
                    <a:pt x="1320870" y="1152291"/>
                  </a:lnTo>
                  <a:lnTo>
                    <a:pt x="0" y="1152291"/>
                  </a:lnTo>
                  <a:lnTo>
                    <a:pt x="0" y="0"/>
                  </a:lnTo>
                  <a:close/>
                </a:path>
              </a:pathLst>
            </a:custGeom>
            <a:blipFill>
              <a:blip r:embed="rId10"/>
              <a:stretch>
                <a:fillRect l="-1242" t="-6652" r="-295" b="-5375"/>
              </a:stretch>
            </a:blipFill>
          </p:spPr>
        </p:sp>
        <p:sp>
          <p:nvSpPr>
            <p:cNvPr name="TextBox 37" id="37"/>
            <p:cNvSpPr txBox="true"/>
            <p:nvPr/>
          </p:nvSpPr>
          <p:spPr>
            <a:xfrm rot="0">
              <a:off x="0" y="230965"/>
              <a:ext cx="1498732" cy="635311"/>
            </a:xfrm>
            <a:prstGeom prst="rect">
              <a:avLst/>
            </a:prstGeom>
          </p:spPr>
          <p:txBody>
            <a:bodyPr anchor="t" rtlCol="false" tIns="0" lIns="0" bIns="0" rIns="0">
              <a:spAutoFit/>
            </a:bodyPr>
            <a:lstStyle/>
            <a:p>
              <a:pPr algn="ctr">
                <a:lnSpc>
                  <a:spcPts val="3999"/>
                </a:lnSpc>
                <a:spcBef>
                  <a:spcPct val="0"/>
                </a:spcBef>
              </a:pPr>
              <a:r>
                <a:rPr lang="en-US" sz="2962" spc="284">
                  <a:solidFill>
                    <a:srgbClr val="004AAD"/>
                  </a:solidFill>
                  <a:latin typeface="Great Vibes"/>
                  <a:ea typeface="Great Vibes"/>
                  <a:cs typeface="Great Vibes"/>
                  <a:sym typeface="Great Vibes"/>
                </a:rPr>
                <a:t>Manu</a:t>
              </a:r>
            </a:p>
          </p:txBody>
        </p:sp>
        <p:sp>
          <p:nvSpPr>
            <p:cNvPr name="TextBox 38" id="38"/>
            <p:cNvSpPr txBox="true"/>
            <p:nvPr/>
          </p:nvSpPr>
          <p:spPr>
            <a:xfrm rot="0">
              <a:off x="1324966" y="266535"/>
              <a:ext cx="2158232" cy="499858"/>
            </a:xfrm>
            <a:prstGeom prst="rect">
              <a:avLst/>
            </a:prstGeom>
          </p:spPr>
          <p:txBody>
            <a:bodyPr anchor="t" rtlCol="false" tIns="0" lIns="0" bIns="0" rIns="0">
              <a:spAutoFit/>
            </a:bodyPr>
            <a:lstStyle/>
            <a:p>
              <a:pPr algn="ctr">
                <a:lnSpc>
                  <a:spcPts val="3132"/>
                </a:lnSpc>
                <a:spcBef>
                  <a:spcPct val="0"/>
                </a:spcBef>
              </a:pPr>
              <a:r>
                <a:rPr lang="en-US" sz="2320" spc="440">
                  <a:solidFill>
                    <a:srgbClr val="004AAD"/>
                  </a:solidFill>
                  <a:latin typeface="Cheque Bold"/>
                  <a:ea typeface="Cheque Bold"/>
                  <a:cs typeface="Cheque Bold"/>
                  <a:sym typeface="Cheque Bold"/>
                </a:rPr>
                <a:t>FAKTUR</a:t>
              </a:r>
            </a:p>
          </p:txBody>
        </p:sp>
        <p:sp>
          <p:nvSpPr>
            <p:cNvPr name="TextBox 39" id="39"/>
            <p:cNvSpPr txBox="true"/>
            <p:nvPr/>
          </p:nvSpPr>
          <p:spPr>
            <a:xfrm rot="0">
              <a:off x="627800" y="808318"/>
              <a:ext cx="2190908" cy="199328"/>
            </a:xfrm>
            <a:prstGeom prst="rect">
              <a:avLst/>
            </a:prstGeom>
          </p:spPr>
          <p:txBody>
            <a:bodyPr anchor="t" rtlCol="false" tIns="0" lIns="0" bIns="0" rIns="0">
              <a:spAutoFit/>
            </a:bodyPr>
            <a:lstStyle/>
            <a:p>
              <a:pPr algn="ctr">
                <a:lnSpc>
                  <a:spcPts val="1218"/>
                </a:lnSpc>
                <a:spcBef>
                  <a:spcPct val="0"/>
                </a:spcBef>
              </a:pPr>
              <a:r>
                <a:rPr lang="en-US" b="true" sz="902" spc="213">
                  <a:solidFill>
                    <a:srgbClr val="000000"/>
                  </a:solidFill>
                  <a:latin typeface="Now Bold"/>
                  <a:ea typeface="Now Bold"/>
                  <a:cs typeface="Now Bold"/>
                  <a:sym typeface="Now Bold"/>
                </a:rPr>
                <a:t>Manuela Schenk</a:t>
              </a:r>
            </a:p>
          </p:txBody>
        </p:sp>
      </p:gr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AutoShape 2" id="2"/>
          <p:cNvSpPr/>
          <p:nvPr/>
        </p:nvSpPr>
        <p:spPr>
          <a:xfrm>
            <a:off x="3864638" y="638235"/>
            <a:ext cx="7030276" cy="0"/>
          </a:xfrm>
          <a:prstGeom prst="line">
            <a:avLst/>
          </a:prstGeom>
          <a:ln cap="flat" w="47625">
            <a:solidFill>
              <a:srgbClr val="484540"/>
            </a:solidFill>
            <a:prstDash val="solid"/>
            <a:headEnd type="none" len="sm" w="sm"/>
            <a:tailEnd type="none" len="sm" w="sm"/>
          </a:ln>
        </p:spPr>
      </p:sp>
      <p:sp>
        <p:nvSpPr>
          <p:cNvPr name="AutoShape 3" id="3"/>
          <p:cNvSpPr/>
          <p:nvPr/>
        </p:nvSpPr>
        <p:spPr>
          <a:xfrm flipH="true">
            <a:off x="233024" y="7049251"/>
            <a:ext cx="3056632" cy="0"/>
          </a:xfrm>
          <a:prstGeom prst="line">
            <a:avLst/>
          </a:prstGeom>
          <a:ln cap="flat" w="47625">
            <a:solidFill>
              <a:srgbClr val="484540"/>
            </a:solidFill>
            <a:prstDash val="solid"/>
            <a:headEnd type="none" len="sm" w="sm"/>
            <a:tailEnd type="none" len="sm" w="sm"/>
          </a:ln>
        </p:spPr>
      </p:sp>
      <p:sp>
        <p:nvSpPr>
          <p:cNvPr name="AutoShape 4" id="4"/>
          <p:cNvSpPr/>
          <p:nvPr/>
        </p:nvSpPr>
        <p:spPr>
          <a:xfrm flipH="true">
            <a:off x="7331178" y="7059436"/>
            <a:ext cx="3056632" cy="0"/>
          </a:xfrm>
          <a:prstGeom prst="line">
            <a:avLst/>
          </a:prstGeom>
          <a:ln cap="flat" w="47625">
            <a:solidFill>
              <a:srgbClr val="484540"/>
            </a:solidFill>
            <a:prstDash val="solid"/>
            <a:headEnd type="none" len="sm" w="sm"/>
            <a:tailEnd type="none" len="sm" w="sm"/>
          </a:ln>
        </p:spPr>
      </p:sp>
      <p:sp>
        <p:nvSpPr>
          <p:cNvPr name="AutoShape 5" id="5"/>
          <p:cNvSpPr/>
          <p:nvPr/>
        </p:nvSpPr>
        <p:spPr>
          <a:xfrm flipH="true">
            <a:off x="3864638" y="7049251"/>
            <a:ext cx="3056632" cy="0"/>
          </a:xfrm>
          <a:prstGeom prst="line">
            <a:avLst/>
          </a:prstGeom>
          <a:ln cap="flat" w="47625">
            <a:solidFill>
              <a:srgbClr val="484540"/>
            </a:solidFill>
            <a:prstDash val="solid"/>
            <a:headEnd type="none" len="sm" w="sm"/>
            <a:tailEnd type="none" len="sm" w="sm"/>
          </a:ln>
        </p:spPr>
      </p:sp>
      <p:sp>
        <p:nvSpPr>
          <p:cNvPr name="Freeform 6" id="6"/>
          <p:cNvSpPr/>
          <p:nvPr/>
        </p:nvSpPr>
        <p:spPr>
          <a:xfrm flipH="false" flipV="false" rot="0">
            <a:off x="233024" y="1399007"/>
            <a:ext cx="1480812" cy="1974416"/>
          </a:xfrm>
          <a:custGeom>
            <a:avLst/>
            <a:gdLst/>
            <a:ahLst/>
            <a:cxnLst/>
            <a:rect r="r" b="b" t="t" l="l"/>
            <a:pathLst>
              <a:path h="1974416" w="1480812">
                <a:moveTo>
                  <a:pt x="0" y="0"/>
                </a:moveTo>
                <a:lnTo>
                  <a:pt x="1480812" y="0"/>
                </a:lnTo>
                <a:lnTo>
                  <a:pt x="1480812" y="1974416"/>
                </a:lnTo>
                <a:lnTo>
                  <a:pt x="0" y="1974416"/>
                </a:lnTo>
                <a:lnTo>
                  <a:pt x="0" y="0"/>
                </a:lnTo>
                <a:close/>
              </a:path>
            </a:pathLst>
          </a:custGeom>
          <a:blipFill>
            <a:blip r:embed="rId2"/>
            <a:stretch>
              <a:fillRect l="0" t="0" r="0" b="0"/>
            </a:stretch>
          </a:blipFill>
          <a:ln w="4762" cap="sq">
            <a:solidFill>
              <a:srgbClr val="484540"/>
            </a:solidFill>
            <a:prstDash val="solid"/>
            <a:miter/>
          </a:ln>
        </p:spPr>
      </p:sp>
      <p:sp>
        <p:nvSpPr>
          <p:cNvPr name="Freeform 7" id="7"/>
          <p:cNvSpPr/>
          <p:nvPr/>
        </p:nvSpPr>
        <p:spPr>
          <a:xfrm flipH="false" flipV="false" rot="0">
            <a:off x="233024" y="5452175"/>
            <a:ext cx="1804755" cy="1353566"/>
          </a:xfrm>
          <a:custGeom>
            <a:avLst/>
            <a:gdLst/>
            <a:ahLst/>
            <a:cxnLst/>
            <a:rect r="r" b="b" t="t" l="l"/>
            <a:pathLst>
              <a:path h="1353566" w="1804755">
                <a:moveTo>
                  <a:pt x="0" y="0"/>
                </a:moveTo>
                <a:lnTo>
                  <a:pt x="1804755" y="0"/>
                </a:lnTo>
                <a:lnTo>
                  <a:pt x="1804755" y="1353566"/>
                </a:lnTo>
                <a:lnTo>
                  <a:pt x="0" y="1353566"/>
                </a:lnTo>
                <a:lnTo>
                  <a:pt x="0" y="0"/>
                </a:lnTo>
                <a:close/>
              </a:path>
            </a:pathLst>
          </a:custGeom>
          <a:blipFill>
            <a:blip r:embed="rId3"/>
            <a:stretch>
              <a:fillRect l="0" t="0" r="0" b="0"/>
            </a:stretch>
          </a:blipFill>
          <a:ln w="4762" cap="sq">
            <a:solidFill>
              <a:srgbClr val="484540"/>
            </a:solidFill>
            <a:prstDash val="solid"/>
            <a:miter/>
          </a:ln>
        </p:spPr>
      </p:sp>
      <p:grpSp>
        <p:nvGrpSpPr>
          <p:cNvPr name="Group 8" id="8"/>
          <p:cNvGrpSpPr/>
          <p:nvPr/>
        </p:nvGrpSpPr>
        <p:grpSpPr>
          <a:xfrm rot="0">
            <a:off x="1817038" y="1399007"/>
            <a:ext cx="1472618" cy="1974416"/>
            <a:chOff x="0" y="0"/>
            <a:chExt cx="812800" cy="1089764"/>
          </a:xfrm>
        </p:grpSpPr>
        <p:sp>
          <p:nvSpPr>
            <p:cNvPr name="Freeform 9" id="9"/>
            <p:cNvSpPr/>
            <p:nvPr/>
          </p:nvSpPr>
          <p:spPr>
            <a:xfrm flipH="false" flipV="false" rot="0">
              <a:off x="0" y="0"/>
              <a:ext cx="812800" cy="1089764"/>
            </a:xfrm>
            <a:custGeom>
              <a:avLst/>
              <a:gdLst/>
              <a:ahLst/>
              <a:cxnLst/>
              <a:rect r="r" b="b" t="t" l="l"/>
              <a:pathLst>
                <a:path h="1089764" w="812800">
                  <a:moveTo>
                    <a:pt x="26286" y="0"/>
                  </a:moveTo>
                  <a:lnTo>
                    <a:pt x="786514" y="0"/>
                  </a:lnTo>
                  <a:cubicBezTo>
                    <a:pt x="801031" y="0"/>
                    <a:pt x="812800" y="11769"/>
                    <a:pt x="812800" y="26286"/>
                  </a:cubicBezTo>
                  <a:lnTo>
                    <a:pt x="812800" y="1063478"/>
                  </a:lnTo>
                  <a:cubicBezTo>
                    <a:pt x="812800" y="1077995"/>
                    <a:pt x="801031" y="1089764"/>
                    <a:pt x="786514" y="1089764"/>
                  </a:cubicBezTo>
                  <a:lnTo>
                    <a:pt x="26286" y="1089764"/>
                  </a:lnTo>
                  <a:cubicBezTo>
                    <a:pt x="11769" y="1089764"/>
                    <a:pt x="0" y="1077995"/>
                    <a:pt x="0" y="1063478"/>
                  </a:cubicBezTo>
                  <a:lnTo>
                    <a:pt x="0" y="26286"/>
                  </a:lnTo>
                  <a:cubicBezTo>
                    <a:pt x="0" y="11769"/>
                    <a:pt x="11769" y="0"/>
                    <a:pt x="26286" y="0"/>
                  </a:cubicBezTo>
                  <a:close/>
                </a:path>
              </a:pathLst>
            </a:custGeom>
            <a:blipFill>
              <a:blip r:embed="rId4"/>
              <a:stretch>
                <a:fillRect l="-7462" t="-3602" r="-1729" b="-5117"/>
              </a:stretch>
            </a:blipFill>
            <a:ln w="4762" cap="sq">
              <a:solidFill>
                <a:srgbClr val="484540"/>
              </a:solidFill>
              <a:prstDash val="solid"/>
              <a:miter/>
            </a:ln>
          </p:spPr>
        </p:sp>
      </p:grpSp>
      <p:grpSp>
        <p:nvGrpSpPr>
          <p:cNvPr name="Group 10" id="10"/>
          <p:cNvGrpSpPr/>
          <p:nvPr/>
        </p:nvGrpSpPr>
        <p:grpSpPr>
          <a:xfrm rot="0">
            <a:off x="2166535" y="5452175"/>
            <a:ext cx="1123121" cy="1353566"/>
            <a:chOff x="0" y="0"/>
            <a:chExt cx="812800" cy="979572"/>
          </a:xfrm>
        </p:grpSpPr>
        <p:sp>
          <p:nvSpPr>
            <p:cNvPr name="Freeform 11" id="11"/>
            <p:cNvSpPr/>
            <p:nvPr/>
          </p:nvSpPr>
          <p:spPr>
            <a:xfrm flipH="false" flipV="false" rot="0">
              <a:off x="0" y="0"/>
              <a:ext cx="812800" cy="979572"/>
            </a:xfrm>
            <a:custGeom>
              <a:avLst/>
              <a:gdLst/>
              <a:ahLst/>
              <a:cxnLst/>
              <a:rect r="r" b="b" t="t" l="l"/>
              <a:pathLst>
                <a:path h="979572" w="812800">
                  <a:moveTo>
                    <a:pt x="34466" y="0"/>
                  </a:moveTo>
                  <a:lnTo>
                    <a:pt x="778334" y="0"/>
                  </a:lnTo>
                  <a:cubicBezTo>
                    <a:pt x="787475" y="0"/>
                    <a:pt x="796241" y="3631"/>
                    <a:pt x="802705" y="10095"/>
                  </a:cubicBezTo>
                  <a:cubicBezTo>
                    <a:pt x="809169" y="16559"/>
                    <a:pt x="812800" y="25325"/>
                    <a:pt x="812800" y="34466"/>
                  </a:cubicBezTo>
                  <a:lnTo>
                    <a:pt x="812800" y="945106"/>
                  </a:lnTo>
                  <a:cubicBezTo>
                    <a:pt x="812800" y="954247"/>
                    <a:pt x="809169" y="963014"/>
                    <a:pt x="802705" y="969477"/>
                  </a:cubicBezTo>
                  <a:cubicBezTo>
                    <a:pt x="796241" y="975941"/>
                    <a:pt x="787475" y="979572"/>
                    <a:pt x="778334" y="979572"/>
                  </a:cubicBezTo>
                  <a:lnTo>
                    <a:pt x="34466" y="979572"/>
                  </a:lnTo>
                  <a:cubicBezTo>
                    <a:pt x="25325" y="979572"/>
                    <a:pt x="16559" y="975941"/>
                    <a:pt x="10095" y="969477"/>
                  </a:cubicBezTo>
                  <a:cubicBezTo>
                    <a:pt x="3631" y="963014"/>
                    <a:pt x="0" y="954247"/>
                    <a:pt x="0" y="945106"/>
                  </a:cubicBezTo>
                  <a:lnTo>
                    <a:pt x="0" y="34466"/>
                  </a:lnTo>
                  <a:cubicBezTo>
                    <a:pt x="0" y="25325"/>
                    <a:pt x="3631" y="16559"/>
                    <a:pt x="10095" y="10095"/>
                  </a:cubicBezTo>
                  <a:cubicBezTo>
                    <a:pt x="16559" y="3631"/>
                    <a:pt x="25325" y="0"/>
                    <a:pt x="34466" y="0"/>
                  </a:cubicBezTo>
                  <a:close/>
                </a:path>
              </a:pathLst>
            </a:custGeom>
            <a:blipFill>
              <a:blip r:embed="rId5"/>
              <a:stretch>
                <a:fillRect l="0" t="-656" r="0" b="-10110"/>
              </a:stretch>
            </a:blipFill>
            <a:ln w="4762" cap="sq">
              <a:solidFill>
                <a:srgbClr val="484540"/>
              </a:solidFill>
              <a:prstDash val="solid"/>
              <a:miter/>
            </a:ln>
          </p:spPr>
        </p:sp>
      </p:grpSp>
      <p:grpSp>
        <p:nvGrpSpPr>
          <p:cNvPr name="Group 12" id="12"/>
          <p:cNvGrpSpPr/>
          <p:nvPr/>
        </p:nvGrpSpPr>
        <p:grpSpPr>
          <a:xfrm rot="0">
            <a:off x="5614525" y="2643444"/>
            <a:ext cx="1306745" cy="2057492"/>
            <a:chOff x="0" y="0"/>
            <a:chExt cx="275475" cy="433740"/>
          </a:xfrm>
        </p:grpSpPr>
        <p:sp>
          <p:nvSpPr>
            <p:cNvPr name="Freeform 13" id="13"/>
            <p:cNvSpPr/>
            <p:nvPr/>
          </p:nvSpPr>
          <p:spPr>
            <a:xfrm flipH="false" flipV="false" rot="-5400000">
              <a:off x="-79133" y="79133"/>
              <a:ext cx="433740" cy="275475"/>
            </a:xfrm>
            <a:custGeom>
              <a:avLst/>
              <a:gdLst/>
              <a:ahLst/>
              <a:cxnLst/>
              <a:rect r="r" b="b" t="t" l="l"/>
              <a:pathLst>
                <a:path h="275475" w="433740">
                  <a:moveTo>
                    <a:pt x="433741" y="29623"/>
                  </a:moveTo>
                  <a:lnTo>
                    <a:pt x="433741" y="245852"/>
                  </a:lnTo>
                  <a:cubicBezTo>
                    <a:pt x="433741" y="262212"/>
                    <a:pt x="420478" y="275475"/>
                    <a:pt x="404118" y="275475"/>
                  </a:cubicBezTo>
                  <a:lnTo>
                    <a:pt x="29623" y="275475"/>
                  </a:lnTo>
                  <a:cubicBezTo>
                    <a:pt x="21767" y="275475"/>
                    <a:pt x="14232" y="272354"/>
                    <a:pt x="8677" y="266798"/>
                  </a:cubicBezTo>
                  <a:cubicBezTo>
                    <a:pt x="3121" y="261243"/>
                    <a:pt x="0" y="253708"/>
                    <a:pt x="0" y="245852"/>
                  </a:cubicBezTo>
                  <a:lnTo>
                    <a:pt x="0" y="29623"/>
                  </a:lnTo>
                  <a:cubicBezTo>
                    <a:pt x="0" y="13262"/>
                    <a:pt x="13263" y="0"/>
                    <a:pt x="29623" y="0"/>
                  </a:cubicBezTo>
                  <a:lnTo>
                    <a:pt x="404118" y="0"/>
                  </a:lnTo>
                  <a:cubicBezTo>
                    <a:pt x="420478" y="0"/>
                    <a:pt x="433741" y="13262"/>
                    <a:pt x="433741" y="29623"/>
                  </a:cubicBezTo>
                  <a:close/>
                </a:path>
              </a:pathLst>
            </a:custGeom>
            <a:blipFill>
              <a:blip r:embed="rId6"/>
              <a:stretch>
                <a:fillRect l="0" t="-68223" r="-1192" b="-44215"/>
              </a:stretch>
            </a:blipFill>
            <a:ln w="4762" cap="sq">
              <a:solidFill>
                <a:srgbClr val="484540"/>
              </a:solidFill>
              <a:prstDash val="solid"/>
              <a:miter/>
            </a:ln>
          </p:spPr>
        </p:sp>
      </p:grpSp>
      <p:grpSp>
        <p:nvGrpSpPr>
          <p:cNvPr name="Group 14" id="14"/>
          <p:cNvGrpSpPr/>
          <p:nvPr/>
        </p:nvGrpSpPr>
        <p:grpSpPr>
          <a:xfrm rot="0">
            <a:off x="3865152" y="4805711"/>
            <a:ext cx="3056400" cy="2057492"/>
            <a:chOff x="0" y="0"/>
            <a:chExt cx="644320" cy="433740"/>
          </a:xfrm>
        </p:grpSpPr>
        <p:sp>
          <p:nvSpPr>
            <p:cNvPr name="Freeform 15" id="15"/>
            <p:cNvSpPr/>
            <p:nvPr/>
          </p:nvSpPr>
          <p:spPr>
            <a:xfrm flipH="false" flipV="false" rot="0">
              <a:off x="0" y="0"/>
              <a:ext cx="644320" cy="433740"/>
            </a:xfrm>
            <a:custGeom>
              <a:avLst/>
              <a:gdLst/>
              <a:ahLst/>
              <a:cxnLst/>
              <a:rect r="r" b="b" t="t" l="l"/>
              <a:pathLst>
                <a:path h="433740" w="644320">
                  <a:moveTo>
                    <a:pt x="12665" y="0"/>
                  </a:moveTo>
                  <a:lnTo>
                    <a:pt x="631655" y="0"/>
                  </a:lnTo>
                  <a:cubicBezTo>
                    <a:pt x="635014" y="0"/>
                    <a:pt x="638236" y="1334"/>
                    <a:pt x="640611" y="3710"/>
                  </a:cubicBezTo>
                  <a:cubicBezTo>
                    <a:pt x="642986" y="6085"/>
                    <a:pt x="644320" y="9306"/>
                    <a:pt x="644320" y="12665"/>
                  </a:cubicBezTo>
                  <a:lnTo>
                    <a:pt x="644320" y="421075"/>
                  </a:lnTo>
                  <a:cubicBezTo>
                    <a:pt x="644320" y="428070"/>
                    <a:pt x="638650" y="433740"/>
                    <a:pt x="631655" y="433740"/>
                  </a:cubicBezTo>
                  <a:lnTo>
                    <a:pt x="12665" y="433740"/>
                  </a:lnTo>
                  <a:cubicBezTo>
                    <a:pt x="5670" y="433740"/>
                    <a:pt x="0" y="428070"/>
                    <a:pt x="0" y="421075"/>
                  </a:cubicBezTo>
                  <a:lnTo>
                    <a:pt x="0" y="12665"/>
                  </a:lnTo>
                  <a:cubicBezTo>
                    <a:pt x="0" y="5670"/>
                    <a:pt x="5670" y="0"/>
                    <a:pt x="12665" y="0"/>
                  </a:cubicBezTo>
                  <a:close/>
                </a:path>
              </a:pathLst>
            </a:custGeom>
            <a:blipFill>
              <a:blip r:embed="rId7"/>
              <a:stretch>
                <a:fillRect l="0" t="-3140" r="0" b="-8272"/>
              </a:stretch>
            </a:blipFill>
            <a:ln w="4762" cap="sq">
              <a:solidFill>
                <a:srgbClr val="484540"/>
              </a:solidFill>
              <a:prstDash val="solid"/>
              <a:miter/>
            </a:ln>
          </p:spPr>
        </p:sp>
      </p:grpSp>
      <p:grpSp>
        <p:nvGrpSpPr>
          <p:cNvPr name="Group 16" id="16"/>
          <p:cNvGrpSpPr/>
          <p:nvPr/>
        </p:nvGrpSpPr>
        <p:grpSpPr>
          <a:xfrm rot="0">
            <a:off x="7331409" y="1399007"/>
            <a:ext cx="3056400" cy="2057492"/>
            <a:chOff x="0" y="0"/>
            <a:chExt cx="644320" cy="433740"/>
          </a:xfrm>
        </p:grpSpPr>
        <p:sp>
          <p:nvSpPr>
            <p:cNvPr name="Freeform 17" id="17"/>
            <p:cNvSpPr/>
            <p:nvPr/>
          </p:nvSpPr>
          <p:spPr>
            <a:xfrm flipH="false" flipV="false" rot="0">
              <a:off x="0" y="0"/>
              <a:ext cx="644320" cy="433740"/>
            </a:xfrm>
            <a:custGeom>
              <a:avLst/>
              <a:gdLst/>
              <a:ahLst/>
              <a:cxnLst/>
              <a:rect r="r" b="b" t="t" l="l"/>
              <a:pathLst>
                <a:path h="433740" w="644320">
                  <a:moveTo>
                    <a:pt x="12665" y="0"/>
                  </a:moveTo>
                  <a:lnTo>
                    <a:pt x="631655" y="0"/>
                  </a:lnTo>
                  <a:cubicBezTo>
                    <a:pt x="635014" y="0"/>
                    <a:pt x="638236" y="1334"/>
                    <a:pt x="640611" y="3710"/>
                  </a:cubicBezTo>
                  <a:cubicBezTo>
                    <a:pt x="642986" y="6085"/>
                    <a:pt x="644320" y="9306"/>
                    <a:pt x="644320" y="12665"/>
                  </a:cubicBezTo>
                  <a:lnTo>
                    <a:pt x="644320" y="421075"/>
                  </a:lnTo>
                  <a:cubicBezTo>
                    <a:pt x="644320" y="428070"/>
                    <a:pt x="638650" y="433740"/>
                    <a:pt x="631655" y="433740"/>
                  </a:cubicBezTo>
                  <a:lnTo>
                    <a:pt x="12665" y="433740"/>
                  </a:lnTo>
                  <a:cubicBezTo>
                    <a:pt x="5670" y="433740"/>
                    <a:pt x="0" y="428070"/>
                    <a:pt x="0" y="421075"/>
                  </a:cubicBezTo>
                  <a:lnTo>
                    <a:pt x="0" y="12665"/>
                  </a:lnTo>
                  <a:cubicBezTo>
                    <a:pt x="0" y="5670"/>
                    <a:pt x="5670" y="0"/>
                    <a:pt x="12665" y="0"/>
                  </a:cubicBezTo>
                  <a:close/>
                </a:path>
              </a:pathLst>
            </a:custGeom>
            <a:blipFill>
              <a:blip r:embed="rId8"/>
              <a:stretch>
                <a:fillRect l="-2000" t="-8279" r="-1006" b="-6482"/>
              </a:stretch>
            </a:blipFill>
            <a:ln w="4762" cap="sq">
              <a:solidFill>
                <a:srgbClr val="484540"/>
              </a:solidFill>
              <a:prstDash val="solid"/>
              <a:miter/>
            </a:ln>
          </p:spPr>
        </p:sp>
      </p:grpSp>
      <p:grpSp>
        <p:nvGrpSpPr>
          <p:cNvPr name="Group 18" id="18"/>
          <p:cNvGrpSpPr/>
          <p:nvPr/>
        </p:nvGrpSpPr>
        <p:grpSpPr>
          <a:xfrm rot="0">
            <a:off x="7331409" y="3614729"/>
            <a:ext cx="3056400" cy="2057492"/>
            <a:chOff x="0" y="0"/>
            <a:chExt cx="644320" cy="433740"/>
          </a:xfrm>
        </p:grpSpPr>
        <p:sp>
          <p:nvSpPr>
            <p:cNvPr name="Freeform 19" id="19"/>
            <p:cNvSpPr/>
            <p:nvPr/>
          </p:nvSpPr>
          <p:spPr>
            <a:xfrm flipH="false" flipV="false" rot="0">
              <a:off x="0" y="0"/>
              <a:ext cx="644320" cy="433740"/>
            </a:xfrm>
            <a:custGeom>
              <a:avLst/>
              <a:gdLst/>
              <a:ahLst/>
              <a:cxnLst/>
              <a:rect r="r" b="b" t="t" l="l"/>
              <a:pathLst>
                <a:path h="433740" w="644320">
                  <a:moveTo>
                    <a:pt x="12665" y="0"/>
                  </a:moveTo>
                  <a:lnTo>
                    <a:pt x="631655" y="0"/>
                  </a:lnTo>
                  <a:cubicBezTo>
                    <a:pt x="635014" y="0"/>
                    <a:pt x="638236" y="1334"/>
                    <a:pt x="640611" y="3710"/>
                  </a:cubicBezTo>
                  <a:cubicBezTo>
                    <a:pt x="642986" y="6085"/>
                    <a:pt x="644320" y="9306"/>
                    <a:pt x="644320" y="12665"/>
                  </a:cubicBezTo>
                  <a:lnTo>
                    <a:pt x="644320" y="421075"/>
                  </a:lnTo>
                  <a:cubicBezTo>
                    <a:pt x="644320" y="428070"/>
                    <a:pt x="638650" y="433740"/>
                    <a:pt x="631655" y="433740"/>
                  </a:cubicBezTo>
                  <a:lnTo>
                    <a:pt x="12665" y="433740"/>
                  </a:lnTo>
                  <a:cubicBezTo>
                    <a:pt x="5670" y="433740"/>
                    <a:pt x="0" y="428070"/>
                    <a:pt x="0" y="421075"/>
                  </a:cubicBezTo>
                  <a:lnTo>
                    <a:pt x="0" y="12665"/>
                  </a:lnTo>
                  <a:cubicBezTo>
                    <a:pt x="0" y="5670"/>
                    <a:pt x="5670" y="0"/>
                    <a:pt x="12665" y="0"/>
                  </a:cubicBezTo>
                  <a:close/>
                </a:path>
              </a:pathLst>
            </a:custGeom>
            <a:blipFill>
              <a:blip r:embed="rId9"/>
              <a:stretch>
                <a:fillRect l="-3843" t="-8948" r="-2761" b="-9822"/>
              </a:stretch>
            </a:blipFill>
            <a:ln w="4762" cap="sq">
              <a:solidFill>
                <a:srgbClr val="484540"/>
              </a:solidFill>
              <a:prstDash val="solid"/>
              <a:miter/>
            </a:ln>
          </p:spPr>
        </p:sp>
      </p:grpSp>
      <p:grpSp>
        <p:nvGrpSpPr>
          <p:cNvPr name="Group 20" id="20"/>
          <p:cNvGrpSpPr/>
          <p:nvPr/>
        </p:nvGrpSpPr>
        <p:grpSpPr>
          <a:xfrm rot="0">
            <a:off x="3865152" y="2643444"/>
            <a:ext cx="1644598" cy="2057492"/>
            <a:chOff x="0" y="0"/>
            <a:chExt cx="346698" cy="433740"/>
          </a:xfrm>
        </p:grpSpPr>
        <p:sp>
          <p:nvSpPr>
            <p:cNvPr name="Freeform 21" id="21"/>
            <p:cNvSpPr/>
            <p:nvPr/>
          </p:nvSpPr>
          <p:spPr>
            <a:xfrm flipH="false" flipV="false" rot="0">
              <a:off x="0" y="0"/>
              <a:ext cx="346698" cy="433740"/>
            </a:xfrm>
            <a:custGeom>
              <a:avLst/>
              <a:gdLst/>
              <a:ahLst/>
              <a:cxnLst/>
              <a:rect r="r" b="b" t="t" l="l"/>
              <a:pathLst>
                <a:path h="433740" w="346698">
                  <a:moveTo>
                    <a:pt x="23537" y="0"/>
                  </a:moveTo>
                  <a:lnTo>
                    <a:pt x="323161" y="0"/>
                  </a:lnTo>
                  <a:cubicBezTo>
                    <a:pt x="329403" y="0"/>
                    <a:pt x="335390" y="2480"/>
                    <a:pt x="339804" y="6894"/>
                  </a:cubicBezTo>
                  <a:cubicBezTo>
                    <a:pt x="344218" y="11308"/>
                    <a:pt x="346698" y="17295"/>
                    <a:pt x="346698" y="23537"/>
                  </a:cubicBezTo>
                  <a:lnTo>
                    <a:pt x="346698" y="410203"/>
                  </a:lnTo>
                  <a:cubicBezTo>
                    <a:pt x="346698" y="416445"/>
                    <a:pt x="344218" y="422432"/>
                    <a:pt x="339804" y="426846"/>
                  </a:cubicBezTo>
                  <a:cubicBezTo>
                    <a:pt x="335390" y="431260"/>
                    <a:pt x="329403" y="433740"/>
                    <a:pt x="323161" y="433740"/>
                  </a:cubicBezTo>
                  <a:lnTo>
                    <a:pt x="23537" y="433740"/>
                  </a:lnTo>
                  <a:cubicBezTo>
                    <a:pt x="17295" y="433740"/>
                    <a:pt x="11308" y="431260"/>
                    <a:pt x="6894" y="426846"/>
                  </a:cubicBezTo>
                  <a:cubicBezTo>
                    <a:pt x="2480" y="422432"/>
                    <a:pt x="0" y="416445"/>
                    <a:pt x="0" y="410203"/>
                  </a:cubicBezTo>
                  <a:lnTo>
                    <a:pt x="0" y="23537"/>
                  </a:lnTo>
                  <a:cubicBezTo>
                    <a:pt x="0" y="17295"/>
                    <a:pt x="2480" y="11308"/>
                    <a:pt x="6894" y="6894"/>
                  </a:cubicBezTo>
                  <a:cubicBezTo>
                    <a:pt x="11308" y="2480"/>
                    <a:pt x="17295" y="0"/>
                    <a:pt x="23537" y="0"/>
                  </a:cubicBezTo>
                  <a:close/>
                </a:path>
              </a:pathLst>
            </a:custGeom>
            <a:blipFill>
              <a:blip r:embed="rId10"/>
              <a:stretch>
                <a:fillRect l="0" t="-3095" r="0" b="-3095"/>
              </a:stretch>
            </a:blipFill>
            <a:ln w="4762" cap="sq">
              <a:solidFill>
                <a:srgbClr val="484540"/>
              </a:solidFill>
              <a:prstDash val="solid"/>
              <a:miter/>
            </a:ln>
          </p:spPr>
        </p:sp>
      </p:grpSp>
      <p:sp>
        <p:nvSpPr>
          <p:cNvPr name="TextBox 22" id="22"/>
          <p:cNvSpPr txBox="true"/>
          <p:nvPr/>
        </p:nvSpPr>
        <p:spPr>
          <a:xfrm rot="0">
            <a:off x="756000" y="7162014"/>
            <a:ext cx="2010680" cy="154305"/>
          </a:xfrm>
          <a:prstGeom prst="rect">
            <a:avLst/>
          </a:prstGeom>
        </p:spPr>
        <p:txBody>
          <a:bodyPr anchor="t" rtlCol="false" tIns="0" lIns="0" bIns="0" rIns="0">
            <a:spAutoFit/>
          </a:bodyPr>
          <a:lstStyle/>
          <a:p>
            <a:pPr algn="ctr">
              <a:lnSpc>
                <a:spcPts val="1215"/>
              </a:lnSpc>
              <a:spcBef>
                <a:spcPct val="0"/>
              </a:spcBef>
            </a:pPr>
            <a:r>
              <a:rPr lang="en-US" b="true" sz="900" spc="213">
                <a:solidFill>
                  <a:srgbClr val="484540"/>
                </a:solidFill>
                <a:latin typeface="Now Medium"/>
                <a:ea typeface="Now Medium"/>
                <a:cs typeface="Now Medium"/>
                <a:sym typeface="Now Medium"/>
              </a:rPr>
              <a:t>Manuela Schenk</a:t>
            </a:r>
          </a:p>
        </p:txBody>
      </p:sp>
      <p:sp>
        <p:nvSpPr>
          <p:cNvPr name="TextBox 23" id="23"/>
          <p:cNvSpPr txBox="true"/>
          <p:nvPr/>
        </p:nvSpPr>
        <p:spPr>
          <a:xfrm rot="0">
            <a:off x="7656539" y="7172199"/>
            <a:ext cx="2405908" cy="154305"/>
          </a:xfrm>
          <a:prstGeom prst="rect">
            <a:avLst/>
          </a:prstGeom>
        </p:spPr>
        <p:txBody>
          <a:bodyPr anchor="t" rtlCol="false" tIns="0" lIns="0" bIns="0" rIns="0">
            <a:spAutoFit/>
          </a:bodyPr>
          <a:lstStyle/>
          <a:p>
            <a:pPr algn="ctr">
              <a:lnSpc>
                <a:spcPts val="1215"/>
              </a:lnSpc>
              <a:spcBef>
                <a:spcPct val="0"/>
              </a:spcBef>
            </a:pPr>
            <a:r>
              <a:rPr lang="en-US" b="true" sz="900" spc="213">
                <a:solidFill>
                  <a:srgbClr val="484540"/>
                </a:solidFill>
                <a:latin typeface="Now Medium"/>
                <a:ea typeface="Now Medium"/>
                <a:cs typeface="Now Medium"/>
                <a:sym typeface="Now Medium"/>
              </a:rPr>
              <a:t>manufaktur-malerei@web.de</a:t>
            </a:r>
          </a:p>
        </p:txBody>
      </p:sp>
      <p:sp>
        <p:nvSpPr>
          <p:cNvPr name="TextBox 24" id="24"/>
          <p:cNvSpPr txBox="true"/>
          <p:nvPr/>
        </p:nvSpPr>
        <p:spPr>
          <a:xfrm rot="0">
            <a:off x="4340660" y="7162014"/>
            <a:ext cx="2010680" cy="154305"/>
          </a:xfrm>
          <a:prstGeom prst="rect">
            <a:avLst/>
          </a:prstGeom>
        </p:spPr>
        <p:txBody>
          <a:bodyPr anchor="t" rtlCol="false" tIns="0" lIns="0" bIns="0" rIns="0">
            <a:spAutoFit/>
          </a:bodyPr>
          <a:lstStyle/>
          <a:p>
            <a:pPr algn="ctr">
              <a:lnSpc>
                <a:spcPts val="1215"/>
              </a:lnSpc>
              <a:spcBef>
                <a:spcPct val="0"/>
              </a:spcBef>
            </a:pPr>
            <a:r>
              <a:rPr lang="en-US" b="true" sz="900" spc="213">
                <a:solidFill>
                  <a:srgbClr val="484540"/>
                </a:solidFill>
                <a:latin typeface="Now Medium"/>
                <a:ea typeface="Now Medium"/>
                <a:cs typeface="Now Medium"/>
                <a:sym typeface="Now Medium"/>
              </a:rPr>
              <a:t>+49 163 2662435</a:t>
            </a:r>
          </a:p>
        </p:txBody>
      </p:sp>
      <p:grpSp>
        <p:nvGrpSpPr>
          <p:cNvPr name="Group 25" id="25"/>
          <p:cNvGrpSpPr/>
          <p:nvPr/>
        </p:nvGrpSpPr>
        <p:grpSpPr>
          <a:xfrm rot="0">
            <a:off x="7331409" y="6025625"/>
            <a:ext cx="3056400" cy="780116"/>
            <a:chOff x="0" y="0"/>
            <a:chExt cx="4075200" cy="1040155"/>
          </a:xfrm>
        </p:grpSpPr>
        <p:sp>
          <p:nvSpPr>
            <p:cNvPr name="TextBox 26" id="26"/>
            <p:cNvSpPr txBox="true"/>
            <p:nvPr/>
          </p:nvSpPr>
          <p:spPr>
            <a:xfrm rot="0">
              <a:off x="0" y="506332"/>
              <a:ext cx="4075200" cy="533823"/>
            </a:xfrm>
            <a:prstGeom prst="rect">
              <a:avLst/>
            </a:prstGeom>
          </p:spPr>
          <p:txBody>
            <a:bodyPr anchor="t" rtlCol="false" tIns="0" lIns="0" bIns="0" rIns="0">
              <a:spAutoFit/>
            </a:bodyPr>
            <a:lstStyle/>
            <a:p>
              <a:pPr algn="l">
                <a:lnSpc>
                  <a:spcPts val="1119"/>
                </a:lnSpc>
              </a:pPr>
              <a:r>
                <a:rPr lang="en-US" sz="799" spc="39">
                  <a:solidFill>
                    <a:srgbClr val="484540"/>
                  </a:solidFill>
                  <a:latin typeface="Now Light"/>
                  <a:ea typeface="Now Light"/>
                  <a:cs typeface="Now Light"/>
                  <a:sym typeface="Now Light"/>
                </a:rPr>
                <a:t>Auch besondere Landschaften und Orte faszinieren mich. Wenn Du auch solche Lieblingsorte hast, zaubere ich sie Dir auf Leinwand.</a:t>
              </a:r>
            </a:p>
          </p:txBody>
        </p:sp>
        <p:sp>
          <p:nvSpPr>
            <p:cNvPr name="TextBox 27" id="27"/>
            <p:cNvSpPr txBox="true"/>
            <p:nvPr/>
          </p:nvSpPr>
          <p:spPr>
            <a:xfrm rot="0">
              <a:off x="0" y="-28575"/>
              <a:ext cx="4075200" cy="422723"/>
            </a:xfrm>
            <a:prstGeom prst="rect">
              <a:avLst/>
            </a:prstGeom>
          </p:spPr>
          <p:txBody>
            <a:bodyPr anchor="t" rtlCol="false" tIns="0" lIns="0" bIns="0" rIns="0">
              <a:spAutoFit/>
            </a:bodyPr>
            <a:lstStyle/>
            <a:p>
              <a:pPr algn="l">
                <a:lnSpc>
                  <a:spcPts val="2676"/>
                </a:lnSpc>
              </a:pPr>
              <a:r>
                <a:rPr lang="en-US" sz="1982" spc="164" b="true">
                  <a:solidFill>
                    <a:srgbClr val="484540"/>
                  </a:solidFill>
                  <a:latin typeface="Now Medium"/>
                  <a:ea typeface="Now Medium"/>
                  <a:cs typeface="Now Medium"/>
                  <a:sym typeface="Now Medium"/>
                </a:rPr>
                <a:t>Dein Lieblingsort</a:t>
              </a:r>
            </a:p>
          </p:txBody>
        </p:sp>
      </p:grpSp>
      <p:grpSp>
        <p:nvGrpSpPr>
          <p:cNvPr name="Group 28" id="28"/>
          <p:cNvGrpSpPr/>
          <p:nvPr/>
        </p:nvGrpSpPr>
        <p:grpSpPr>
          <a:xfrm rot="0">
            <a:off x="3864870" y="1399007"/>
            <a:ext cx="3056400" cy="978025"/>
            <a:chOff x="0" y="0"/>
            <a:chExt cx="4075200" cy="1304033"/>
          </a:xfrm>
        </p:grpSpPr>
        <p:sp>
          <p:nvSpPr>
            <p:cNvPr name="TextBox 29" id="29"/>
            <p:cNvSpPr txBox="true"/>
            <p:nvPr/>
          </p:nvSpPr>
          <p:spPr>
            <a:xfrm rot="0">
              <a:off x="0" y="950832"/>
              <a:ext cx="4075200" cy="353201"/>
            </a:xfrm>
            <a:prstGeom prst="rect">
              <a:avLst/>
            </a:prstGeom>
          </p:spPr>
          <p:txBody>
            <a:bodyPr anchor="t" rtlCol="false" tIns="0" lIns="0" bIns="0" rIns="0">
              <a:spAutoFit/>
            </a:bodyPr>
            <a:lstStyle/>
            <a:p>
              <a:pPr algn="l">
                <a:lnSpc>
                  <a:spcPts val="1119"/>
                </a:lnSpc>
              </a:pPr>
              <a:r>
                <a:rPr lang="en-US" sz="799" spc="39">
                  <a:solidFill>
                    <a:srgbClr val="484540"/>
                  </a:solidFill>
                  <a:latin typeface="Now Light"/>
                  <a:ea typeface="Now Light"/>
                  <a:cs typeface="Now Light"/>
                  <a:sym typeface="Now Light"/>
                </a:rPr>
                <a:t>Neben Hunden male ich auch andere tierische Familienmitglieder, z.B. Papageien oder Wildtiere.</a:t>
              </a:r>
            </a:p>
          </p:txBody>
        </p:sp>
        <p:sp>
          <p:nvSpPr>
            <p:cNvPr name="TextBox 30" id="30"/>
            <p:cNvSpPr txBox="true"/>
            <p:nvPr/>
          </p:nvSpPr>
          <p:spPr>
            <a:xfrm rot="0">
              <a:off x="0" y="-28575"/>
              <a:ext cx="4075200" cy="867223"/>
            </a:xfrm>
            <a:prstGeom prst="rect">
              <a:avLst/>
            </a:prstGeom>
          </p:spPr>
          <p:txBody>
            <a:bodyPr anchor="t" rtlCol="false" tIns="0" lIns="0" bIns="0" rIns="0">
              <a:spAutoFit/>
            </a:bodyPr>
            <a:lstStyle/>
            <a:p>
              <a:pPr algn="l">
                <a:lnSpc>
                  <a:spcPts val="2676"/>
                </a:lnSpc>
              </a:pPr>
              <a:r>
                <a:rPr lang="en-US" sz="1982" spc="164" b="true">
                  <a:solidFill>
                    <a:srgbClr val="484540"/>
                  </a:solidFill>
                  <a:latin typeface="Now Medium"/>
                  <a:ea typeface="Now Medium"/>
                  <a:cs typeface="Now Medium"/>
                  <a:sym typeface="Now Medium"/>
                </a:rPr>
                <a:t>Weitere tierische Freunde</a:t>
              </a:r>
            </a:p>
          </p:txBody>
        </p:sp>
      </p:grpSp>
      <p:grpSp>
        <p:nvGrpSpPr>
          <p:cNvPr name="Group 31" id="31"/>
          <p:cNvGrpSpPr/>
          <p:nvPr/>
        </p:nvGrpSpPr>
        <p:grpSpPr>
          <a:xfrm rot="0">
            <a:off x="233024" y="3525885"/>
            <a:ext cx="3222271" cy="1926290"/>
            <a:chOff x="0" y="0"/>
            <a:chExt cx="4296362" cy="2568387"/>
          </a:xfrm>
        </p:grpSpPr>
        <p:sp>
          <p:nvSpPr>
            <p:cNvPr name="TextBox 32" id="32"/>
            <p:cNvSpPr txBox="true"/>
            <p:nvPr/>
          </p:nvSpPr>
          <p:spPr>
            <a:xfrm rot="0">
              <a:off x="0" y="950832"/>
              <a:ext cx="4296362" cy="1617555"/>
            </a:xfrm>
            <a:prstGeom prst="rect">
              <a:avLst/>
            </a:prstGeom>
          </p:spPr>
          <p:txBody>
            <a:bodyPr anchor="t" rtlCol="false" tIns="0" lIns="0" bIns="0" rIns="0">
              <a:spAutoFit/>
            </a:bodyPr>
            <a:lstStyle/>
            <a:p>
              <a:pPr algn="l">
                <a:lnSpc>
                  <a:spcPts val="1119"/>
                </a:lnSpc>
              </a:pPr>
              <a:r>
                <a:rPr lang="en-US" sz="799" spc="39">
                  <a:solidFill>
                    <a:srgbClr val="484540"/>
                  </a:solidFill>
                  <a:latin typeface="Now Light"/>
                  <a:ea typeface="Now Light"/>
                  <a:cs typeface="Now Light"/>
                  <a:sym typeface="Now Light"/>
                </a:rPr>
                <a:t>Du hast Dir schon immer mal ein einzigartiges Portrait Deines treuen Begleiters gewünscht?</a:t>
              </a:r>
            </a:p>
            <a:p>
              <a:pPr algn="l">
                <a:lnSpc>
                  <a:spcPts val="1119"/>
                </a:lnSpc>
              </a:pPr>
              <a:r>
                <a:rPr lang="en-US" sz="799" spc="39">
                  <a:solidFill>
                    <a:srgbClr val="484540"/>
                  </a:solidFill>
                  <a:latin typeface="Now Light"/>
                  <a:ea typeface="Now Light"/>
                  <a:cs typeface="Now Light"/>
                  <a:sym typeface="Now Light"/>
                </a:rPr>
                <a:t>Dann bist Du hier richtig! Ich habe schon so einige Vierbeiner gemalt - vom weißen Maltheser bis zum schwarzen Labrador, ob kurz- oder langhaarig. Jeder Hund ist ein ganz besonderes Motiv, und ich freue mich, auch Deinen Liebling in liebevollen Details auf Leinwand zu verewigen.</a:t>
              </a:r>
            </a:p>
            <a:p>
              <a:pPr algn="l">
                <a:lnSpc>
                  <a:spcPts val="1119"/>
                </a:lnSpc>
              </a:pPr>
            </a:p>
          </p:txBody>
        </p:sp>
        <p:sp>
          <p:nvSpPr>
            <p:cNvPr name="TextBox 33" id="33"/>
            <p:cNvSpPr txBox="true"/>
            <p:nvPr/>
          </p:nvSpPr>
          <p:spPr>
            <a:xfrm rot="0">
              <a:off x="0" y="-28575"/>
              <a:ext cx="4296362" cy="867223"/>
            </a:xfrm>
            <a:prstGeom prst="rect">
              <a:avLst/>
            </a:prstGeom>
          </p:spPr>
          <p:txBody>
            <a:bodyPr anchor="t" rtlCol="false" tIns="0" lIns="0" bIns="0" rIns="0">
              <a:spAutoFit/>
            </a:bodyPr>
            <a:lstStyle/>
            <a:p>
              <a:pPr algn="l">
                <a:lnSpc>
                  <a:spcPts val="2676"/>
                </a:lnSpc>
              </a:pPr>
              <a:r>
                <a:rPr lang="en-US" sz="1982" spc="164" b="true">
                  <a:solidFill>
                    <a:srgbClr val="484540"/>
                  </a:solidFill>
                  <a:latin typeface="Now Medium"/>
                  <a:ea typeface="Now Medium"/>
                  <a:cs typeface="Now Medium"/>
                  <a:sym typeface="Now Medium"/>
                </a:rPr>
                <a:t>Dein vierbeiniger Liebling auf Leinwand</a:t>
              </a:r>
            </a:p>
          </p:txBody>
        </p:sp>
      </p:grpSp>
      <p:grpSp>
        <p:nvGrpSpPr>
          <p:cNvPr name="Group 34" id="34"/>
          <p:cNvGrpSpPr/>
          <p:nvPr/>
        </p:nvGrpSpPr>
        <p:grpSpPr>
          <a:xfrm rot="0">
            <a:off x="1401" y="83550"/>
            <a:ext cx="3554175" cy="1416899"/>
            <a:chOff x="0" y="0"/>
            <a:chExt cx="4738900" cy="1889199"/>
          </a:xfrm>
        </p:grpSpPr>
        <p:sp>
          <p:nvSpPr>
            <p:cNvPr name="Freeform 35" id="35"/>
            <p:cNvSpPr/>
            <p:nvPr/>
          </p:nvSpPr>
          <p:spPr>
            <a:xfrm flipH="false" flipV="false" rot="-677456">
              <a:off x="142432" y="160752"/>
              <a:ext cx="1797047" cy="1567695"/>
            </a:xfrm>
            <a:custGeom>
              <a:avLst/>
              <a:gdLst/>
              <a:ahLst/>
              <a:cxnLst/>
              <a:rect r="r" b="b" t="t" l="l"/>
              <a:pathLst>
                <a:path h="1567695" w="1797047">
                  <a:moveTo>
                    <a:pt x="0" y="0"/>
                  </a:moveTo>
                  <a:lnTo>
                    <a:pt x="1797047" y="0"/>
                  </a:lnTo>
                  <a:lnTo>
                    <a:pt x="1797047" y="1567695"/>
                  </a:lnTo>
                  <a:lnTo>
                    <a:pt x="0" y="1567695"/>
                  </a:lnTo>
                  <a:lnTo>
                    <a:pt x="0" y="0"/>
                  </a:lnTo>
                  <a:close/>
                </a:path>
              </a:pathLst>
            </a:custGeom>
            <a:blipFill>
              <a:blip r:embed="rId11"/>
              <a:stretch>
                <a:fillRect l="-1242" t="-6652" r="-295" b="-5375"/>
              </a:stretch>
            </a:blipFill>
          </p:spPr>
        </p:sp>
        <p:sp>
          <p:nvSpPr>
            <p:cNvPr name="TextBox 36" id="36"/>
            <p:cNvSpPr txBox="true"/>
            <p:nvPr/>
          </p:nvSpPr>
          <p:spPr>
            <a:xfrm rot="0">
              <a:off x="0" y="308913"/>
              <a:ext cx="2039029" cy="869657"/>
            </a:xfrm>
            <a:prstGeom prst="rect">
              <a:avLst/>
            </a:prstGeom>
          </p:spPr>
          <p:txBody>
            <a:bodyPr anchor="t" rtlCol="false" tIns="0" lIns="0" bIns="0" rIns="0">
              <a:spAutoFit/>
            </a:bodyPr>
            <a:lstStyle/>
            <a:p>
              <a:pPr algn="ctr">
                <a:lnSpc>
                  <a:spcPts val="5441"/>
                </a:lnSpc>
                <a:spcBef>
                  <a:spcPct val="0"/>
                </a:spcBef>
              </a:pPr>
              <a:r>
                <a:rPr lang="en-US" sz="4030" spc="386">
                  <a:solidFill>
                    <a:srgbClr val="004AAD"/>
                  </a:solidFill>
                  <a:latin typeface="Great Vibes"/>
                  <a:ea typeface="Great Vibes"/>
                  <a:cs typeface="Great Vibes"/>
                  <a:sym typeface="Great Vibes"/>
                </a:rPr>
                <a:t>Manu</a:t>
              </a:r>
            </a:p>
          </p:txBody>
        </p:sp>
        <p:sp>
          <p:nvSpPr>
            <p:cNvPr name="TextBox 37" id="37"/>
            <p:cNvSpPr txBox="true"/>
            <p:nvPr/>
          </p:nvSpPr>
          <p:spPr>
            <a:xfrm rot="0">
              <a:off x="1802620" y="366831"/>
              <a:ext cx="2936280" cy="675848"/>
            </a:xfrm>
            <a:prstGeom prst="rect">
              <a:avLst/>
            </a:prstGeom>
          </p:spPr>
          <p:txBody>
            <a:bodyPr anchor="t" rtlCol="false" tIns="0" lIns="0" bIns="0" rIns="0">
              <a:spAutoFit/>
            </a:bodyPr>
            <a:lstStyle/>
            <a:p>
              <a:pPr algn="ctr">
                <a:lnSpc>
                  <a:spcPts val="4262"/>
                </a:lnSpc>
                <a:spcBef>
                  <a:spcPct val="0"/>
                </a:spcBef>
              </a:pPr>
              <a:r>
                <a:rPr lang="en-US" sz="3157" spc="599">
                  <a:solidFill>
                    <a:srgbClr val="004AAD"/>
                  </a:solidFill>
                  <a:latin typeface="Cheque Bold"/>
                  <a:ea typeface="Cheque Bold"/>
                  <a:cs typeface="Cheque Bold"/>
                  <a:sym typeface="Cheque Bold"/>
                </a:rPr>
                <a:t>FAKTUR</a:t>
              </a:r>
            </a:p>
          </p:txBody>
        </p:sp>
        <p:sp>
          <p:nvSpPr>
            <p:cNvPr name="TextBox 38" id="38"/>
            <p:cNvSpPr txBox="true"/>
            <p:nvPr/>
          </p:nvSpPr>
          <p:spPr>
            <a:xfrm rot="0">
              <a:off x="854124" y="1106586"/>
              <a:ext cx="2980736" cy="264319"/>
            </a:xfrm>
            <a:prstGeom prst="rect">
              <a:avLst/>
            </a:prstGeom>
          </p:spPr>
          <p:txBody>
            <a:bodyPr anchor="t" rtlCol="false" tIns="0" lIns="0" bIns="0" rIns="0">
              <a:spAutoFit/>
            </a:bodyPr>
            <a:lstStyle/>
            <a:p>
              <a:pPr algn="ctr">
                <a:lnSpc>
                  <a:spcPts val="1657"/>
                </a:lnSpc>
                <a:spcBef>
                  <a:spcPct val="0"/>
                </a:spcBef>
              </a:pPr>
              <a:r>
                <a:rPr lang="en-US" b="true" sz="1227" spc="290">
                  <a:solidFill>
                    <a:srgbClr val="000000"/>
                  </a:solidFill>
                  <a:latin typeface="Now Bold"/>
                  <a:ea typeface="Now Bold"/>
                  <a:cs typeface="Now Bold"/>
                  <a:sym typeface="Now Bold"/>
                </a:rPr>
                <a:t>Manuela Schenk</a:t>
              </a:r>
            </a:p>
          </p:txBody>
        </p:sp>
      </p:gr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7112645" y="6804000"/>
            <a:ext cx="392902" cy="424186"/>
          </a:xfrm>
          <a:custGeom>
            <a:avLst/>
            <a:gdLst/>
            <a:ahLst/>
            <a:cxnLst/>
            <a:rect r="r" b="b" t="t" l="l"/>
            <a:pathLst>
              <a:path h="424186" w="392902">
                <a:moveTo>
                  <a:pt x="0" y="0"/>
                </a:moveTo>
                <a:lnTo>
                  <a:pt x="392902" y="0"/>
                </a:lnTo>
                <a:lnTo>
                  <a:pt x="392902" y="424186"/>
                </a:lnTo>
                <a:lnTo>
                  <a:pt x="0" y="424186"/>
                </a:lnTo>
                <a:lnTo>
                  <a:pt x="0" y="0"/>
                </a:lnTo>
                <a:close/>
              </a:path>
            </a:pathLst>
          </a:custGeom>
          <a:blipFill>
            <a:blip r:embed="rId2"/>
            <a:stretch>
              <a:fillRect l="0" t="0" r="0" b="0"/>
            </a:stretch>
          </a:blipFill>
        </p:spPr>
      </p:sp>
      <p:sp>
        <p:nvSpPr>
          <p:cNvPr name="Freeform 3" id="3"/>
          <p:cNvSpPr/>
          <p:nvPr/>
        </p:nvSpPr>
        <p:spPr>
          <a:xfrm flipH="false" flipV="false" rot="0">
            <a:off x="9936000" y="4685828"/>
            <a:ext cx="339549" cy="687694"/>
          </a:xfrm>
          <a:custGeom>
            <a:avLst/>
            <a:gdLst/>
            <a:ahLst/>
            <a:cxnLst/>
            <a:rect r="r" b="b" t="t" l="l"/>
            <a:pathLst>
              <a:path h="687694" w="339549">
                <a:moveTo>
                  <a:pt x="0" y="0"/>
                </a:moveTo>
                <a:lnTo>
                  <a:pt x="339549" y="0"/>
                </a:lnTo>
                <a:lnTo>
                  <a:pt x="339549" y="687694"/>
                </a:lnTo>
                <a:lnTo>
                  <a:pt x="0" y="687694"/>
                </a:lnTo>
                <a:lnTo>
                  <a:pt x="0" y="0"/>
                </a:lnTo>
                <a:close/>
              </a:path>
            </a:pathLst>
          </a:custGeom>
          <a:blipFill>
            <a:blip r:embed="rId3"/>
            <a:stretch>
              <a:fillRect l="0" t="0" r="0" b="0"/>
            </a:stretch>
          </a:blipFill>
        </p:spPr>
      </p:sp>
      <p:sp>
        <p:nvSpPr>
          <p:cNvPr name="Freeform 4" id="4"/>
          <p:cNvSpPr/>
          <p:nvPr/>
        </p:nvSpPr>
        <p:spPr>
          <a:xfrm flipH="false" flipV="false" rot="0">
            <a:off x="5175295" y="6203759"/>
            <a:ext cx="1080106" cy="1166106"/>
          </a:xfrm>
          <a:custGeom>
            <a:avLst/>
            <a:gdLst/>
            <a:ahLst/>
            <a:cxnLst/>
            <a:rect r="r" b="b" t="t" l="l"/>
            <a:pathLst>
              <a:path h="1166106" w="1080106">
                <a:moveTo>
                  <a:pt x="0" y="0"/>
                </a:moveTo>
                <a:lnTo>
                  <a:pt x="1080106" y="0"/>
                </a:lnTo>
                <a:lnTo>
                  <a:pt x="1080106" y="1166106"/>
                </a:lnTo>
                <a:lnTo>
                  <a:pt x="0" y="1166106"/>
                </a:lnTo>
                <a:lnTo>
                  <a:pt x="0" y="0"/>
                </a:lnTo>
                <a:close/>
              </a:path>
            </a:pathLst>
          </a:custGeom>
          <a:blipFill>
            <a:blip r:embed="rId4"/>
            <a:stretch>
              <a:fillRect l="0" t="0" r="0" b="0"/>
            </a:stretch>
          </a:blipFill>
        </p:spPr>
      </p:sp>
      <p:sp>
        <p:nvSpPr>
          <p:cNvPr name="Freeform 5" id="5"/>
          <p:cNvSpPr/>
          <p:nvPr/>
        </p:nvSpPr>
        <p:spPr>
          <a:xfrm flipH="false" flipV="false" rot="-5400000">
            <a:off x="8801826" y="4964005"/>
            <a:ext cx="766625" cy="703901"/>
          </a:xfrm>
          <a:custGeom>
            <a:avLst/>
            <a:gdLst/>
            <a:ahLst/>
            <a:cxnLst/>
            <a:rect r="r" b="b" t="t" l="l"/>
            <a:pathLst>
              <a:path h="703901" w="766625">
                <a:moveTo>
                  <a:pt x="0" y="0"/>
                </a:moveTo>
                <a:lnTo>
                  <a:pt x="766625" y="0"/>
                </a:lnTo>
                <a:lnTo>
                  <a:pt x="766625" y="703901"/>
                </a:lnTo>
                <a:lnTo>
                  <a:pt x="0" y="703901"/>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6" id="6"/>
          <p:cNvSpPr/>
          <p:nvPr/>
        </p:nvSpPr>
        <p:spPr>
          <a:xfrm flipH="false" flipV="false" rot="0">
            <a:off x="8545517" y="5589906"/>
            <a:ext cx="1877818" cy="710157"/>
          </a:xfrm>
          <a:custGeom>
            <a:avLst/>
            <a:gdLst/>
            <a:ahLst/>
            <a:cxnLst/>
            <a:rect r="r" b="b" t="t" l="l"/>
            <a:pathLst>
              <a:path h="710157" w="1877818">
                <a:moveTo>
                  <a:pt x="0" y="0"/>
                </a:moveTo>
                <a:lnTo>
                  <a:pt x="1877818" y="0"/>
                </a:lnTo>
                <a:lnTo>
                  <a:pt x="1877818" y="710157"/>
                </a:lnTo>
                <a:lnTo>
                  <a:pt x="0" y="710157"/>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7" id="7"/>
          <p:cNvSpPr/>
          <p:nvPr/>
        </p:nvSpPr>
        <p:spPr>
          <a:xfrm flipH="false" flipV="false" rot="258106">
            <a:off x="7523370" y="6253309"/>
            <a:ext cx="456535" cy="398430"/>
          </a:xfrm>
          <a:custGeom>
            <a:avLst/>
            <a:gdLst/>
            <a:ahLst/>
            <a:cxnLst/>
            <a:rect r="r" b="b" t="t" l="l"/>
            <a:pathLst>
              <a:path h="398430" w="456535">
                <a:moveTo>
                  <a:pt x="0" y="0"/>
                </a:moveTo>
                <a:lnTo>
                  <a:pt x="456535" y="0"/>
                </a:lnTo>
                <a:lnTo>
                  <a:pt x="456535" y="398430"/>
                </a:lnTo>
                <a:lnTo>
                  <a:pt x="0" y="398430"/>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
        <p:nvSpPr>
          <p:cNvPr name="Freeform 8" id="8"/>
          <p:cNvSpPr/>
          <p:nvPr/>
        </p:nvSpPr>
        <p:spPr>
          <a:xfrm flipH="false" flipV="false" rot="0">
            <a:off x="4475246" y="5551297"/>
            <a:ext cx="700049" cy="787376"/>
          </a:xfrm>
          <a:custGeom>
            <a:avLst/>
            <a:gdLst/>
            <a:ahLst/>
            <a:cxnLst/>
            <a:rect r="r" b="b" t="t" l="l"/>
            <a:pathLst>
              <a:path h="787376" w="700049">
                <a:moveTo>
                  <a:pt x="0" y="0"/>
                </a:moveTo>
                <a:lnTo>
                  <a:pt x="700049" y="0"/>
                </a:lnTo>
                <a:lnTo>
                  <a:pt x="700049" y="787376"/>
                </a:lnTo>
                <a:lnTo>
                  <a:pt x="0" y="787376"/>
                </a:lnTo>
                <a:lnTo>
                  <a:pt x="0" y="0"/>
                </a:lnTo>
                <a:close/>
              </a:path>
            </a:pathLst>
          </a:custGeom>
          <a:blipFill>
            <a:blip r:embed="rId11">
              <a:extLst>
                <a:ext uri="{96DAC541-7B7A-43D3-8B79-37D633B846F1}">
                  <asvg:svgBlip xmlns:asvg="http://schemas.microsoft.com/office/drawing/2016/SVG/main" r:embed="rId12"/>
                </a:ext>
              </a:extLst>
            </a:blip>
            <a:stretch>
              <a:fillRect l="0" t="0" r="0" b="0"/>
            </a:stretch>
          </a:blipFill>
        </p:spPr>
      </p:sp>
      <p:sp>
        <p:nvSpPr>
          <p:cNvPr name="Freeform 9" id="9"/>
          <p:cNvSpPr/>
          <p:nvPr/>
        </p:nvSpPr>
        <p:spPr>
          <a:xfrm flipH="false" flipV="false" rot="0">
            <a:off x="6354315" y="5589906"/>
            <a:ext cx="1055842" cy="1144544"/>
          </a:xfrm>
          <a:custGeom>
            <a:avLst/>
            <a:gdLst/>
            <a:ahLst/>
            <a:cxnLst/>
            <a:rect r="r" b="b" t="t" l="l"/>
            <a:pathLst>
              <a:path h="1144544" w="1055842">
                <a:moveTo>
                  <a:pt x="0" y="0"/>
                </a:moveTo>
                <a:lnTo>
                  <a:pt x="1055841" y="0"/>
                </a:lnTo>
                <a:lnTo>
                  <a:pt x="1055841" y="1144544"/>
                </a:lnTo>
                <a:lnTo>
                  <a:pt x="0" y="1144544"/>
                </a:lnTo>
                <a:lnTo>
                  <a:pt x="0" y="0"/>
                </a:lnTo>
                <a:close/>
              </a:path>
            </a:pathLst>
          </a:custGeom>
          <a:blipFill>
            <a:blip r:embed="rId13">
              <a:extLst>
                <a:ext uri="{96DAC541-7B7A-43D3-8B79-37D633B846F1}">
                  <asvg:svgBlip xmlns:asvg="http://schemas.microsoft.com/office/drawing/2016/SVG/main" r:embed="rId14"/>
                </a:ext>
              </a:extLst>
            </a:blip>
            <a:stretch>
              <a:fillRect l="0" t="0" r="0" b="0"/>
            </a:stretch>
          </a:blipFill>
        </p:spPr>
      </p:sp>
      <p:sp>
        <p:nvSpPr>
          <p:cNvPr name="Freeform 10" id="10"/>
          <p:cNvSpPr/>
          <p:nvPr/>
        </p:nvSpPr>
        <p:spPr>
          <a:xfrm flipH="false" flipV="false" rot="0">
            <a:off x="597138" y="3082190"/>
            <a:ext cx="3000818" cy="2035100"/>
          </a:xfrm>
          <a:custGeom>
            <a:avLst/>
            <a:gdLst/>
            <a:ahLst/>
            <a:cxnLst/>
            <a:rect r="r" b="b" t="t" l="l"/>
            <a:pathLst>
              <a:path h="2035100" w="3000818">
                <a:moveTo>
                  <a:pt x="0" y="0"/>
                </a:moveTo>
                <a:lnTo>
                  <a:pt x="3000818" y="0"/>
                </a:lnTo>
                <a:lnTo>
                  <a:pt x="3000818" y="2035100"/>
                </a:lnTo>
                <a:lnTo>
                  <a:pt x="0" y="2035100"/>
                </a:lnTo>
                <a:lnTo>
                  <a:pt x="0" y="0"/>
                </a:lnTo>
                <a:close/>
              </a:path>
            </a:pathLst>
          </a:custGeom>
          <a:blipFill>
            <a:blip r:embed="rId15">
              <a:alphaModFix amt="77000"/>
              <a:extLst>
                <a:ext uri="{96DAC541-7B7A-43D3-8B79-37D633B846F1}">
                  <asvg:svgBlip xmlns:asvg="http://schemas.microsoft.com/office/drawing/2016/SVG/main" r:embed="rId16"/>
                </a:ext>
              </a:extLst>
            </a:blip>
            <a:stretch>
              <a:fillRect l="0" t="0" r="0" b="0"/>
            </a:stretch>
          </a:blipFill>
        </p:spPr>
      </p:sp>
      <p:sp>
        <p:nvSpPr>
          <p:cNvPr name="Freeform 11" id="11"/>
          <p:cNvSpPr/>
          <p:nvPr/>
        </p:nvSpPr>
        <p:spPr>
          <a:xfrm flipH="false" flipV="false" rot="0">
            <a:off x="359302" y="3091557"/>
            <a:ext cx="3476491" cy="2016365"/>
          </a:xfrm>
          <a:custGeom>
            <a:avLst/>
            <a:gdLst/>
            <a:ahLst/>
            <a:cxnLst/>
            <a:rect r="r" b="b" t="t" l="l"/>
            <a:pathLst>
              <a:path h="2016365" w="3476491">
                <a:moveTo>
                  <a:pt x="0" y="0"/>
                </a:moveTo>
                <a:lnTo>
                  <a:pt x="3476491" y="0"/>
                </a:lnTo>
                <a:lnTo>
                  <a:pt x="3476491" y="2016365"/>
                </a:lnTo>
                <a:lnTo>
                  <a:pt x="0" y="2016365"/>
                </a:lnTo>
                <a:lnTo>
                  <a:pt x="0" y="0"/>
                </a:lnTo>
                <a:close/>
              </a:path>
            </a:pathLst>
          </a:custGeom>
          <a:blipFill>
            <a:blip r:embed="rId17">
              <a:extLst>
                <a:ext uri="{96DAC541-7B7A-43D3-8B79-37D633B846F1}">
                  <asvg:svgBlip xmlns:asvg="http://schemas.microsoft.com/office/drawing/2016/SVG/main" r:embed="rId18"/>
                </a:ext>
              </a:extLst>
            </a:blip>
            <a:stretch>
              <a:fillRect l="0" t="0" r="0" b="0"/>
            </a:stretch>
          </a:blipFill>
        </p:spPr>
      </p:sp>
      <p:sp>
        <p:nvSpPr>
          <p:cNvPr name="Freeform 12" id="12"/>
          <p:cNvSpPr/>
          <p:nvPr/>
        </p:nvSpPr>
        <p:spPr>
          <a:xfrm flipH="false" flipV="false" rot="0">
            <a:off x="2793272" y="4175026"/>
            <a:ext cx="472256" cy="534446"/>
          </a:xfrm>
          <a:custGeom>
            <a:avLst/>
            <a:gdLst/>
            <a:ahLst/>
            <a:cxnLst/>
            <a:rect r="r" b="b" t="t" l="l"/>
            <a:pathLst>
              <a:path h="534446" w="472256">
                <a:moveTo>
                  <a:pt x="0" y="0"/>
                </a:moveTo>
                <a:lnTo>
                  <a:pt x="472256" y="0"/>
                </a:lnTo>
                <a:lnTo>
                  <a:pt x="472256" y="534445"/>
                </a:lnTo>
                <a:lnTo>
                  <a:pt x="0" y="534445"/>
                </a:lnTo>
                <a:lnTo>
                  <a:pt x="0" y="0"/>
                </a:lnTo>
                <a:close/>
              </a:path>
            </a:pathLst>
          </a:custGeom>
          <a:blipFill>
            <a:blip r:embed="rId19">
              <a:extLst>
                <a:ext uri="{96DAC541-7B7A-43D3-8B79-37D633B846F1}">
                  <asvg:svgBlip xmlns:asvg="http://schemas.microsoft.com/office/drawing/2016/SVG/main" r:embed="rId20"/>
                </a:ext>
              </a:extLst>
            </a:blip>
            <a:stretch>
              <a:fillRect l="0" t="0" r="0" b="0"/>
            </a:stretch>
          </a:blipFill>
        </p:spPr>
      </p:sp>
      <p:sp>
        <p:nvSpPr>
          <p:cNvPr name="Freeform 13" id="13"/>
          <p:cNvSpPr/>
          <p:nvPr/>
        </p:nvSpPr>
        <p:spPr>
          <a:xfrm flipH="false" flipV="false" rot="-677456">
            <a:off x="883625" y="3687635"/>
            <a:ext cx="990653" cy="864218"/>
          </a:xfrm>
          <a:custGeom>
            <a:avLst/>
            <a:gdLst/>
            <a:ahLst/>
            <a:cxnLst/>
            <a:rect r="r" b="b" t="t" l="l"/>
            <a:pathLst>
              <a:path h="864218" w="990653">
                <a:moveTo>
                  <a:pt x="0" y="0"/>
                </a:moveTo>
                <a:lnTo>
                  <a:pt x="990652" y="0"/>
                </a:lnTo>
                <a:lnTo>
                  <a:pt x="990652" y="864218"/>
                </a:lnTo>
                <a:lnTo>
                  <a:pt x="0" y="864218"/>
                </a:lnTo>
                <a:lnTo>
                  <a:pt x="0" y="0"/>
                </a:lnTo>
                <a:close/>
              </a:path>
            </a:pathLst>
          </a:custGeom>
          <a:blipFill>
            <a:blip r:embed="rId21"/>
            <a:stretch>
              <a:fillRect l="-1538" t="-10640" r="0" b="-1388"/>
            </a:stretch>
          </a:blipFill>
        </p:spPr>
      </p:sp>
      <p:sp>
        <p:nvSpPr>
          <p:cNvPr name="Freeform 14" id="14"/>
          <p:cNvSpPr/>
          <p:nvPr/>
        </p:nvSpPr>
        <p:spPr>
          <a:xfrm flipH="false" flipV="false" rot="0">
            <a:off x="1629330" y="4525780"/>
            <a:ext cx="114691" cy="114691"/>
          </a:xfrm>
          <a:custGeom>
            <a:avLst/>
            <a:gdLst/>
            <a:ahLst/>
            <a:cxnLst/>
            <a:rect r="r" b="b" t="t" l="l"/>
            <a:pathLst>
              <a:path h="114691" w="114691">
                <a:moveTo>
                  <a:pt x="0" y="0"/>
                </a:moveTo>
                <a:lnTo>
                  <a:pt x="114691" y="0"/>
                </a:lnTo>
                <a:lnTo>
                  <a:pt x="114691" y="114691"/>
                </a:lnTo>
                <a:lnTo>
                  <a:pt x="0" y="114691"/>
                </a:lnTo>
                <a:lnTo>
                  <a:pt x="0" y="0"/>
                </a:lnTo>
                <a:close/>
              </a:path>
            </a:pathLst>
          </a:custGeom>
          <a:blipFill>
            <a:blip r:embed="rId22">
              <a:extLst>
                <a:ext uri="{96DAC541-7B7A-43D3-8B79-37D633B846F1}">
                  <asvg:svgBlip xmlns:asvg="http://schemas.microsoft.com/office/drawing/2016/SVG/main" r:embed="rId23"/>
                </a:ext>
              </a:extLst>
            </a:blip>
            <a:stretch>
              <a:fillRect l="0" t="0" r="0" b="0"/>
            </a:stretch>
          </a:blipFill>
        </p:spPr>
      </p:sp>
      <p:sp>
        <p:nvSpPr>
          <p:cNvPr name="Freeform 15" id="15"/>
          <p:cNvSpPr/>
          <p:nvPr/>
        </p:nvSpPr>
        <p:spPr>
          <a:xfrm flipH="false" flipV="false" rot="2638946">
            <a:off x="8782540" y="6425042"/>
            <a:ext cx="101296" cy="723541"/>
          </a:xfrm>
          <a:custGeom>
            <a:avLst/>
            <a:gdLst/>
            <a:ahLst/>
            <a:cxnLst/>
            <a:rect r="r" b="b" t="t" l="l"/>
            <a:pathLst>
              <a:path h="723541" w="101296">
                <a:moveTo>
                  <a:pt x="0" y="0"/>
                </a:moveTo>
                <a:lnTo>
                  <a:pt x="101296" y="0"/>
                </a:lnTo>
                <a:lnTo>
                  <a:pt x="101296" y="723541"/>
                </a:lnTo>
                <a:lnTo>
                  <a:pt x="0" y="723541"/>
                </a:lnTo>
                <a:lnTo>
                  <a:pt x="0" y="0"/>
                </a:lnTo>
                <a:close/>
              </a:path>
            </a:pathLst>
          </a:custGeom>
          <a:blipFill>
            <a:blip r:embed="rId24">
              <a:extLst>
                <a:ext uri="{96DAC541-7B7A-43D3-8B79-37D633B846F1}">
                  <asvg:svgBlip xmlns:asvg="http://schemas.microsoft.com/office/drawing/2016/SVG/main" r:embed="rId25"/>
                </a:ext>
              </a:extLst>
            </a:blip>
            <a:stretch>
              <a:fillRect l="0" t="0" r="0" b="0"/>
            </a:stretch>
          </a:blipFill>
        </p:spPr>
      </p:sp>
      <p:sp>
        <p:nvSpPr>
          <p:cNvPr name="TextBox 16" id="16"/>
          <p:cNvSpPr txBox="true"/>
          <p:nvPr/>
        </p:nvSpPr>
        <p:spPr>
          <a:xfrm rot="0">
            <a:off x="779693" y="3733536"/>
            <a:ext cx="1149463" cy="496135"/>
          </a:xfrm>
          <a:prstGeom prst="rect">
            <a:avLst/>
          </a:prstGeom>
        </p:spPr>
        <p:txBody>
          <a:bodyPr anchor="t" rtlCol="false" tIns="0" lIns="0" bIns="0" rIns="0">
            <a:spAutoFit/>
          </a:bodyPr>
          <a:lstStyle/>
          <a:p>
            <a:pPr algn="ctr">
              <a:lnSpc>
                <a:spcPts val="4089"/>
              </a:lnSpc>
              <a:spcBef>
                <a:spcPct val="0"/>
              </a:spcBef>
            </a:pPr>
            <a:r>
              <a:rPr lang="en-US" sz="3029" spc="290">
                <a:solidFill>
                  <a:srgbClr val="004AAD"/>
                </a:solidFill>
                <a:latin typeface="Great Vibes"/>
                <a:ea typeface="Great Vibes"/>
                <a:cs typeface="Great Vibes"/>
                <a:sym typeface="Great Vibes"/>
              </a:rPr>
              <a:t>Manu</a:t>
            </a:r>
          </a:p>
        </p:txBody>
      </p:sp>
      <p:sp>
        <p:nvSpPr>
          <p:cNvPr name="TextBox 17" id="17"/>
          <p:cNvSpPr txBox="true"/>
          <p:nvPr/>
        </p:nvSpPr>
        <p:spPr>
          <a:xfrm rot="0">
            <a:off x="1861252" y="3788181"/>
            <a:ext cx="1618674" cy="386845"/>
          </a:xfrm>
          <a:prstGeom prst="rect">
            <a:avLst/>
          </a:prstGeom>
        </p:spPr>
        <p:txBody>
          <a:bodyPr anchor="t" rtlCol="false" tIns="0" lIns="0" bIns="0" rIns="0">
            <a:spAutoFit/>
          </a:bodyPr>
          <a:lstStyle/>
          <a:p>
            <a:pPr algn="ctr">
              <a:lnSpc>
                <a:spcPts val="3132"/>
              </a:lnSpc>
              <a:spcBef>
                <a:spcPct val="0"/>
              </a:spcBef>
            </a:pPr>
            <a:r>
              <a:rPr lang="en-US" sz="2320" spc="549">
                <a:solidFill>
                  <a:srgbClr val="004AAD"/>
                </a:solidFill>
                <a:latin typeface="Cheque Bold"/>
                <a:ea typeface="Cheque Bold"/>
                <a:cs typeface="Cheque Bold"/>
                <a:sym typeface="Cheque Bold"/>
              </a:rPr>
              <a:t>FAKTUR</a:t>
            </a:r>
          </a:p>
        </p:txBody>
      </p:sp>
      <p:sp>
        <p:nvSpPr>
          <p:cNvPr name="TextBox 18" id="18"/>
          <p:cNvSpPr txBox="true"/>
          <p:nvPr/>
        </p:nvSpPr>
        <p:spPr>
          <a:xfrm rot="0">
            <a:off x="1514068" y="4401125"/>
            <a:ext cx="1166959" cy="109588"/>
          </a:xfrm>
          <a:prstGeom prst="rect">
            <a:avLst/>
          </a:prstGeom>
        </p:spPr>
        <p:txBody>
          <a:bodyPr anchor="t" rtlCol="false" tIns="0" lIns="0" bIns="0" rIns="0">
            <a:spAutoFit/>
          </a:bodyPr>
          <a:lstStyle/>
          <a:p>
            <a:pPr algn="ctr">
              <a:lnSpc>
                <a:spcPts val="813"/>
              </a:lnSpc>
              <a:spcBef>
                <a:spcPct val="0"/>
              </a:spcBef>
            </a:pPr>
            <a:r>
              <a:rPr lang="en-US" sz="602" spc="142">
                <a:solidFill>
                  <a:srgbClr val="000000"/>
                </a:solidFill>
                <a:latin typeface="Now"/>
                <a:ea typeface="Now"/>
                <a:cs typeface="Now"/>
                <a:sym typeface="Now"/>
              </a:rPr>
              <a:t>Individuelle Malerei</a:t>
            </a:r>
          </a:p>
        </p:txBody>
      </p:sp>
      <p:sp>
        <p:nvSpPr>
          <p:cNvPr name="TextBox 19" id="19"/>
          <p:cNvSpPr txBox="true"/>
          <p:nvPr/>
        </p:nvSpPr>
        <p:spPr>
          <a:xfrm rot="0">
            <a:off x="1800995" y="4518990"/>
            <a:ext cx="764769" cy="109220"/>
          </a:xfrm>
          <a:prstGeom prst="rect">
            <a:avLst/>
          </a:prstGeom>
        </p:spPr>
        <p:txBody>
          <a:bodyPr anchor="t" rtlCol="false" tIns="0" lIns="0" bIns="0" rIns="0">
            <a:spAutoFit/>
          </a:bodyPr>
          <a:lstStyle/>
          <a:p>
            <a:pPr algn="l">
              <a:lnSpc>
                <a:spcPts val="810"/>
              </a:lnSpc>
              <a:spcBef>
                <a:spcPct val="0"/>
              </a:spcBef>
            </a:pPr>
            <a:r>
              <a:rPr lang="en-US" sz="600" spc="142">
                <a:solidFill>
                  <a:srgbClr val="000000"/>
                </a:solidFill>
                <a:latin typeface="Now"/>
                <a:ea typeface="Now"/>
                <a:cs typeface="Now"/>
                <a:sym typeface="Now"/>
              </a:rPr>
              <a:t>0163 2662435</a:t>
            </a:r>
          </a:p>
        </p:txBody>
      </p:sp>
      <p:sp>
        <p:nvSpPr>
          <p:cNvPr name="TextBox 20" id="20"/>
          <p:cNvSpPr txBox="true"/>
          <p:nvPr/>
        </p:nvSpPr>
        <p:spPr>
          <a:xfrm rot="0">
            <a:off x="1275957" y="4200494"/>
            <a:ext cx="1643181" cy="155355"/>
          </a:xfrm>
          <a:prstGeom prst="rect">
            <a:avLst/>
          </a:prstGeom>
        </p:spPr>
        <p:txBody>
          <a:bodyPr anchor="t" rtlCol="false" tIns="0" lIns="0" bIns="0" rIns="0">
            <a:spAutoFit/>
          </a:bodyPr>
          <a:lstStyle/>
          <a:p>
            <a:pPr algn="ctr">
              <a:lnSpc>
                <a:spcPts val="1218"/>
              </a:lnSpc>
              <a:spcBef>
                <a:spcPct val="0"/>
              </a:spcBef>
            </a:pPr>
            <a:r>
              <a:rPr lang="en-US" sz="902" spc="213">
                <a:solidFill>
                  <a:srgbClr val="000000"/>
                </a:solidFill>
                <a:latin typeface="Now"/>
                <a:ea typeface="Now"/>
                <a:cs typeface="Now"/>
                <a:sym typeface="Now"/>
              </a:rPr>
              <a:t>Manuela Schenk</a:t>
            </a:r>
          </a:p>
        </p:txBody>
      </p:sp>
      <p:sp>
        <p:nvSpPr>
          <p:cNvPr name="Freeform 21" id="21"/>
          <p:cNvSpPr/>
          <p:nvPr/>
        </p:nvSpPr>
        <p:spPr>
          <a:xfrm flipH="false" flipV="false" rot="0">
            <a:off x="9623208" y="6834228"/>
            <a:ext cx="523355" cy="537025"/>
          </a:xfrm>
          <a:custGeom>
            <a:avLst/>
            <a:gdLst/>
            <a:ahLst/>
            <a:cxnLst/>
            <a:rect r="r" b="b" t="t" l="l"/>
            <a:pathLst>
              <a:path h="537025" w="523355">
                <a:moveTo>
                  <a:pt x="0" y="0"/>
                </a:moveTo>
                <a:lnTo>
                  <a:pt x="523355" y="0"/>
                </a:lnTo>
                <a:lnTo>
                  <a:pt x="523355" y="537024"/>
                </a:lnTo>
                <a:lnTo>
                  <a:pt x="0" y="537024"/>
                </a:lnTo>
                <a:lnTo>
                  <a:pt x="0" y="0"/>
                </a:lnTo>
                <a:close/>
              </a:path>
            </a:pathLst>
          </a:custGeom>
          <a:blipFill>
            <a:blip r:embed="rId26">
              <a:extLst>
                <a:ext uri="{96DAC541-7B7A-43D3-8B79-37D633B846F1}">
                  <asvg:svgBlip xmlns:asvg="http://schemas.microsoft.com/office/drawing/2016/SVG/main" r:embed="rId27"/>
                </a:ext>
              </a:extLst>
            </a:blip>
            <a:stretch>
              <a:fillRect l="0" t="0" r="0" b="0"/>
            </a:stretch>
          </a:blipFill>
        </p:spPr>
      </p:sp>
      <p:sp>
        <p:nvSpPr>
          <p:cNvPr name="Freeform 22" id="22"/>
          <p:cNvSpPr/>
          <p:nvPr/>
        </p:nvSpPr>
        <p:spPr>
          <a:xfrm flipH="false" flipV="false" rot="0">
            <a:off x="682971" y="5514622"/>
            <a:ext cx="3000818" cy="2035100"/>
          </a:xfrm>
          <a:custGeom>
            <a:avLst/>
            <a:gdLst/>
            <a:ahLst/>
            <a:cxnLst/>
            <a:rect r="r" b="b" t="t" l="l"/>
            <a:pathLst>
              <a:path h="2035100" w="3000818">
                <a:moveTo>
                  <a:pt x="0" y="0"/>
                </a:moveTo>
                <a:lnTo>
                  <a:pt x="3000818" y="0"/>
                </a:lnTo>
                <a:lnTo>
                  <a:pt x="3000818" y="2035100"/>
                </a:lnTo>
                <a:lnTo>
                  <a:pt x="0" y="2035100"/>
                </a:lnTo>
                <a:lnTo>
                  <a:pt x="0" y="0"/>
                </a:lnTo>
                <a:close/>
              </a:path>
            </a:pathLst>
          </a:custGeom>
          <a:blipFill>
            <a:blip r:embed="rId15">
              <a:alphaModFix amt="77000"/>
              <a:extLst>
                <a:ext uri="{96DAC541-7B7A-43D3-8B79-37D633B846F1}">
                  <asvg:svgBlip xmlns:asvg="http://schemas.microsoft.com/office/drawing/2016/SVG/main" r:embed="rId16"/>
                </a:ext>
              </a:extLst>
            </a:blip>
            <a:stretch>
              <a:fillRect l="0" t="0" r="0" b="0"/>
            </a:stretch>
          </a:blipFill>
        </p:spPr>
      </p:sp>
      <p:sp>
        <p:nvSpPr>
          <p:cNvPr name="Freeform 23" id="23"/>
          <p:cNvSpPr/>
          <p:nvPr/>
        </p:nvSpPr>
        <p:spPr>
          <a:xfrm flipH="false" flipV="false" rot="0">
            <a:off x="445134" y="5523990"/>
            <a:ext cx="3476491" cy="2016365"/>
          </a:xfrm>
          <a:custGeom>
            <a:avLst/>
            <a:gdLst/>
            <a:ahLst/>
            <a:cxnLst/>
            <a:rect r="r" b="b" t="t" l="l"/>
            <a:pathLst>
              <a:path h="2016365" w="3476491">
                <a:moveTo>
                  <a:pt x="0" y="0"/>
                </a:moveTo>
                <a:lnTo>
                  <a:pt x="3476491" y="0"/>
                </a:lnTo>
                <a:lnTo>
                  <a:pt x="3476491" y="2016365"/>
                </a:lnTo>
                <a:lnTo>
                  <a:pt x="0" y="2016365"/>
                </a:lnTo>
                <a:lnTo>
                  <a:pt x="0" y="0"/>
                </a:lnTo>
                <a:close/>
              </a:path>
            </a:pathLst>
          </a:custGeom>
          <a:blipFill>
            <a:blip r:embed="rId17">
              <a:extLst>
                <a:ext uri="{96DAC541-7B7A-43D3-8B79-37D633B846F1}">
                  <asvg:svgBlip xmlns:asvg="http://schemas.microsoft.com/office/drawing/2016/SVG/main" r:embed="rId18"/>
                </a:ext>
              </a:extLst>
            </a:blip>
            <a:stretch>
              <a:fillRect l="0" t="0" r="0" b="0"/>
            </a:stretch>
          </a:blipFill>
        </p:spPr>
      </p:sp>
      <p:sp>
        <p:nvSpPr>
          <p:cNvPr name="Freeform 24" id="24"/>
          <p:cNvSpPr/>
          <p:nvPr/>
        </p:nvSpPr>
        <p:spPr>
          <a:xfrm flipH="false" flipV="false" rot="-677456">
            <a:off x="969457" y="6120068"/>
            <a:ext cx="990653" cy="864218"/>
          </a:xfrm>
          <a:custGeom>
            <a:avLst/>
            <a:gdLst/>
            <a:ahLst/>
            <a:cxnLst/>
            <a:rect r="r" b="b" t="t" l="l"/>
            <a:pathLst>
              <a:path h="864218" w="990653">
                <a:moveTo>
                  <a:pt x="0" y="0"/>
                </a:moveTo>
                <a:lnTo>
                  <a:pt x="990653" y="0"/>
                </a:lnTo>
                <a:lnTo>
                  <a:pt x="990653" y="864218"/>
                </a:lnTo>
                <a:lnTo>
                  <a:pt x="0" y="864218"/>
                </a:lnTo>
                <a:lnTo>
                  <a:pt x="0" y="0"/>
                </a:lnTo>
                <a:close/>
              </a:path>
            </a:pathLst>
          </a:custGeom>
          <a:blipFill>
            <a:blip r:embed="rId21"/>
            <a:stretch>
              <a:fillRect l="-1538" t="-10640" r="0" b="-1388"/>
            </a:stretch>
          </a:blipFill>
        </p:spPr>
      </p:sp>
      <p:sp>
        <p:nvSpPr>
          <p:cNvPr name="Freeform 25" id="25"/>
          <p:cNvSpPr/>
          <p:nvPr/>
        </p:nvSpPr>
        <p:spPr>
          <a:xfrm flipH="false" flipV="false" rot="0">
            <a:off x="1715162" y="6958212"/>
            <a:ext cx="114691" cy="114691"/>
          </a:xfrm>
          <a:custGeom>
            <a:avLst/>
            <a:gdLst/>
            <a:ahLst/>
            <a:cxnLst/>
            <a:rect r="r" b="b" t="t" l="l"/>
            <a:pathLst>
              <a:path h="114691" w="114691">
                <a:moveTo>
                  <a:pt x="0" y="0"/>
                </a:moveTo>
                <a:lnTo>
                  <a:pt x="114692" y="0"/>
                </a:lnTo>
                <a:lnTo>
                  <a:pt x="114692" y="114691"/>
                </a:lnTo>
                <a:lnTo>
                  <a:pt x="0" y="114691"/>
                </a:lnTo>
                <a:lnTo>
                  <a:pt x="0" y="0"/>
                </a:lnTo>
                <a:close/>
              </a:path>
            </a:pathLst>
          </a:custGeom>
          <a:blipFill>
            <a:blip r:embed="rId22">
              <a:extLst>
                <a:ext uri="{96DAC541-7B7A-43D3-8B79-37D633B846F1}">
                  <asvg:svgBlip xmlns:asvg="http://schemas.microsoft.com/office/drawing/2016/SVG/main" r:embed="rId23"/>
                </a:ext>
              </a:extLst>
            </a:blip>
            <a:stretch>
              <a:fillRect l="0" t="0" r="0" b="0"/>
            </a:stretch>
          </a:blipFill>
        </p:spPr>
      </p:sp>
      <p:sp>
        <p:nvSpPr>
          <p:cNvPr name="TextBox 26" id="26"/>
          <p:cNvSpPr txBox="true"/>
          <p:nvPr/>
        </p:nvSpPr>
        <p:spPr>
          <a:xfrm rot="0">
            <a:off x="865525" y="6165968"/>
            <a:ext cx="1149463" cy="496135"/>
          </a:xfrm>
          <a:prstGeom prst="rect">
            <a:avLst/>
          </a:prstGeom>
        </p:spPr>
        <p:txBody>
          <a:bodyPr anchor="t" rtlCol="false" tIns="0" lIns="0" bIns="0" rIns="0">
            <a:spAutoFit/>
          </a:bodyPr>
          <a:lstStyle/>
          <a:p>
            <a:pPr algn="ctr">
              <a:lnSpc>
                <a:spcPts val="4089"/>
              </a:lnSpc>
              <a:spcBef>
                <a:spcPct val="0"/>
              </a:spcBef>
            </a:pPr>
            <a:r>
              <a:rPr lang="en-US" sz="3029" spc="290">
                <a:solidFill>
                  <a:srgbClr val="004AAD"/>
                </a:solidFill>
                <a:latin typeface="Great Vibes"/>
                <a:ea typeface="Great Vibes"/>
                <a:cs typeface="Great Vibes"/>
                <a:sym typeface="Great Vibes"/>
              </a:rPr>
              <a:t>Manu</a:t>
            </a:r>
          </a:p>
        </p:txBody>
      </p:sp>
      <p:sp>
        <p:nvSpPr>
          <p:cNvPr name="TextBox 27" id="27"/>
          <p:cNvSpPr txBox="true"/>
          <p:nvPr/>
        </p:nvSpPr>
        <p:spPr>
          <a:xfrm rot="0">
            <a:off x="1947085" y="6220613"/>
            <a:ext cx="1618674" cy="386845"/>
          </a:xfrm>
          <a:prstGeom prst="rect">
            <a:avLst/>
          </a:prstGeom>
        </p:spPr>
        <p:txBody>
          <a:bodyPr anchor="t" rtlCol="false" tIns="0" lIns="0" bIns="0" rIns="0">
            <a:spAutoFit/>
          </a:bodyPr>
          <a:lstStyle/>
          <a:p>
            <a:pPr algn="ctr">
              <a:lnSpc>
                <a:spcPts val="3132"/>
              </a:lnSpc>
              <a:spcBef>
                <a:spcPct val="0"/>
              </a:spcBef>
            </a:pPr>
            <a:r>
              <a:rPr lang="en-US" sz="2320" spc="549">
                <a:solidFill>
                  <a:srgbClr val="004AAD"/>
                </a:solidFill>
                <a:latin typeface="Cheque Bold"/>
                <a:ea typeface="Cheque Bold"/>
                <a:cs typeface="Cheque Bold"/>
                <a:sym typeface="Cheque Bold"/>
              </a:rPr>
              <a:t>FAKTUR</a:t>
            </a:r>
          </a:p>
        </p:txBody>
      </p:sp>
      <p:sp>
        <p:nvSpPr>
          <p:cNvPr name="Freeform 28" id="28"/>
          <p:cNvSpPr/>
          <p:nvPr/>
        </p:nvSpPr>
        <p:spPr>
          <a:xfrm flipH="false" flipV="false" rot="-2260596">
            <a:off x="2712810" y="6813115"/>
            <a:ext cx="766739" cy="94797"/>
          </a:xfrm>
          <a:custGeom>
            <a:avLst/>
            <a:gdLst/>
            <a:ahLst/>
            <a:cxnLst/>
            <a:rect r="r" b="b" t="t" l="l"/>
            <a:pathLst>
              <a:path h="94797" w="766739">
                <a:moveTo>
                  <a:pt x="0" y="0"/>
                </a:moveTo>
                <a:lnTo>
                  <a:pt x="766739" y="0"/>
                </a:lnTo>
                <a:lnTo>
                  <a:pt x="766739" y="94796"/>
                </a:lnTo>
                <a:lnTo>
                  <a:pt x="0" y="94796"/>
                </a:lnTo>
                <a:lnTo>
                  <a:pt x="0" y="0"/>
                </a:lnTo>
                <a:close/>
              </a:path>
            </a:pathLst>
          </a:custGeom>
          <a:blipFill>
            <a:blip r:embed="rId28">
              <a:extLst>
                <a:ext uri="{96DAC541-7B7A-43D3-8B79-37D633B846F1}">
                  <asvg:svgBlip xmlns:asvg="http://schemas.microsoft.com/office/drawing/2016/SVG/main" r:embed="rId29"/>
                </a:ext>
              </a:extLst>
            </a:blip>
            <a:stretch>
              <a:fillRect l="0" t="0" r="0" b="0"/>
            </a:stretch>
          </a:blipFill>
        </p:spPr>
      </p:sp>
      <p:sp>
        <p:nvSpPr>
          <p:cNvPr name="TextBox 29" id="29"/>
          <p:cNvSpPr txBox="true"/>
          <p:nvPr/>
        </p:nvSpPr>
        <p:spPr>
          <a:xfrm rot="0">
            <a:off x="1599900" y="6833557"/>
            <a:ext cx="1166959" cy="109588"/>
          </a:xfrm>
          <a:prstGeom prst="rect">
            <a:avLst/>
          </a:prstGeom>
        </p:spPr>
        <p:txBody>
          <a:bodyPr anchor="t" rtlCol="false" tIns="0" lIns="0" bIns="0" rIns="0">
            <a:spAutoFit/>
          </a:bodyPr>
          <a:lstStyle/>
          <a:p>
            <a:pPr algn="ctr">
              <a:lnSpc>
                <a:spcPts val="813"/>
              </a:lnSpc>
              <a:spcBef>
                <a:spcPct val="0"/>
              </a:spcBef>
            </a:pPr>
            <a:r>
              <a:rPr lang="en-US" sz="602" spc="142">
                <a:solidFill>
                  <a:srgbClr val="000000"/>
                </a:solidFill>
                <a:latin typeface="Now"/>
                <a:ea typeface="Now"/>
                <a:cs typeface="Now"/>
                <a:sym typeface="Now"/>
              </a:rPr>
              <a:t>Individuelle Malerei</a:t>
            </a:r>
          </a:p>
        </p:txBody>
      </p:sp>
      <p:sp>
        <p:nvSpPr>
          <p:cNvPr name="TextBox 30" id="30"/>
          <p:cNvSpPr txBox="true"/>
          <p:nvPr/>
        </p:nvSpPr>
        <p:spPr>
          <a:xfrm rot="0">
            <a:off x="1886828" y="6951423"/>
            <a:ext cx="764769" cy="109220"/>
          </a:xfrm>
          <a:prstGeom prst="rect">
            <a:avLst/>
          </a:prstGeom>
        </p:spPr>
        <p:txBody>
          <a:bodyPr anchor="t" rtlCol="false" tIns="0" lIns="0" bIns="0" rIns="0">
            <a:spAutoFit/>
          </a:bodyPr>
          <a:lstStyle/>
          <a:p>
            <a:pPr algn="l">
              <a:lnSpc>
                <a:spcPts val="810"/>
              </a:lnSpc>
              <a:spcBef>
                <a:spcPct val="0"/>
              </a:spcBef>
            </a:pPr>
            <a:r>
              <a:rPr lang="en-US" sz="600" spc="142">
                <a:solidFill>
                  <a:srgbClr val="000000"/>
                </a:solidFill>
                <a:latin typeface="Now"/>
                <a:ea typeface="Now"/>
                <a:cs typeface="Now"/>
                <a:sym typeface="Now"/>
              </a:rPr>
              <a:t>0163 2662435</a:t>
            </a:r>
          </a:p>
        </p:txBody>
      </p:sp>
      <p:sp>
        <p:nvSpPr>
          <p:cNvPr name="TextBox 31" id="31"/>
          <p:cNvSpPr txBox="true"/>
          <p:nvPr/>
        </p:nvSpPr>
        <p:spPr>
          <a:xfrm rot="0">
            <a:off x="1361789" y="6632926"/>
            <a:ext cx="1643181" cy="155355"/>
          </a:xfrm>
          <a:prstGeom prst="rect">
            <a:avLst/>
          </a:prstGeom>
        </p:spPr>
        <p:txBody>
          <a:bodyPr anchor="t" rtlCol="false" tIns="0" lIns="0" bIns="0" rIns="0">
            <a:spAutoFit/>
          </a:bodyPr>
          <a:lstStyle/>
          <a:p>
            <a:pPr algn="ctr">
              <a:lnSpc>
                <a:spcPts val="1218"/>
              </a:lnSpc>
              <a:spcBef>
                <a:spcPct val="0"/>
              </a:spcBef>
            </a:pPr>
            <a:r>
              <a:rPr lang="en-US" sz="902" spc="213">
                <a:solidFill>
                  <a:srgbClr val="000000"/>
                </a:solidFill>
                <a:latin typeface="Now"/>
                <a:ea typeface="Now"/>
                <a:cs typeface="Now"/>
                <a:sym typeface="Now"/>
              </a:rPr>
              <a:t>Manuela Schenk</a:t>
            </a:r>
          </a:p>
        </p:txBody>
      </p:sp>
      <p:sp>
        <p:nvSpPr>
          <p:cNvPr name="Freeform 32" id="32"/>
          <p:cNvSpPr/>
          <p:nvPr/>
        </p:nvSpPr>
        <p:spPr>
          <a:xfrm flipH="false" flipV="false" rot="-3413489">
            <a:off x="843793" y="4097807"/>
            <a:ext cx="101296" cy="723541"/>
          </a:xfrm>
          <a:custGeom>
            <a:avLst/>
            <a:gdLst/>
            <a:ahLst/>
            <a:cxnLst/>
            <a:rect r="r" b="b" t="t" l="l"/>
            <a:pathLst>
              <a:path h="723541" w="101296">
                <a:moveTo>
                  <a:pt x="0" y="0"/>
                </a:moveTo>
                <a:lnTo>
                  <a:pt x="101296" y="0"/>
                </a:lnTo>
                <a:lnTo>
                  <a:pt x="101296" y="723540"/>
                </a:lnTo>
                <a:lnTo>
                  <a:pt x="0" y="723540"/>
                </a:lnTo>
                <a:lnTo>
                  <a:pt x="0" y="0"/>
                </a:lnTo>
                <a:close/>
              </a:path>
            </a:pathLst>
          </a:custGeom>
          <a:blipFill>
            <a:blip r:embed="rId24">
              <a:extLst>
                <a:ext uri="{96DAC541-7B7A-43D3-8B79-37D633B846F1}">
                  <asvg:svgBlip xmlns:asvg="http://schemas.microsoft.com/office/drawing/2016/SVG/main" r:embed="rId25"/>
                </a:ext>
              </a:extLst>
            </a:blip>
            <a:stretch>
              <a:fillRect l="0" t="0" r="0" b="0"/>
            </a:stretch>
          </a:blipFill>
        </p:spPr>
      </p:sp>
      <p:grpSp>
        <p:nvGrpSpPr>
          <p:cNvPr name="Group 33" id="33"/>
          <p:cNvGrpSpPr/>
          <p:nvPr/>
        </p:nvGrpSpPr>
        <p:grpSpPr>
          <a:xfrm rot="0">
            <a:off x="530967" y="554671"/>
            <a:ext cx="3476491" cy="2035100"/>
            <a:chOff x="0" y="0"/>
            <a:chExt cx="4635321" cy="2713467"/>
          </a:xfrm>
        </p:grpSpPr>
        <p:sp>
          <p:nvSpPr>
            <p:cNvPr name="Freeform 34" id="34"/>
            <p:cNvSpPr/>
            <p:nvPr/>
          </p:nvSpPr>
          <p:spPr>
            <a:xfrm flipH="false" flipV="false" rot="0">
              <a:off x="317115" y="0"/>
              <a:ext cx="4001091" cy="2713467"/>
            </a:xfrm>
            <a:custGeom>
              <a:avLst/>
              <a:gdLst/>
              <a:ahLst/>
              <a:cxnLst/>
              <a:rect r="r" b="b" t="t" l="l"/>
              <a:pathLst>
                <a:path h="2713467" w="4001091">
                  <a:moveTo>
                    <a:pt x="0" y="0"/>
                  </a:moveTo>
                  <a:lnTo>
                    <a:pt x="4001091" y="0"/>
                  </a:lnTo>
                  <a:lnTo>
                    <a:pt x="4001091" y="2713467"/>
                  </a:lnTo>
                  <a:lnTo>
                    <a:pt x="0" y="2713467"/>
                  </a:lnTo>
                  <a:lnTo>
                    <a:pt x="0" y="0"/>
                  </a:lnTo>
                  <a:close/>
                </a:path>
              </a:pathLst>
            </a:custGeom>
            <a:blipFill>
              <a:blip r:embed="rId15">
                <a:alphaModFix amt="77000"/>
                <a:extLst>
                  <a:ext uri="{96DAC541-7B7A-43D3-8B79-37D633B846F1}">
                    <asvg:svgBlip xmlns:asvg="http://schemas.microsoft.com/office/drawing/2016/SVG/main" r:embed="rId16"/>
                  </a:ext>
                </a:extLst>
              </a:blip>
              <a:stretch>
                <a:fillRect l="0" t="0" r="0" b="0"/>
              </a:stretch>
            </a:blipFill>
          </p:spPr>
        </p:sp>
        <p:sp>
          <p:nvSpPr>
            <p:cNvPr name="Freeform 35" id="35"/>
            <p:cNvSpPr/>
            <p:nvPr/>
          </p:nvSpPr>
          <p:spPr>
            <a:xfrm flipH="false" flipV="false" rot="0">
              <a:off x="0" y="12490"/>
              <a:ext cx="4635321" cy="2688486"/>
            </a:xfrm>
            <a:custGeom>
              <a:avLst/>
              <a:gdLst/>
              <a:ahLst/>
              <a:cxnLst/>
              <a:rect r="r" b="b" t="t" l="l"/>
              <a:pathLst>
                <a:path h="2688486" w="4635321">
                  <a:moveTo>
                    <a:pt x="0" y="0"/>
                  </a:moveTo>
                  <a:lnTo>
                    <a:pt x="4635321" y="0"/>
                  </a:lnTo>
                  <a:lnTo>
                    <a:pt x="4635321" y="2688487"/>
                  </a:lnTo>
                  <a:lnTo>
                    <a:pt x="0" y="2688487"/>
                  </a:lnTo>
                  <a:lnTo>
                    <a:pt x="0" y="0"/>
                  </a:lnTo>
                  <a:close/>
                </a:path>
              </a:pathLst>
            </a:custGeom>
            <a:blipFill>
              <a:blip r:embed="rId17">
                <a:extLst>
                  <a:ext uri="{96DAC541-7B7A-43D3-8B79-37D633B846F1}">
                    <asvg:svgBlip xmlns:asvg="http://schemas.microsoft.com/office/drawing/2016/SVG/main" r:embed="rId18"/>
                  </a:ext>
                </a:extLst>
              </a:blip>
              <a:stretch>
                <a:fillRect l="0" t="0" r="0" b="0"/>
              </a:stretch>
            </a:blipFill>
          </p:spPr>
        </p:sp>
        <p:sp>
          <p:nvSpPr>
            <p:cNvPr name="Freeform 36" id="36"/>
            <p:cNvSpPr/>
            <p:nvPr/>
          </p:nvSpPr>
          <p:spPr>
            <a:xfrm flipH="false" flipV="false" rot="-677456">
              <a:off x="699097" y="807261"/>
              <a:ext cx="1320870" cy="1152291"/>
            </a:xfrm>
            <a:custGeom>
              <a:avLst/>
              <a:gdLst/>
              <a:ahLst/>
              <a:cxnLst/>
              <a:rect r="r" b="b" t="t" l="l"/>
              <a:pathLst>
                <a:path h="1152291" w="1320870">
                  <a:moveTo>
                    <a:pt x="0" y="0"/>
                  </a:moveTo>
                  <a:lnTo>
                    <a:pt x="1320871" y="0"/>
                  </a:lnTo>
                  <a:lnTo>
                    <a:pt x="1320871" y="1152291"/>
                  </a:lnTo>
                  <a:lnTo>
                    <a:pt x="0" y="1152291"/>
                  </a:lnTo>
                  <a:lnTo>
                    <a:pt x="0" y="0"/>
                  </a:lnTo>
                  <a:close/>
                </a:path>
              </a:pathLst>
            </a:custGeom>
            <a:blipFill>
              <a:blip r:embed="rId21"/>
              <a:stretch>
                <a:fillRect l="-1242" t="-6652" r="-295" b="-5375"/>
              </a:stretch>
            </a:blipFill>
          </p:spPr>
        </p:sp>
        <p:sp>
          <p:nvSpPr>
            <p:cNvPr name="Freeform 37" id="37"/>
            <p:cNvSpPr/>
            <p:nvPr/>
          </p:nvSpPr>
          <p:spPr>
            <a:xfrm flipH="false" flipV="false" rot="0">
              <a:off x="1693371" y="1924787"/>
              <a:ext cx="152922" cy="152922"/>
            </a:xfrm>
            <a:custGeom>
              <a:avLst/>
              <a:gdLst/>
              <a:ahLst/>
              <a:cxnLst/>
              <a:rect r="r" b="b" t="t" l="l"/>
              <a:pathLst>
                <a:path h="152922" w="152922">
                  <a:moveTo>
                    <a:pt x="0" y="0"/>
                  </a:moveTo>
                  <a:lnTo>
                    <a:pt x="152922" y="0"/>
                  </a:lnTo>
                  <a:lnTo>
                    <a:pt x="152922" y="152921"/>
                  </a:lnTo>
                  <a:lnTo>
                    <a:pt x="0" y="152921"/>
                  </a:lnTo>
                  <a:lnTo>
                    <a:pt x="0" y="0"/>
                  </a:lnTo>
                  <a:close/>
                </a:path>
              </a:pathLst>
            </a:custGeom>
            <a:blipFill>
              <a:blip r:embed="rId22">
                <a:extLst>
                  <a:ext uri="{96DAC541-7B7A-43D3-8B79-37D633B846F1}">
                    <asvg:svgBlip xmlns:asvg="http://schemas.microsoft.com/office/drawing/2016/SVG/main" r:embed="rId23"/>
                  </a:ext>
                </a:extLst>
              </a:blip>
              <a:stretch>
                <a:fillRect l="0" t="0" r="0" b="0"/>
              </a:stretch>
            </a:blipFill>
          </p:spPr>
        </p:sp>
        <p:sp>
          <p:nvSpPr>
            <p:cNvPr name="TextBox 38" id="38"/>
            <p:cNvSpPr txBox="true"/>
            <p:nvPr/>
          </p:nvSpPr>
          <p:spPr>
            <a:xfrm rot="0">
              <a:off x="594407" y="920069"/>
              <a:ext cx="1498732" cy="635311"/>
            </a:xfrm>
            <a:prstGeom prst="rect">
              <a:avLst/>
            </a:prstGeom>
          </p:spPr>
          <p:txBody>
            <a:bodyPr anchor="t" rtlCol="false" tIns="0" lIns="0" bIns="0" rIns="0">
              <a:spAutoFit/>
            </a:bodyPr>
            <a:lstStyle/>
            <a:p>
              <a:pPr algn="ctr">
                <a:lnSpc>
                  <a:spcPts val="3999"/>
                </a:lnSpc>
                <a:spcBef>
                  <a:spcPct val="0"/>
                </a:spcBef>
              </a:pPr>
              <a:r>
                <a:rPr lang="en-US" sz="2962" spc="284">
                  <a:solidFill>
                    <a:srgbClr val="004AAD"/>
                  </a:solidFill>
                  <a:latin typeface="Great Vibes"/>
                  <a:ea typeface="Great Vibes"/>
                  <a:cs typeface="Great Vibes"/>
                  <a:sym typeface="Great Vibes"/>
                </a:rPr>
                <a:t>Manu</a:t>
              </a:r>
            </a:p>
          </p:txBody>
        </p:sp>
        <p:sp>
          <p:nvSpPr>
            <p:cNvPr name="TextBox 39" id="39"/>
            <p:cNvSpPr txBox="true"/>
            <p:nvPr/>
          </p:nvSpPr>
          <p:spPr>
            <a:xfrm rot="0">
              <a:off x="1919373" y="955639"/>
              <a:ext cx="2158232" cy="499858"/>
            </a:xfrm>
            <a:prstGeom prst="rect">
              <a:avLst/>
            </a:prstGeom>
          </p:spPr>
          <p:txBody>
            <a:bodyPr anchor="t" rtlCol="false" tIns="0" lIns="0" bIns="0" rIns="0">
              <a:spAutoFit/>
            </a:bodyPr>
            <a:lstStyle/>
            <a:p>
              <a:pPr algn="ctr">
                <a:lnSpc>
                  <a:spcPts val="3132"/>
                </a:lnSpc>
                <a:spcBef>
                  <a:spcPct val="0"/>
                </a:spcBef>
              </a:pPr>
              <a:r>
                <a:rPr lang="en-US" sz="2320" spc="440">
                  <a:solidFill>
                    <a:srgbClr val="004AAD"/>
                  </a:solidFill>
                  <a:latin typeface="Cheque Bold"/>
                  <a:ea typeface="Cheque Bold"/>
                  <a:cs typeface="Cheque Bold"/>
                  <a:sym typeface="Cheque Bold"/>
                </a:rPr>
                <a:t>FAKTUR</a:t>
              </a:r>
            </a:p>
          </p:txBody>
        </p:sp>
        <p:sp>
          <p:nvSpPr>
            <p:cNvPr name="TextBox 40" id="40"/>
            <p:cNvSpPr txBox="true"/>
            <p:nvPr/>
          </p:nvSpPr>
          <p:spPr>
            <a:xfrm rot="0">
              <a:off x="1539688" y="1764930"/>
              <a:ext cx="1555945" cy="139767"/>
            </a:xfrm>
            <a:prstGeom prst="rect">
              <a:avLst/>
            </a:prstGeom>
          </p:spPr>
          <p:txBody>
            <a:bodyPr anchor="t" rtlCol="false" tIns="0" lIns="0" bIns="0" rIns="0">
              <a:spAutoFit/>
            </a:bodyPr>
            <a:lstStyle/>
            <a:p>
              <a:pPr algn="ctr">
                <a:lnSpc>
                  <a:spcPts val="813"/>
                </a:lnSpc>
                <a:spcBef>
                  <a:spcPct val="0"/>
                </a:spcBef>
              </a:pPr>
              <a:r>
                <a:rPr lang="en-US" b="true" sz="602" spc="142">
                  <a:solidFill>
                    <a:srgbClr val="000000"/>
                  </a:solidFill>
                  <a:latin typeface="Now Bold"/>
                  <a:ea typeface="Now Bold"/>
                  <a:cs typeface="Now Bold"/>
                  <a:sym typeface="Now Bold"/>
                </a:rPr>
                <a:t>Individuelle Malerei</a:t>
              </a:r>
            </a:p>
          </p:txBody>
        </p:sp>
        <p:sp>
          <p:nvSpPr>
            <p:cNvPr name="TextBox 41" id="41"/>
            <p:cNvSpPr txBox="true"/>
            <p:nvPr/>
          </p:nvSpPr>
          <p:spPr>
            <a:xfrm rot="0">
              <a:off x="1922258" y="1922084"/>
              <a:ext cx="1019693" cy="139277"/>
            </a:xfrm>
            <a:prstGeom prst="rect">
              <a:avLst/>
            </a:prstGeom>
          </p:spPr>
          <p:txBody>
            <a:bodyPr anchor="t" rtlCol="false" tIns="0" lIns="0" bIns="0" rIns="0">
              <a:spAutoFit/>
            </a:bodyPr>
            <a:lstStyle/>
            <a:p>
              <a:pPr algn="l">
                <a:lnSpc>
                  <a:spcPts val="810"/>
                </a:lnSpc>
                <a:spcBef>
                  <a:spcPct val="0"/>
                </a:spcBef>
              </a:pPr>
              <a:r>
                <a:rPr lang="en-US" sz="600" spc="142">
                  <a:solidFill>
                    <a:srgbClr val="000000"/>
                  </a:solidFill>
                  <a:latin typeface="Now"/>
                  <a:ea typeface="Now"/>
                  <a:cs typeface="Now"/>
                  <a:sym typeface="Now"/>
                </a:rPr>
                <a:t>0163 2662435</a:t>
              </a:r>
            </a:p>
          </p:txBody>
        </p:sp>
        <p:sp>
          <p:nvSpPr>
            <p:cNvPr name="TextBox 42" id="42"/>
            <p:cNvSpPr txBox="true"/>
            <p:nvPr/>
          </p:nvSpPr>
          <p:spPr>
            <a:xfrm rot="0">
              <a:off x="1222207" y="1497422"/>
              <a:ext cx="2190908" cy="199328"/>
            </a:xfrm>
            <a:prstGeom prst="rect">
              <a:avLst/>
            </a:prstGeom>
          </p:spPr>
          <p:txBody>
            <a:bodyPr anchor="t" rtlCol="false" tIns="0" lIns="0" bIns="0" rIns="0">
              <a:spAutoFit/>
            </a:bodyPr>
            <a:lstStyle/>
            <a:p>
              <a:pPr algn="ctr">
                <a:lnSpc>
                  <a:spcPts val="1218"/>
                </a:lnSpc>
                <a:spcBef>
                  <a:spcPct val="0"/>
                </a:spcBef>
              </a:pPr>
              <a:r>
                <a:rPr lang="en-US" b="true" sz="902" spc="213">
                  <a:solidFill>
                    <a:srgbClr val="000000"/>
                  </a:solidFill>
                  <a:latin typeface="Now Bold"/>
                  <a:ea typeface="Now Bold"/>
                  <a:cs typeface="Now Bold"/>
                  <a:sym typeface="Now Bold"/>
                </a:rPr>
                <a:t>Manuela Schenk</a:t>
              </a:r>
            </a:p>
          </p:txBody>
        </p:sp>
        <p:sp>
          <p:nvSpPr>
            <p:cNvPr name="Freeform 43" id="43"/>
            <p:cNvSpPr/>
            <p:nvPr/>
          </p:nvSpPr>
          <p:spPr>
            <a:xfrm flipH="false" flipV="false" rot="10529037">
              <a:off x="2938473" y="1971302"/>
              <a:ext cx="466883" cy="215487"/>
            </a:xfrm>
            <a:custGeom>
              <a:avLst/>
              <a:gdLst/>
              <a:ahLst/>
              <a:cxnLst/>
              <a:rect r="r" b="b" t="t" l="l"/>
              <a:pathLst>
                <a:path h="215487" w="466883">
                  <a:moveTo>
                    <a:pt x="0" y="0"/>
                  </a:moveTo>
                  <a:lnTo>
                    <a:pt x="466883" y="0"/>
                  </a:lnTo>
                  <a:lnTo>
                    <a:pt x="466883" y="215487"/>
                  </a:lnTo>
                  <a:lnTo>
                    <a:pt x="0" y="215487"/>
                  </a:lnTo>
                  <a:lnTo>
                    <a:pt x="0" y="0"/>
                  </a:lnTo>
                  <a:close/>
                </a:path>
              </a:pathLst>
            </a:custGeom>
            <a:blipFill>
              <a:blip r:embed="rId21"/>
              <a:stretch>
                <a:fillRect l="-211672" t="0" r="-133967" b="-829333"/>
              </a:stretch>
            </a:blipFill>
          </p:spPr>
        </p:sp>
        <p:sp>
          <p:nvSpPr>
            <p:cNvPr name="Freeform 44" id="44"/>
            <p:cNvSpPr/>
            <p:nvPr/>
          </p:nvSpPr>
          <p:spPr>
            <a:xfrm flipH="false" flipV="false" rot="3196809">
              <a:off x="3538260" y="1323655"/>
              <a:ext cx="135061" cy="964721"/>
            </a:xfrm>
            <a:custGeom>
              <a:avLst/>
              <a:gdLst/>
              <a:ahLst/>
              <a:cxnLst/>
              <a:rect r="r" b="b" t="t" l="l"/>
              <a:pathLst>
                <a:path h="964721" w="135061">
                  <a:moveTo>
                    <a:pt x="0" y="0"/>
                  </a:moveTo>
                  <a:lnTo>
                    <a:pt x="135061" y="0"/>
                  </a:lnTo>
                  <a:lnTo>
                    <a:pt x="135061" y="964721"/>
                  </a:lnTo>
                  <a:lnTo>
                    <a:pt x="0" y="964721"/>
                  </a:lnTo>
                  <a:lnTo>
                    <a:pt x="0" y="0"/>
                  </a:lnTo>
                  <a:close/>
                </a:path>
              </a:pathLst>
            </a:custGeom>
            <a:blipFill>
              <a:blip r:embed="rId24">
                <a:extLst>
                  <a:ext uri="{96DAC541-7B7A-43D3-8B79-37D633B846F1}">
                    <asvg:svgBlip xmlns:asvg="http://schemas.microsoft.com/office/drawing/2016/SVG/main" r:embed="rId25"/>
                  </a:ext>
                </a:extLst>
              </a:blip>
              <a:stretch>
                <a:fillRect l="0" t="0" r="0" b="0"/>
              </a:stretch>
            </a:blipFill>
          </p:spPr>
        </p:sp>
      </p:grpSp>
      <p:sp>
        <p:nvSpPr>
          <p:cNvPr name="TextBox 45" id="45"/>
          <p:cNvSpPr txBox="true"/>
          <p:nvPr/>
        </p:nvSpPr>
        <p:spPr>
          <a:xfrm rot="0">
            <a:off x="3683789" y="233330"/>
            <a:ext cx="1086296" cy="196215"/>
          </a:xfrm>
          <a:prstGeom prst="rect">
            <a:avLst/>
          </a:prstGeom>
        </p:spPr>
        <p:txBody>
          <a:bodyPr anchor="t" rtlCol="false" tIns="0" lIns="0" bIns="0" rIns="0">
            <a:spAutoFit/>
          </a:bodyPr>
          <a:lstStyle/>
          <a:p>
            <a:pPr algn="ctr">
              <a:lnSpc>
                <a:spcPts val="1620"/>
              </a:lnSpc>
              <a:spcBef>
                <a:spcPct val="0"/>
              </a:spcBef>
            </a:pPr>
            <a:r>
              <a:rPr lang="en-US" b="true" sz="1200" spc="99">
                <a:solidFill>
                  <a:srgbClr val="000000"/>
                </a:solidFill>
                <a:latin typeface="Now Medium"/>
                <a:ea typeface="Now Medium"/>
                <a:cs typeface="Now Medium"/>
                <a:sym typeface="Now Medium"/>
              </a:rPr>
              <a:t>Finales Logo</a:t>
            </a:r>
          </a:p>
        </p:txBody>
      </p:sp>
      <p:grpSp>
        <p:nvGrpSpPr>
          <p:cNvPr name="Group 46" id="46"/>
          <p:cNvGrpSpPr/>
          <p:nvPr/>
        </p:nvGrpSpPr>
        <p:grpSpPr>
          <a:xfrm rot="0">
            <a:off x="6117716" y="857791"/>
            <a:ext cx="2612399" cy="1041453"/>
            <a:chOff x="0" y="0"/>
            <a:chExt cx="3483198" cy="1388604"/>
          </a:xfrm>
        </p:grpSpPr>
        <p:sp>
          <p:nvSpPr>
            <p:cNvPr name="Freeform 47" id="47"/>
            <p:cNvSpPr/>
            <p:nvPr/>
          </p:nvSpPr>
          <p:spPr>
            <a:xfrm flipH="false" flipV="false" rot="-677456">
              <a:off x="104691" y="118156"/>
              <a:ext cx="1320870" cy="1152291"/>
            </a:xfrm>
            <a:custGeom>
              <a:avLst/>
              <a:gdLst/>
              <a:ahLst/>
              <a:cxnLst/>
              <a:rect r="r" b="b" t="t" l="l"/>
              <a:pathLst>
                <a:path h="1152291" w="1320870">
                  <a:moveTo>
                    <a:pt x="0" y="0"/>
                  </a:moveTo>
                  <a:lnTo>
                    <a:pt x="1320870" y="0"/>
                  </a:lnTo>
                  <a:lnTo>
                    <a:pt x="1320870" y="1152291"/>
                  </a:lnTo>
                  <a:lnTo>
                    <a:pt x="0" y="1152291"/>
                  </a:lnTo>
                  <a:lnTo>
                    <a:pt x="0" y="0"/>
                  </a:lnTo>
                  <a:close/>
                </a:path>
              </a:pathLst>
            </a:custGeom>
            <a:blipFill>
              <a:blip r:embed="rId21"/>
              <a:stretch>
                <a:fillRect l="-1242" t="-6652" r="-295" b="-5375"/>
              </a:stretch>
            </a:blipFill>
          </p:spPr>
        </p:sp>
        <p:sp>
          <p:nvSpPr>
            <p:cNvPr name="TextBox 48" id="48"/>
            <p:cNvSpPr txBox="true"/>
            <p:nvPr/>
          </p:nvSpPr>
          <p:spPr>
            <a:xfrm rot="0">
              <a:off x="0" y="230965"/>
              <a:ext cx="1498732" cy="635311"/>
            </a:xfrm>
            <a:prstGeom prst="rect">
              <a:avLst/>
            </a:prstGeom>
          </p:spPr>
          <p:txBody>
            <a:bodyPr anchor="t" rtlCol="false" tIns="0" lIns="0" bIns="0" rIns="0">
              <a:spAutoFit/>
            </a:bodyPr>
            <a:lstStyle/>
            <a:p>
              <a:pPr algn="ctr">
                <a:lnSpc>
                  <a:spcPts val="3999"/>
                </a:lnSpc>
                <a:spcBef>
                  <a:spcPct val="0"/>
                </a:spcBef>
              </a:pPr>
              <a:r>
                <a:rPr lang="en-US" sz="2962" spc="284">
                  <a:solidFill>
                    <a:srgbClr val="004AAD"/>
                  </a:solidFill>
                  <a:latin typeface="Great Vibes"/>
                  <a:ea typeface="Great Vibes"/>
                  <a:cs typeface="Great Vibes"/>
                  <a:sym typeface="Great Vibes"/>
                </a:rPr>
                <a:t>Manu</a:t>
              </a:r>
            </a:p>
          </p:txBody>
        </p:sp>
        <p:sp>
          <p:nvSpPr>
            <p:cNvPr name="TextBox 49" id="49"/>
            <p:cNvSpPr txBox="true"/>
            <p:nvPr/>
          </p:nvSpPr>
          <p:spPr>
            <a:xfrm rot="0">
              <a:off x="1324966" y="266535"/>
              <a:ext cx="2158232" cy="499858"/>
            </a:xfrm>
            <a:prstGeom prst="rect">
              <a:avLst/>
            </a:prstGeom>
          </p:spPr>
          <p:txBody>
            <a:bodyPr anchor="t" rtlCol="false" tIns="0" lIns="0" bIns="0" rIns="0">
              <a:spAutoFit/>
            </a:bodyPr>
            <a:lstStyle/>
            <a:p>
              <a:pPr algn="ctr">
                <a:lnSpc>
                  <a:spcPts val="3132"/>
                </a:lnSpc>
                <a:spcBef>
                  <a:spcPct val="0"/>
                </a:spcBef>
              </a:pPr>
              <a:r>
                <a:rPr lang="en-US" sz="2320" spc="440">
                  <a:solidFill>
                    <a:srgbClr val="004AAD"/>
                  </a:solidFill>
                  <a:latin typeface="Cheque Bold"/>
                  <a:ea typeface="Cheque Bold"/>
                  <a:cs typeface="Cheque Bold"/>
                  <a:sym typeface="Cheque Bold"/>
                </a:rPr>
                <a:t>FAKTUR</a:t>
              </a:r>
            </a:p>
          </p:txBody>
        </p:sp>
        <p:sp>
          <p:nvSpPr>
            <p:cNvPr name="TextBox 50" id="50"/>
            <p:cNvSpPr txBox="true"/>
            <p:nvPr/>
          </p:nvSpPr>
          <p:spPr>
            <a:xfrm rot="0">
              <a:off x="627800" y="808318"/>
              <a:ext cx="2190908" cy="199328"/>
            </a:xfrm>
            <a:prstGeom prst="rect">
              <a:avLst/>
            </a:prstGeom>
          </p:spPr>
          <p:txBody>
            <a:bodyPr anchor="t" rtlCol="false" tIns="0" lIns="0" bIns="0" rIns="0">
              <a:spAutoFit/>
            </a:bodyPr>
            <a:lstStyle/>
            <a:p>
              <a:pPr algn="ctr">
                <a:lnSpc>
                  <a:spcPts val="1218"/>
                </a:lnSpc>
                <a:spcBef>
                  <a:spcPct val="0"/>
                </a:spcBef>
              </a:pPr>
              <a:r>
                <a:rPr lang="en-US" b="true" sz="902" spc="213">
                  <a:solidFill>
                    <a:srgbClr val="000000"/>
                  </a:solidFill>
                  <a:latin typeface="Now Bold"/>
                  <a:ea typeface="Now Bold"/>
                  <a:cs typeface="Now Bold"/>
                  <a:sym typeface="Now Bold"/>
                </a:rPr>
                <a:t>Manuela Schenk</a:t>
              </a:r>
            </a:p>
          </p:txBody>
        </p:sp>
      </p:gr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show="false">
  <p:cSld>
    <p:spTree>
      <p:nvGrpSpPr>
        <p:cNvPr id="1" name=""/>
        <p:cNvGrpSpPr/>
        <p:nvPr/>
      </p:nvGrpSpPr>
      <p:grpSpPr>
        <a:xfrm>
          <a:off x="0" y="0"/>
          <a:ext cx="0" cy="0"/>
          <a:chOff x="0" y="0"/>
          <a:chExt cx="0" cy="0"/>
        </a:xfrm>
      </p:grpSpPr>
      <p:sp>
        <p:nvSpPr>
          <p:cNvPr name="AutoShape 2" id="2"/>
          <p:cNvSpPr/>
          <p:nvPr/>
        </p:nvSpPr>
        <p:spPr>
          <a:xfrm>
            <a:off x="3864638" y="638235"/>
            <a:ext cx="7030276" cy="0"/>
          </a:xfrm>
          <a:prstGeom prst="line">
            <a:avLst/>
          </a:prstGeom>
          <a:ln cap="flat" w="47625">
            <a:solidFill>
              <a:srgbClr val="484540"/>
            </a:solidFill>
            <a:prstDash val="solid"/>
            <a:headEnd type="none" len="sm" w="sm"/>
            <a:tailEnd type="none" len="sm" w="sm"/>
          </a:ln>
        </p:spPr>
      </p:sp>
      <p:sp>
        <p:nvSpPr>
          <p:cNvPr name="AutoShape 3" id="3"/>
          <p:cNvSpPr/>
          <p:nvPr/>
        </p:nvSpPr>
        <p:spPr>
          <a:xfrm flipH="true">
            <a:off x="233024" y="7049251"/>
            <a:ext cx="3056632" cy="0"/>
          </a:xfrm>
          <a:prstGeom prst="line">
            <a:avLst/>
          </a:prstGeom>
          <a:ln cap="flat" w="47625">
            <a:solidFill>
              <a:srgbClr val="484540"/>
            </a:solidFill>
            <a:prstDash val="solid"/>
            <a:headEnd type="none" len="sm" w="sm"/>
            <a:tailEnd type="none" len="sm" w="sm"/>
          </a:ln>
        </p:spPr>
      </p:sp>
      <p:sp>
        <p:nvSpPr>
          <p:cNvPr name="AutoShape 4" id="4"/>
          <p:cNvSpPr/>
          <p:nvPr/>
        </p:nvSpPr>
        <p:spPr>
          <a:xfrm flipH="true">
            <a:off x="7331178" y="7059436"/>
            <a:ext cx="3056632" cy="0"/>
          </a:xfrm>
          <a:prstGeom prst="line">
            <a:avLst/>
          </a:prstGeom>
          <a:ln cap="flat" w="47625">
            <a:solidFill>
              <a:srgbClr val="484540"/>
            </a:solidFill>
            <a:prstDash val="solid"/>
            <a:headEnd type="none" len="sm" w="sm"/>
            <a:tailEnd type="none" len="sm" w="sm"/>
          </a:ln>
        </p:spPr>
      </p:sp>
      <p:sp>
        <p:nvSpPr>
          <p:cNvPr name="AutoShape 5" id="5"/>
          <p:cNvSpPr/>
          <p:nvPr/>
        </p:nvSpPr>
        <p:spPr>
          <a:xfrm flipH="true">
            <a:off x="3864638" y="7049251"/>
            <a:ext cx="3056632" cy="0"/>
          </a:xfrm>
          <a:prstGeom prst="line">
            <a:avLst/>
          </a:prstGeom>
          <a:ln cap="flat" w="47625">
            <a:solidFill>
              <a:srgbClr val="484540"/>
            </a:solidFill>
            <a:prstDash val="solid"/>
            <a:headEnd type="none" len="sm" w="sm"/>
            <a:tailEnd type="none" len="sm" w="sm"/>
          </a:ln>
        </p:spPr>
      </p:sp>
      <p:sp>
        <p:nvSpPr>
          <p:cNvPr name="Freeform 6" id="6"/>
          <p:cNvSpPr/>
          <p:nvPr/>
        </p:nvSpPr>
        <p:spPr>
          <a:xfrm flipH="false" flipV="false" rot="0">
            <a:off x="233024" y="1399007"/>
            <a:ext cx="1480812" cy="1974416"/>
          </a:xfrm>
          <a:custGeom>
            <a:avLst/>
            <a:gdLst/>
            <a:ahLst/>
            <a:cxnLst/>
            <a:rect r="r" b="b" t="t" l="l"/>
            <a:pathLst>
              <a:path h="1974416" w="1480812">
                <a:moveTo>
                  <a:pt x="0" y="0"/>
                </a:moveTo>
                <a:lnTo>
                  <a:pt x="1480812" y="0"/>
                </a:lnTo>
                <a:lnTo>
                  <a:pt x="1480812" y="1974416"/>
                </a:lnTo>
                <a:lnTo>
                  <a:pt x="0" y="1974416"/>
                </a:lnTo>
                <a:lnTo>
                  <a:pt x="0" y="0"/>
                </a:lnTo>
                <a:close/>
              </a:path>
            </a:pathLst>
          </a:custGeom>
          <a:blipFill>
            <a:blip r:embed="rId2"/>
            <a:stretch>
              <a:fillRect l="0" t="0" r="0" b="0"/>
            </a:stretch>
          </a:blipFill>
          <a:ln w="4762" cap="sq">
            <a:solidFill>
              <a:srgbClr val="484540"/>
            </a:solidFill>
            <a:prstDash val="solid"/>
            <a:miter/>
          </a:ln>
        </p:spPr>
      </p:sp>
      <p:sp>
        <p:nvSpPr>
          <p:cNvPr name="Freeform 7" id="7"/>
          <p:cNvSpPr/>
          <p:nvPr/>
        </p:nvSpPr>
        <p:spPr>
          <a:xfrm flipH="false" flipV="false" rot="0">
            <a:off x="233024" y="5452175"/>
            <a:ext cx="1804755" cy="1353566"/>
          </a:xfrm>
          <a:custGeom>
            <a:avLst/>
            <a:gdLst/>
            <a:ahLst/>
            <a:cxnLst/>
            <a:rect r="r" b="b" t="t" l="l"/>
            <a:pathLst>
              <a:path h="1353566" w="1804755">
                <a:moveTo>
                  <a:pt x="0" y="0"/>
                </a:moveTo>
                <a:lnTo>
                  <a:pt x="1804755" y="0"/>
                </a:lnTo>
                <a:lnTo>
                  <a:pt x="1804755" y="1353566"/>
                </a:lnTo>
                <a:lnTo>
                  <a:pt x="0" y="1353566"/>
                </a:lnTo>
                <a:lnTo>
                  <a:pt x="0" y="0"/>
                </a:lnTo>
                <a:close/>
              </a:path>
            </a:pathLst>
          </a:custGeom>
          <a:blipFill>
            <a:blip r:embed="rId3"/>
            <a:stretch>
              <a:fillRect l="0" t="0" r="0" b="0"/>
            </a:stretch>
          </a:blipFill>
          <a:ln w="4762" cap="sq">
            <a:solidFill>
              <a:srgbClr val="484540"/>
            </a:solidFill>
            <a:prstDash val="solid"/>
            <a:miter/>
          </a:ln>
        </p:spPr>
      </p:sp>
      <p:grpSp>
        <p:nvGrpSpPr>
          <p:cNvPr name="Group 8" id="8"/>
          <p:cNvGrpSpPr/>
          <p:nvPr/>
        </p:nvGrpSpPr>
        <p:grpSpPr>
          <a:xfrm rot="0">
            <a:off x="1817038" y="1399007"/>
            <a:ext cx="1472618" cy="1974416"/>
            <a:chOff x="0" y="0"/>
            <a:chExt cx="812800" cy="1089764"/>
          </a:xfrm>
        </p:grpSpPr>
        <p:sp>
          <p:nvSpPr>
            <p:cNvPr name="Freeform 9" id="9"/>
            <p:cNvSpPr/>
            <p:nvPr/>
          </p:nvSpPr>
          <p:spPr>
            <a:xfrm flipH="false" flipV="false" rot="0">
              <a:off x="0" y="0"/>
              <a:ext cx="812800" cy="1089764"/>
            </a:xfrm>
            <a:custGeom>
              <a:avLst/>
              <a:gdLst/>
              <a:ahLst/>
              <a:cxnLst/>
              <a:rect r="r" b="b" t="t" l="l"/>
              <a:pathLst>
                <a:path h="1089764" w="812800">
                  <a:moveTo>
                    <a:pt x="26286" y="0"/>
                  </a:moveTo>
                  <a:lnTo>
                    <a:pt x="786514" y="0"/>
                  </a:lnTo>
                  <a:cubicBezTo>
                    <a:pt x="801031" y="0"/>
                    <a:pt x="812800" y="11769"/>
                    <a:pt x="812800" y="26286"/>
                  </a:cubicBezTo>
                  <a:lnTo>
                    <a:pt x="812800" y="1063478"/>
                  </a:lnTo>
                  <a:cubicBezTo>
                    <a:pt x="812800" y="1077995"/>
                    <a:pt x="801031" y="1089764"/>
                    <a:pt x="786514" y="1089764"/>
                  </a:cubicBezTo>
                  <a:lnTo>
                    <a:pt x="26286" y="1089764"/>
                  </a:lnTo>
                  <a:cubicBezTo>
                    <a:pt x="11769" y="1089764"/>
                    <a:pt x="0" y="1077995"/>
                    <a:pt x="0" y="1063478"/>
                  </a:cubicBezTo>
                  <a:lnTo>
                    <a:pt x="0" y="26286"/>
                  </a:lnTo>
                  <a:cubicBezTo>
                    <a:pt x="0" y="11769"/>
                    <a:pt x="11769" y="0"/>
                    <a:pt x="26286" y="0"/>
                  </a:cubicBezTo>
                  <a:close/>
                </a:path>
              </a:pathLst>
            </a:custGeom>
            <a:blipFill>
              <a:blip r:embed="rId4"/>
              <a:stretch>
                <a:fillRect l="-4733" t="-3892" r="-3442" b="-3815"/>
              </a:stretch>
            </a:blipFill>
            <a:ln w="4762" cap="sq">
              <a:solidFill>
                <a:srgbClr val="484540"/>
              </a:solidFill>
              <a:prstDash val="solid"/>
              <a:miter/>
            </a:ln>
          </p:spPr>
        </p:sp>
      </p:grpSp>
      <p:grpSp>
        <p:nvGrpSpPr>
          <p:cNvPr name="Group 10" id="10"/>
          <p:cNvGrpSpPr/>
          <p:nvPr/>
        </p:nvGrpSpPr>
        <p:grpSpPr>
          <a:xfrm rot="0">
            <a:off x="2166535" y="5452175"/>
            <a:ext cx="1123121" cy="1353566"/>
            <a:chOff x="0" y="0"/>
            <a:chExt cx="812800" cy="979572"/>
          </a:xfrm>
        </p:grpSpPr>
        <p:sp>
          <p:nvSpPr>
            <p:cNvPr name="Freeform 11" id="11"/>
            <p:cNvSpPr/>
            <p:nvPr/>
          </p:nvSpPr>
          <p:spPr>
            <a:xfrm flipH="false" flipV="false" rot="0">
              <a:off x="0" y="0"/>
              <a:ext cx="812800" cy="979572"/>
            </a:xfrm>
            <a:custGeom>
              <a:avLst/>
              <a:gdLst/>
              <a:ahLst/>
              <a:cxnLst/>
              <a:rect r="r" b="b" t="t" l="l"/>
              <a:pathLst>
                <a:path h="979572" w="812800">
                  <a:moveTo>
                    <a:pt x="34466" y="0"/>
                  </a:moveTo>
                  <a:lnTo>
                    <a:pt x="778334" y="0"/>
                  </a:lnTo>
                  <a:cubicBezTo>
                    <a:pt x="787475" y="0"/>
                    <a:pt x="796241" y="3631"/>
                    <a:pt x="802705" y="10095"/>
                  </a:cubicBezTo>
                  <a:cubicBezTo>
                    <a:pt x="809169" y="16559"/>
                    <a:pt x="812800" y="25325"/>
                    <a:pt x="812800" y="34466"/>
                  </a:cubicBezTo>
                  <a:lnTo>
                    <a:pt x="812800" y="945106"/>
                  </a:lnTo>
                  <a:cubicBezTo>
                    <a:pt x="812800" y="954247"/>
                    <a:pt x="809169" y="963014"/>
                    <a:pt x="802705" y="969477"/>
                  </a:cubicBezTo>
                  <a:cubicBezTo>
                    <a:pt x="796241" y="975941"/>
                    <a:pt x="787475" y="979572"/>
                    <a:pt x="778334" y="979572"/>
                  </a:cubicBezTo>
                  <a:lnTo>
                    <a:pt x="34466" y="979572"/>
                  </a:lnTo>
                  <a:cubicBezTo>
                    <a:pt x="25325" y="979572"/>
                    <a:pt x="16559" y="975941"/>
                    <a:pt x="10095" y="969477"/>
                  </a:cubicBezTo>
                  <a:cubicBezTo>
                    <a:pt x="3631" y="963014"/>
                    <a:pt x="0" y="954247"/>
                    <a:pt x="0" y="945106"/>
                  </a:cubicBezTo>
                  <a:lnTo>
                    <a:pt x="0" y="34466"/>
                  </a:lnTo>
                  <a:cubicBezTo>
                    <a:pt x="0" y="25325"/>
                    <a:pt x="3631" y="16559"/>
                    <a:pt x="10095" y="10095"/>
                  </a:cubicBezTo>
                  <a:cubicBezTo>
                    <a:pt x="16559" y="3631"/>
                    <a:pt x="25325" y="0"/>
                    <a:pt x="34466" y="0"/>
                  </a:cubicBezTo>
                  <a:close/>
                </a:path>
              </a:pathLst>
            </a:custGeom>
            <a:blipFill>
              <a:blip r:embed="rId5"/>
              <a:stretch>
                <a:fillRect l="0" t="-4967" r="0" b="-5799"/>
              </a:stretch>
            </a:blipFill>
            <a:ln w="4762" cap="sq">
              <a:solidFill>
                <a:srgbClr val="484540"/>
              </a:solidFill>
              <a:prstDash val="solid"/>
              <a:miter/>
            </a:ln>
          </p:spPr>
        </p:sp>
      </p:grpSp>
      <p:grpSp>
        <p:nvGrpSpPr>
          <p:cNvPr name="Group 12" id="12"/>
          <p:cNvGrpSpPr/>
          <p:nvPr/>
        </p:nvGrpSpPr>
        <p:grpSpPr>
          <a:xfrm rot="0">
            <a:off x="3864870" y="2585983"/>
            <a:ext cx="1650735" cy="2057492"/>
            <a:chOff x="0" y="0"/>
            <a:chExt cx="347992" cy="433740"/>
          </a:xfrm>
        </p:grpSpPr>
        <p:sp>
          <p:nvSpPr>
            <p:cNvPr name="Freeform 13" id="13"/>
            <p:cNvSpPr/>
            <p:nvPr/>
          </p:nvSpPr>
          <p:spPr>
            <a:xfrm flipH="false" flipV="false" rot="0">
              <a:off x="0" y="0"/>
              <a:ext cx="347992" cy="433740"/>
            </a:xfrm>
            <a:custGeom>
              <a:avLst/>
              <a:gdLst/>
              <a:ahLst/>
              <a:cxnLst/>
              <a:rect r="r" b="b" t="t" l="l"/>
              <a:pathLst>
                <a:path h="433740" w="347992">
                  <a:moveTo>
                    <a:pt x="23450" y="0"/>
                  </a:moveTo>
                  <a:lnTo>
                    <a:pt x="324542" y="0"/>
                  </a:lnTo>
                  <a:cubicBezTo>
                    <a:pt x="330761" y="0"/>
                    <a:pt x="336726" y="2471"/>
                    <a:pt x="341124" y="6868"/>
                  </a:cubicBezTo>
                  <a:cubicBezTo>
                    <a:pt x="345521" y="11266"/>
                    <a:pt x="347992" y="17231"/>
                    <a:pt x="347992" y="23450"/>
                  </a:cubicBezTo>
                  <a:lnTo>
                    <a:pt x="347992" y="410290"/>
                  </a:lnTo>
                  <a:cubicBezTo>
                    <a:pt x="347992" y="423241"/>
                    <a:pt x="337493" y="433740"/>
                    <a:pt x="324542" y="433740"/>
                  </a:cubicBezTo>
                  <a:lnTo>
                    <a:pt x="23450" y="433740"/>
                  </a:lnTo>
                  <a:cubicBezTo>
                    <a:pt x="10499" y="433740"/>
                    <a:pt x="0" y="423241"/>
                    <a:pt x="0" y="410290"/>
                  </a:cubicBezTo>
                  <a:lnTo>
                    <a:pt x="0" y="23450"/>
                  </a:lnTo>
                  <a:cubicBezTo>
                    <a:pt x="0" y="10499"/>
                    <a:pt x="10499" y="0"/>
                    <a:pt x="23450" y="0"/>
                  </a:cubicBezTo>
                  <a:close/>
                </a:path>
              </a:pathLst>
            </a:custGeom>
            <a:blipFill>
              <a:blip r:embed="rId6"/>
              <a:stretch>
                <a:fillRect l="0" t="-6559" r="0" b="0"/>
              </a:stretch>
            </a:blipFill>
            <a:ln w="4762" cap="sq">
              <a:solidFill>
                <a:srgbClr val="484540"/>
              </a:solidFill>
              <a:prstDash val="solid"/>
              <a:miter/>
            </a:ln>
          </p:spPr>
        </p:sp>
      </p:grpSp>
      <p:grpSp>
        <p:nvGrpSpPr>
          <p:cNvPr name="Group 14" id="14"/>
          <p:cNvGrpSpPr/>
          <p:nvPr/>
        </p:nvGrpSpPr>
        <p:grpSpPr>
          <a:xfrm rot="0">
            <a:off x="3865152" y="4805711"/>
            <a:ext cx="3056400" cy="2057492"/>
            <a:chOff x="0" y="0"/>
            <a:chExt cx="644320" cy="433740"/>
          </a:xfrm>
        </p:grpSpPr>
        <p:sp>
          <p:nvSpPr>
            <p:cNvPr name="Freeform 15" id="15"/>
            <p:cNvSpPr/>
            <p:nvPr/>
          </p:nvSpPr>
          <p:spPr>
            <a:xfrm flipH="false" flipV="false" rot="0">
              <a:off x="0" y="0"/>
              <a:ext cx="644320" cy="433740"/>
            </a:xfrm>
            <a:custGeom>
              <a:avLst/>
              <a:gdLst/>
              <a:ahLst/>
              <a:cxnLst/>
              <a:rect r="r" b="b" t="t" l="l"/>
              <a:pathLst>
                <a:path h="433740" w="644320">
                  <a:moveTo>
                    <a:pt x="12665" y="0"/>
                  </a:moveTo>
                  <a:lnTo>
                    <a:pt x="631655" y="0"/>
                  </a:lnTo>
                  <a:cubicBezTo>
                    <a:pt x="635014" y="0"/>
                    <a:pt x="638236" y="1334"/>
                    <a:pt x="640611" y="3710"/>
                  </a:cubicBezTo>
                  <a:cubicBezTo>
                    <a:pt x="642986" y="6085"/>
                    <a:pt x="644320" y="9306"/>
                    <a:pt x="644320" y="12665"/>
                  </a:cubicBezTo>
                  <a:lnTo>
                    <a:pt x="644320" y="421075"/>
                  </a:lnTo>
                  <a:cubicBezTo>
                    <a:pt x="644320" y="428070"/>
                    <a:pt x="638650" y="433740"/>
                    <a:pt x="631655" y="433740"/>
                  </a:cubicBezTo>
                  <a:lnTo>
                    <a:pt x="12665" y="433740"/>
                  </a:lnTo>
                  <a:cubicBezTo>
                    <a:pt x="5670" y="433740"/>
                    <a:pt x="0" y="428070"/>
                    <a:pt x="0" y="421075"/>
                  </a:cubicBezTo>
                  <a:lnTo>
                    <a:pt x="0" y="12665"/>
                  </a:lnTo>
                  <a:cubicBezTo>
                    <a:pt x="0" y="5670"/>
                    <a:pt x="5670" y="0"/>
                    <a:pt x="12665" y="0"/>
                  </a:cubicBezTo>
                  <a:close/>
                </a:path>
              </a:pathLst>
            </a:custGeom>
            <a:blipFill>
              <a:blip r:embed="rId7"/>
              <a:stretch>
                <a:fillRect l="0" t="-3140" r="0" b="-8272"/>
              </a:stretch>
            </a:blipFill>
            <a:ln w="4762" cap="sq">
              <a:solidFill>
                <a:srgbClr val="484540"/>
              </a:solidFill>
              <a:prstDash val="solid"/>
              <a:miter/>
            </a:ln>
          </p:spPr>
        </p:sp>
      </p:grpSp>
      <p:grpSp>
        <p:nvGrpSpPr>
          <p:cNvPr name="Group 16" id="16"/>
          <p:cNvGrpSpPr/>
          <p:nvPr/>
        </p:nvGrpSpPr>
        <p:grpSpPr>
          <a:xfrm rot="0">
            <a:off x="7331409" y="1399007"/>
            <a:ext cx="3056400" cy="2057492"/>
            <a:chOff x="0" y="0"/>
            <a:chExt cx="644320" cy="433740"/>
          </a:xfrm>
        </p:grpSpPr>
        <p:sp>
          <p:nvSpPr>
            <p:cNvPr name="Freeform 17" id="17"/>
            <p:cNvSpPr/>
            <p:nvPr/>
          </p:nvSpPr>
          <p:spPr>
            <a:xfrm flipH="false" flipV="false" rot="0">
              <a:off x="0" y="0"/>
              <a:ext cx="644320" cy="433740"/>
            </a:xfrm>
            <a:custGeom>
              <a:avLst/>
              <a:gdLst/>
              <a:ahLst/>
              <a:cxnLst/>
              <a:rect r="r" b="b" t="t" l="l"/>
              <a:pathLst>
                <a:path h="433740" w="644320">
                  <a:moveTo>
                    <a:pt x="12665" y="0"/>
                  </a:moveTo>
                  <a:lnTo>
                    <a:pt x="631655" y="0"/>
                  </a:lnTo>
                  <a:cubicBezTo>
                    <a:pt x="635014" y="0"/>
                    <a:pt x="638236" y="1334"/>
                    <a:pt x="640611" y="3710"/>
                  </a:cubicBezTo>
                  <a:cubicBezTo>
                    <a:pt x="642986" y="6085"/>
                    <a:pt x="644320" y="9306"/>
                    <a:pt x="644320" y="12665"/>
                  </a:cubicBezTo>
                  <a:lnTo>
                    <a:pt x="644320" y="421075"/>
                  </a:lnTo>
                  <a:cubicBezTo>
                    <a:pt x="644320" y="428070"/>
                    <a:pt x="638650" y="433740"/>
                    <a:pt x="631655" y="433740"/>
                  </a:cubicBezTo>
                  <a:lnTo>
                    <a:pt x="12665" y="433740"/>
                  </a:lnTo>
                  <a:cubicBezTo>
                    <a:pt x="5670" y="433740"/>
                    <a:pt x="0" y="428070"/>
                    <a:pt x="0" y="421075"/>
                  </a:cubicBezTo>
                  <a:lnTo>
                    <a:pt x="0" y="12665"/>
                  </a:lnTo>
                  <a:cubicBezTo>
                    <a:pt x="0" y="5670"/>
                    <a:pt x="5670" y="0"/>
                    <a:pt x="12665" y="0"/>
                  </a:cubicBezTo>
                  <a:close/>
                </a:path>
              </a:pathLst>
            </a:custGeom>
            <a:blipFill>
              <a:blip r:embed="rId8"/>
              <a:stretch>
                <a:fillRect l="-2000" t="-8279" r="-1006" b="-6482"/>
              </a:stretch>
            </a:blipFill>
            <a:ln w="4762" cap="sq">
              <a:solidFill>
                <a:srgbClr val="484540"/>
              </a:solidFill>
              <a:prstDash val="solid"/>
              <a:miter/>
            </a:ln>
          </p:spPr>
        </p:sp>
      </p:grpSp>
      <p:grpSp>
        <p:nvGrpSpPr>
          <p:cNvPr name="Group 18" id="18"/>
          <p:cNvGrpSpPr/>
          <p:nvPr/>
        </p:nvGrpSpPr>
        <p:grpSpPr>
          <a:xfrm rot="0">
            <a:off x="7331409" y="3614729"/>
            <a:ext cx="3056400" cy="2057492"/>
            <a:chOff x="0" y="0"/>
            <a:chExt cx="644320" cy="433740"/>
          </a:xfrm>
        </p:grpSpPr>
        <p:sp>
          <p:nvSpPr>
            <p:cNvPr name="Freeform 19" id="19"/>
            <p:cNvSpPr/>
            <p:nvPr/>
          </p:nvSpPr>
          <p:spPr>
            <a:xfrm flipH="false" flipV="false" rot="0">
              <a:off x="0" y="0"/>
              <a:ext cx="644320" cy="433740"/>
            </a:xfrm>
            <a:custGeom>
              <a:avLst/>
              <a:gdLst/>
              <a:ahLst/>
              <a:cxnLst/>
              <a:rect r="r" b="b" t="t" l="l"/>
              <a:pathLst>
                <a:path h="433740" w="644320">
                  <a:moveTo>
                    <a:pt x="12665" y="0"/>
                  </a:moveTo>
                  <a:lnTo>
                    <a:pt x="631655" y="0"/>
                  </a:lnTo>
                  <a:cubicBezTo>
                    <a:pt x="635014" y="0"/>
                    <a:pt x="638236" y="1334"/>
                    <a:pt x="640611" y="3710"/>
                  </a:cubicBezTo>
                  <a:cubicBezTo>
                    <a:pt x="642986" y="6085"/>
                    <a:pt x="644320" y="9306"/>
                    <a:pt x="644320" y="12665"/>
                  </a:cubicBezTo>
                  <a:lnTo>
                    <a:pt x="644320" y="421075"/>
                  </a:lnTo>
                  <a:cubicBezTo>
                    <a:pt x="644320" y="428070"/>
                    <a:pt x="638650" y="433740"/>
                    <a:pt x="631655" y="433740"/>
                  </a:cubicBezTo>
                  <a:lnTo>
                    <a:pt x="12665" y="433740"/>
                  </a:lnTo>
                  <a:cubicBezTo>
                    <a:pt x="5670" y="433740"/>
                    <a:pt x="0" y="428070"/>
                    <a:pt x="0" y="421075"/>
                  </a:cubicBezTo>
                  <a:lnTo>
                    <a:pt x="0" y="12665"/>
                  </a:lnTo>
                  <a:cubicBezTo>
                    <a:pt x="0" y="5670"/>
                    <a:pt x="5670" y="0"/>
                    <a:pt x="12665" y="0"/>
                  </a:cubicBezTo>
                  <a:close/>
                </a:path>
              </a:pathLst>
            </a:custGeom>
            <a:blipFill>
              <a:blip r:embed="rId9"/>
              <a:stretch>
                <a:fillRect l="-3843" t="-8948" r="-2761" b="-9822"/>
              </a:stretch>
            </a:blipFill>
            <a:ln w="4762" cap="sq">
              <a:solidFill>
                <a:srgbClr val="484540"/>
              </a:solidFill>
              <a:prstDash val="solid"/>
              <a:miter/>
            </a:ln>
          </p:spPr>
        </p:sp>
      </p:grpSp>
      <p:grpSp>
        <p:nvGrpSpPr>
          <p:cNvPr name="Group 20" id="20"/>
          <p:cNvGrpSpPr/>
          <p:nvPr/>
        </p:nvGrpSpPr>
        <p:grpSpPr>
          <a:xfrm rot="0">
            <a:off x="5607747" y="2586294"/>
            <a:ext cx="1313524" cy="2057492"/>
            <a:chOff x="0" y="0"/>
            <a:chExt cx="812800" cy="1273163"/>
          </a:xfrm>
        </p:grpSpPr>
        <p:sp>
          <p:nvSpPr>
            <p:cNvPr name="Freeform 21" id="21"/>
            <p:cNvSpPr/>
            <p:nvPr/>
          </p:nvSpPr>
          <p:spPr>
            <a:xfrm flipH="false" flipV="false" rot="-5464908">
              <a:off x="-237332" y="218644"/>
              <a:ext cx="1287464" cy="835875"/>
            </a:xfrm>
            <a:custGeom>
              <a:avLst/>
              <a:gdLst/>
              <a:ahLst/>
              <a:cxnLst/>
              <a:rect r="r" b="b" t="t" l="l"/>
              <a:pathLst>
                <a:path h="835875" w="1287464">
                  <a:moveTo>
                    <a:pt x="1287316" y="53093"/>
                  </a:moveTo>
                  <a:lnTo>
                    <a:pt x="1273083" y="806819"/>
                  </a:lnTo>
                  <a:cubicBezTo>
                    <a:pt x="1272936" y="814633"/>
                    <a:pt x="1269690" y="822069"/>
                    <a:pt x="1264060" y="827491"/>
                  </a:cubicBezTo>
                  <a:cubicBezTo>
                    <a:pt x="1258430" y="832912"/>
                    <a:pt x="1250877" y="835875"/>
                    <a:pt x="1243062" y="835727"/>
                  </a:cubicBezTo>
                  <a:lnTo>
                    <a:pt x="29056" y="812803"/>
                  </a:lnTo>
                  <a:cubicBezTo>
                    <a:pt x="21241" y="812655"/>
                    <a:pt x="13806" y="809409"/>
                    <a:pt x="8384" y="803779"/>
                  </a:cubicBezTo>
                  <a:cubicBezTo>
                    <a:pt x="2963" y="798149"/>
                    <a:pt x="0" y="790596"/>
                    <a:pt x="148" y="782781"/>
                  </a:cubicBezTo>
                  <a:lnTo>
                    <a:pt x="14381" y="29056"/>
                  </a:lnTo>
                  <a:cubicBezTo>
                    <a:pt x="14528" y="21241"/>
                    <a:pt x="17774" y="13805"/>
                    <a:pt x="23404" y="8384"/>
                  </a:cubicBezTo>
                  <a:cubicBezTo>
                    <a:pt x="29034" y="2963"/>
                    <a:pt x="36587" y="0"/>
                    <a:pt x="44402" y="147"/>
                  </a:cubicBezTo>
                  <a:lnTo>
                    <a:pt x="1258408" y="23072"/>
                  </a:lnTo>
                  <a:cubicBezTo>
                    <a:pt x="1266223" y="23220"/>
                    <a:pt x="1273658" y="26466"/>
                    <a:pt x="1279080" y="32096"/>
                  </a:cubicBezTo>
                  <a:cubicBezTo>
                    <a:pt x="1284501" y="37726"/>
                    <a:pt x="1287464" y="45279"/>
                    <a:pt x="1287316" y="53093"/>
                  </a:cubicBezTo>
                  <a:close/>
                </a:path>
              </a:pathLst>
            </a:custGeom>
            <a:blipFill>
              <a:blip r:embed="rId10"/>
              <a:stretch>
                <a:fillRect l="-42" t="-63591" r="-42" b="-42226"/>
              </a:stretch>
            </a:blipFill>
            <a:ln w="4762" cap="sq">
              <a:solidFill>
                <a:srgbClr val="484540"/>
              </a:solidFill>
              <a:prstDash val="solid"/>
              <a:miter/>
            </a:ln>
          </p:spPr>
        </p:sp>
      </p:grpSp>
      <p:sp>
        <p:nvSpPr>
          <p:cNvPr name="TextBox 22" id="22"/>
          <p:cNvSpPr txBox="true"/>
          <p:nvPr/>
        </p:nvSpPr>
        <p:spPr>
          <a:xfrm rot="0">
            <a:off x="756000" y="7162014"/>
            <a:ext cx="2010680" cy="154305"/>
          </a:xfrm>
          <a:prstGeom prst="rect">
            <a:avLst/>
          </a:prstGeom>
        </p:spPr>
        <p:txBody>
          <a:bodyPr anchor="t" rtlCol="false" tIns="0" lIns="0" bIns="0" rIns="0">
            <a:spAutoFit/>
          </a:bodyPr>
          <a:lstStyle/>
          <a:p>
            <a:pPr algn="ctr">
              <a:lnSpc>
                <a:spcPts val="1215"/>
              </a:lnSpc>
              <a:spcBef>
                <a:spcPct val="0"/>
              </a:spcBef>
            </a:pPr>
            <a:r>
              <a:rPr lang="en-US" b="true" sz="900" spc="213">
                <a:solidFill>
                  <a:srgbClr val="484540"/>
                </a:solidFill>
                <a:latin typeface="Now Medium"/>
                <a:ea typeface="Now Medium"/>
                <a:cs typeface="Now Medium"/>
                <a:sym typeface="Now Medium"/>
              </a:rPr>
              <a:t>Manuela Schenk</a:t>
            </a:r>
          </a:p>
        </p:txBody>
      </p:sp>
      <p:sp>
        <p:nvSpPr>
          <p:cNvPr name="TextBox 23" id="23"/>
          <p:cNvSpPr txBox="true"/>
          <p:nvPr/>
        </p:nvSpPr>
        <p:spPr>
          <a:xfrm rot="0">
            <a:off x="7656539" y="7172199"/>
            <a:ext cx="2405908" cy="154305"/>
          </a:xfrm>
          <a:prstGeom prst="rect">
            <a:avLst/>
          </a:prstGeom>
        </p:spPr>
        <p:txBody>
          <a:bodyPr anchor="t" rtlCol="false" tIns="0" lIns="0" bIns="0" rIns="0">
            <a:spAutoFit/>
          </a:bodyPr>
          <a:lstStyle/>
          <a:p>
            <a:pPr algn="ctr">
              <a:lnSpc>
                <a:spcPts val="1215"/>
              </a:lnSpc>
              <a:spcBef>
                <a:spcPct val="0"/>
              </a:spcBef>
            </a:pPr>
            <a:r>
              <a:rPr lang="en-US" b="true" sz="900" spc="213">
                <a:solidFill>
                  <a:srgbClr val="484540"/>
                </a:solidFill>
                <a:latin typeface="Now Medium"/>
                <a:ea typeface="Now Medium"/>
                <a:cs typeface="Now Medium"/>
                <a:sym typeface="Now Medium"/>
              </a:rPr>
              <a:t>manufaktur-malerei@web.de</a:t>
            </a:r>
          </a:p>
        </p:txBody>
      </p:sp>
      <p:sp>
        <p:nvSpPr>
          <p:cNvPr name="TextBox 24" id="24"/>
          <p:cNvSpPr txBox="true"/>
          <p:nvPr/>
        </p:nvSpPr>
        <p:spPr>
          <a:xfrm rot="0">
            <a:off x="4340660" y="7162014"/>
            <a:ext cx="2010680" cy="154305"/>
          </a:xfrm>
          <a:prstGeom prst="rect">
            <a:avLst/>
          </a:prstGeom>
        </p:spPr>
        <p:txBody>
          <a:bodyPr anchor="t" rtlCol="false" tIns="0" lIns="0" bIns="0" rIns="0">
            <a:spAutoFit/>
          </a:bodyPr>
          <a:lstStyle/>
          <a:p>
            <a:pPr algn="ctr">
              <a:lnSpc>
                <a:spcPts val="1215"/>
              </a:lnSpc>
              <a:spcBef>
                <a:spcPct val="0"/>
              </a:spcBef>
            </a:pPr>
            <a:r>
              <a:rPr lang="en-US" b="true" sz="900" spc="213">
                <a:solidFill>
                  <a:srgbClr val="484540"/>
                </a:solidFill>
                <a:latin typeface="Now Medium"/>
                <a:ea typeface="Now Medium"/>
                <a:cs typeface="Now Medium"/>
                <a:sym typeface="Now Medium"/>
              </a:rPr>
              <a:t>+49 163 2662435</a:t>
            </a:r>
          </a:p>
        </p:txBody>
      </p:sp>
      <p:grpSp>
        <p:nvGrpSpPr>
          <p:cNvPr name="Group 25" id="25"/>
          <p:cNvGrpSpPr/>
          <p:nvPr/>
        </p:nvGrpSpPr>
        <p:grpSpPr>
          <a:xfrm rot="0">
            <a:off x="7331409" y="6025625"/>
            <a:ext cx="3056400" cy="780116"/>
            <a:chOff x="0" y="0"/>
            <a:chExt cx="4075200" cy="1040155"/>
          </a:xfrm>
        </p:grpSpPr>
        <p:sp>
          <p:nvSpPr>
            <p:cNvPr name="TextBox 26" id="26"/>
            <p:cNvSpPr txBox="true"/>
            <p:nvPr/>
          </p:nvSpPr>
          <p:spPr>
            <a:xfrm rot="0">
              <a:off x="0" y="506332"/>
              <a:ext cx="4075200" cy="533823"/>
            </a:xfrm>
            <a:prstGeom prst="rect">
              <a:avLst/>
            </a:prstGeom>
          </p:spPr>
          <p:txBody>
            <a:bodyPr anchor="t" rtlCol="false" tIns="0" lIns="0" bIns="0" rIns="0">
              <a:spAutoFit/>
            </a:bodyPr>
            <a:lstStyle/>
            <a:p>
              <a:pPr algn="l">
                <a:lnSpc>
                  <a:spcPts val="1119"/>
                </a:lnSpc>
              </a:pPr>
              <a:r>
                <a:rPr lang="en-US" sz="799" spc="39">
                  <a:solidFill>
                    <a:srgbClr val="484540"/>
                  </a:solidFill>
                  <a:latin typeface="Now Light"/>
                  <a:ea typeface="Now Light"/>
                  <a:cs typeface="Now Light"/>
                  <a:sym typeface="Now Light"/>
                </a:rPr>
                <a:t>Auch besondere Landschaften und Orte faszinieren mich. Wenn Du auch solche Lieblingsorte hast, kann ich sie Dir auf Leinwand zaubern.</a:t>
              </a:r>
            </a:p>
          </p:txBody>
        </p:sp>
        <p:sp>
          <p:nvSpPr>
            <p:cNvPr name="TextBox 27" id="27"/>
            <p:cNvSpPr txBox="true"/>
            <p:nvPr/>
          </p:nvSpPr>
          <p:spPr>
            <a:xfrm rot="0">
              <a:off x="0" y="-28575"/>
              <a:ext cx="4075200" cy="422723"/>
            </a:xfrm>
            <a:prstGeom prst="rect">
              <a:avLst/>
            </a:prstGeom>
          </p:spPr>
          <p:txBody>
            <a:bodyPr anchor="t" rtlCol="false" tIns="0" lIns="0" bIns="0" rIns="0">
              <a:spAutoFit/>
            </a:bodyPr>
            <a:lstStyle/>
            <a:p>
              <a:pPr algn="l">
                <a:lnSpc>
                  <a:spcPts val="2676"/>
                </a:lnSpc>
              </a:pPr>
              <a:r>
                <a:rPr lang="en-US" sz="1982" spc="164" b="true">
                  <a:solidFill>
                    <a:srgbClr val="484540"/>
                  </a:solidFill>
                  <a:latin typeface="Now Medium"/>
                  <a:ea typeface="Now Medium"/>
                  <a:cs typeface="Now Medium"/>
                  <a:sym typeface="Now Medium"/>
                </a:rPr>
                <a:t>Dein Lieblingsort</a:t>
              </a:r>
            </a:p>
          </p:txBody>
        </p:sp>
      </p:grpSp>
      <p:grpSp>
        <p:nvGrpSpPr>
          <p:cNvPr name="Group 28" id="28"/>
          <p:cNvGrpSpPr/>
          <p:nvPr/>
        </p:nvGrpSpPr>
        <p:grpSpPr>
          <a:xfrm rot="0">
            <a:off x="3864870" y="1399007"/>
            <a:ext cx="3056400" cy="978025"/>
            <a:chOff x="0" y="0"/>
            <a:chExt cx="4075200" cy="1304033"/>
          </a:xfrm>
        </p:grpSpPr>
        <p:sp>
          <p:nvSpPr>
            <p:cNvPr name="TextBox 29" id="29"/>
            <p:cNvSpPr txBox="true"/>
            <p:nvPr/>
          </p:nvSpPr>
          <p:spPr>
            <a:xfrm rot="0">
              <a:off x="0" y="950832"/>
              <a:ext cx="4075200" cy="353201"/>
            </a:xfrm>
            <a:prstGeom prst="rect">
              <a:avLst/>
            </a:prstGeom>
          </p:spPr>
          <p:txBody>
            <a:bodyPr anchor="t" rtlCol="false" tIns="0" lIns="0" bIns="0" rIns="0">
              <a:spAutoFit/>
            </a:bodyPr>
            <a:lstStyle/>
            <a:p>
              <a:pPr algn="l">
                <a:lnSpc>
                  <a:spcPts val="1119"/>
                </a:lnSpc>
              </a:pPr>
              <a:r>
                <a:rPr lang="en-US" sz="799" spc="39">
                  <a:solidFill>
                    <a:srgbClr val="484540"/>
                  </a:solidFill>
                  <a:latin typeface="Now Light"/>
                  <a:ea typeface="Now Light"/>
                  <a:cs typeface="Now Light"/>
                  <a:sym typeface="Now Light"/>
                </a:rPr>
                <a:t>Neben Hunden male ich auch andere tierische Familienmitglieder, z.B. Papageien.</a:t>
              </a:r>
            </a:p>
          </p:txBody>
        </p:sp>
        <p:sp>
          <p:nvSpPr>
            <p:cNvPr name="TextBox 30" id="30"/>
            <p:cNvSpPr txBox="true"/>
            <p:nvPr/>
          </p:nvSpPr>
          <p:spPr>
            <a:xfrm rot="0">
              <a:off x="0" y="-28575"/>
              <a:ext cx="4075200" cy="867223"/>
            </a:xfrm>
            <a:prstGeom prst="rect">
              <a:avLst/>
            </a:prstGeom>
          </p:spPr>
          <p:txBody>
            <a:bodyPr anchor="t" rtlCol="false" tIns="0" lIns="0" bIns="0" rIns="0">
              <a:spAutoFit/>
            </a:bodyPr>
            <a:lstStyle/>
            <a:p>
              <a:pPr algn="l">
                <a:lnSpc>
                  <a:spcPts val="2676"/>
                </a:lnSpc>
              </a:pPr>
              <a:r>
                <a:rPr lang="en-US" sz="1982" spc="164" b="true">
                  <a:solidFill>
                    <a:srgbClr val="484540"/>
                  </a:solidFill>
                  <a:latin typeface="Now Medium"/>
                  <a:ea typeface="Now Medium"/>
                  <a:cs typeface="Now Medium"/>
                  <a:sym typeface="Now Medium"/>
                </a:rPr>
                <a:t>Weitere tierische Freunde</a:t>
              </a:r>
            </a:p>
          </p:txBody>
        </p:sp>
      </p:grpSp>
      <p:grpSp>
        <p:nvGrpSpPr>
          <p:cNvPr name="Group 31" id="31"/>
          <p:cNvGrpSpPr/>
          <p:nvPr/>
        </p:nvGrpSpPr>
        <p:grpSpPr>
          <a:xfrm rot="0">
            <a:off x="233024" y="3525885"/>
            <a:ext cx="3222271" cy="1926290"/>
            <a:chOff x="0" y="0"/>
            <a:chExt cx="4296362" cy="2568387"/>
          </a:xfrm>
        </p:grpSpPr>
        <p:sp>
          <p:nvSpPr>
            <p:cNvPr name="TextBox 32" id="32"/>
            <p:cNvSpPr txBox="true"/>
            <p:nvPr/>
          </p:nvSpPr>
          <p:spPr>
            <a:xfrm rot="0">
              <a:off x="0" y="950832"/>
              <a:ext cx="4296362" cy="1617555"/>
            </a:xfrm>
            <a:prstGeom prst="rect">
              <a:avLst/>
            </a:prstGeom>
          </p:spPr>
          <p:txBody>
            <a:bodyPr anchor="t" rtlCol="false" tIns="0" lIns="0" bIns="0" rIns="0">
              <a:spAutoFit/>
            </a:bodyPr>
            <a:lstStyle/>
            <a:p>
              <a:pPr algn="l">
                <a:lnSpc>
                  <a:spcPts val="1119"/>
                </a:lnSpc>
              </a:pPr>
              <a:r>
                <a:rPr lang="en-US" sz="799" spc="39">
                  <a:solidFill>
                    <a:srgbClr val="484540"/>
                  </a:solidFill>
                  <a:latin typeface="Now Light"/>
                  <a:ea typeface="Now Light"/>
                  <a:cs typeface="Now Light"/>
                  <a:sym typeface="Now Light"/>
                </a:rPr>
                <a:t>Du hast Dir schon immer mal ein einzigartiges Portrait Deines treuen Begleiters gewünscht?</a:t>
              </a:r>
            </a:p>
            <a:p>
              <a:pPr algn="l">
                <a:lnSpc>
                  <a:spcPts val="1119"/>
                </a:lnSpc>
              </a:pPr>
              <a:r>
                <a:rPr lang="en-US" sz="799" spc="39">
                  <a:solidFill>
                    <a:srgbClr val="484540"/>
                  </a:solidFill>
                  <a:latin typeface="Now Light"/>
                  <a:ea typeface="Now Light"/>
                  <a:cs typeface="Now Light"/>
                  <a:sym typeface="Now Light"/>
                </a:rPr>
                <a:t>Dann bist Du hier richtig! Ich habe schon so einige Vierbeiner malen dürfen - vom weißen Maltheser bis zum schwarzen Labrador, ob kurz- oder langhaarig. Jeder Hund ist ein ganz besonderes Motiv, und ich freue mich, auch Deinen Liebling in liebevollen Details auf Leinwand zu verewigen.</a:t>
              </a:r>
            </a:p>
            <a:p>
              <a:pPr algn="l">
                <a:lnSpc>
                  <a:spcPts val="1119"/>
                </a:lnSpc>
              </a:pPr>
            </a:p>
          </p:txBody>
        </p:sp>
        <p:sp>
          <p:nvSpPr>
            <p:cNvPr name="TextBox 33" id="33"/>
            <p:cNvSpPr txBox="true"/>
            <p:nvPr/>
          </p:nvSpPr>
          <p:spPr>
            <a:xfrm rot="0">
              <a:off x="0" y="-28575"/>
              <a:ext cx="4296362" cy="867223"/>
            </a:xfrm>
            <a:prstGeom prst="rect">
              <a:avLst/>
            </a:prstGeom>
          </p:spPr>
          <p:txBody>
            <a:bodyPr anchor="t" rtlCol="false" tIns="0" lIns="0" bIns="0" rIns="0">
              <a:spAutoFit/>
            </a:bodyPr>
            <a:lstStyle/>
            <a:p>
              <a:pPr algn="l">
                <a:lnSpc>
                  <a:spcPts val="2676"/>
                </a:lnSpc>
              </a:pPr>
              <a:r>
                <a:rPr lang="en-US" sz="1982" spc="164" b="true">
                  <a:solidFill>
                    <a:srgbClr val="484540"/>
                  </a:solidFill>
                  <a:latin typeface="Now Medium"/>
                  <a:ea typeface="Now Medium"/>
                  <a:cs typeface="Now Medium"/>
                  <a:sym typeface="Now Medium"/>
                </a:rPr>
                <a:t>Dein vierbeiniger Liebling auf Leinwand</a:t>
              </a:r>
            </a:p>
          </p:txBody>
        </p:sp>
      </p:grpSp>
      <p:grpSp>
        <p:nvGrpSpPr>
          <p:cNvPr name="Group 34" id="34"/>
          <p:cNvGrpSpPr/>
          <p:nvPr/>
        </p:nvGrpSpPr>
        <p:grpSpPr>
          <a:xfrm rot="0">
            <a:off x="221714" y="55562"/>
            <a:ext cx="3632128" cy="1400875"/>
            <a:chOff x="0" y="0"/>
            <a:chExt cx="4842838" cy="1867834"/>
          </a:xfrm>
        </p:grpSpPr>
        <p:sp>
          <p:nvSpPr>
            <p:cNvPr name="Freeform 35" id="35"/>
            <p:cNvSpPr/>
            <p:nvPr/>
          </p:nvSpPr>
          <p:spPr>
            <a:xfrm flipH="false" flipV="false" rot="-677456">
              <a:off x="186401" y="158934"/>
              <a:ext cx="1776724" cy="1549965"/>
            </a:xfrm>
            <a:custGeom>
              <a:avLst/>
              <a:gdLst/>
              <a:ahLst/>
              <a:cxnLst/>
              <a:rect r="r" b="b" t="t" l="l"/>
              <a:pathLst>
                <a:path h="1549965" w="1776724">
                  <a:moveTo>
                    <a:pt x="0" y="0"/>
                  </a:moveTo>
                  <a:lnTo>
                    <a:pt x="1776724" y="0"/>
                  </a:lnTo>
                  <a:lnTo>
                    <a:pt x="1776724" y="1549966"/>
                  </a:lnTo>
                  <a:lnTo>
                    <a:pt x="0" y="1549966"/>
                  </a:lnTo>
                  <a:lnTo>
                    <a:pt x="0" y="0"/>
                  </a:lnTo>
                  <a:close/>
                </a:path>
              </a:pathLst>
            </a:custGeom>
            <a:blipFill>
              <a:blip r:embed="rId11"/>
              <a:stretch>
                <a:fillRect l="-1538" t="-10640" r="0" b="-1388"/>
              </a:stretch>
            </a:blipFill>
          </p:spPr>
        </p:sp>
        <p:sp>
          <p:nvSpPr>
            <p:cNvPr name="TextBox 36" id="36"/>
            <p:cNvSpPr txBox="true"/>
            <p:nvPr/>
          </p:nvSpPr>
          <p:spPr>
            <a:xfrm rot="0">
              <a:off x="0" y="242913"/>
              <a:ext cx="2061549" cy="888155"/>
            </a:xfrm>
            <a:prstGeom prst="rect">
              <a:avLst/>
            </a:prstGeom>
          </p:spPr>
          <p:txBody>
            <a:bodyPr anchor="t" rtlCol="false" tIns="0" lIns="0" bIns="0" rIns="0">
              <a:spAutoFit/>
            </a:bodyPr>
            <a:lstStyle/>
            <a:p>
              <a:pPr algn="ctr">
                <a:lnSpc>
                  <a:spcPts val="5501"/>
                </a:lnSpc>
                <a:spcBef>
                  <a:spcPct val="0"/>
                </a:spcBef>
              </a:pPr>
              <a:r>
                <a:rPr lang="en-US" sz="4075" spc="391">
                  <a:solidFill>
                    <a:srgbClr val="004AAD"/>
                  </a:solidFill>
                  <a:latin typeface="Great Vibes"/>
                  <a:ea typeface="Great Vibes"/>
                  <a:cs typeface="Great Vibes"/>
                  <a:sym typeface="Great Vibes"/>
                </a:rPr>
                <a:t>Manu</a:t>
              </a:r>
            </a:p>
          </p:txBody>
        </p:sp>
        <p:sp>
          <p:nvSpPr>
            <p:cNvPr name="TextBox 37" id="37"/>
            <p:cNvSpPr txBox="true"/>
            <p:nvPr/>
          </p:nvSpPr>
          <p:spPr>
            <a:xfrm rot="0">
              <a:off x="1939764" y="359968"/>
              <a:ext cx="2903073" cy="673095"/>
            </a:xfrm>
            <a:prstGeom prst="rect">
              <a:avLst/>
            </a:prstGeom>
          </p:spPr>
          <p:txBody>
            <a:bodyPr anchor="t" rtlCol="false" tIns="0" lIns="0" bIns="0" rIns="0">
              <a:spAutoFit/>
            </a:bodyPr>
            <a:lstStyle/>
            <a:p>
              <a:pPr algn="ctr">
                <a:lnSpc>
                  <a:spcPts val="4213"/>
                </a:lnSpc>
                <a:spcBef>
                  <a:spcPct val="0"/>
                </a:spcBef>
              </a:pPr>
              <a:r>
                <a:rPr lang="en-US" sz="3121" spc="739">
                  <a:solidFill>
                    <a:srgbClr val="004AAD"/>
                  </a:solidFill>
                  <a:latin typeface="Cheque Bold"/>
                  <a:ea typeface="Cheque Bold"/>
                  <a:cs typeface="Cheque Bold"/>
                  <a:sym typeface="Cheque Bold"/>
                </a:rPr>
                <a:t>FAKTUR</a:t>
              </a:r>
            </a:p>
          </p:txBody>
        </p:sp>
        <p:sp>
          <p:nvSpPr>
            <p:cNvPr name="TextBox 38" id="38"/>
            <p:cNvSpPr txBox="true"/>
            <p:nvPr/>
          </p:nvSpPr>
          <p:spPr>
            <a:xfrm rot="0">
              <a:off x="890044" y="1093856"/>
              <a:ext cx="2947026" cy="263512"/>
            </a:xfrm>
            <a:prstGeom prst="rect">
              <a:avLst/>
            </a:prstGeom>
          </p:spPr>
          <p:txBody>
            <a:bodyPr anchor="t" rtlCol="false" tIns="0" lIns="0" bIns="0" rIns="0">
              <a:spAutoFit/>
            </a:bodyPr>
            <a:lstStyle/>
            <a:p>
              <a:pPr algn="ctr">
                <a:lnSpc>
                  <a:spcPts val="1638"/>
                </a:lnSpc>
                <a:spcBef>
                  <a:spcPct val="0"/>
                </a:spcBef>
              </a:pPr>
              <a:r>
                <a:rPr lang="en-US" sz="1213" spc="287">
                  <a:solidFill>
                    <a:srgbClr val="000000"/>
                  </a:solidFill>
                  <a:latin typeface="Now"/>
                  <a:ea typeface="Now"/>
                  <a:cs typeface="Now"/>
                  <a:sym typeface="Now"/>
                </a:rPr>
                <a:t>Manuela Schenk</a:t>
              </a:r>
            </a:p>
          </p:txBody>
        </p:sp>
      </p:gr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show="false">
  <p:cSld>
    <p:spTree>
      <p:nvGrpSpPr>
        <p:cNvPr id="1" name=""/>
        <p:cNvGrpSpPr/>
        <p:nvPr/>
      </p:nvGrpSpPr>
      <p:grpSpPr>
        <a:xfrm>
          <a:off x="0" y="0"/>
          <a:ext cx="0" cy="0"/>
          <a:chOff x="0" y="0"/>
          <a:chExt cx="0" cy="0"/>
        </a:xfrm>
      </p:grpSpPr>
      <p:sp>
        <p:nvSpPr>
          <p:cNvPr name="AutoShape 2" id="2"/>
          <p:cNvSpPr/>
          <p:nvPr/>
        </p:nvSpPr>
        <p:spPr>
          <a:xfrm>
            <a:off x="3864638" y="638235"/>
            <a:ext cx="7030276" cy="0"/>
          </a:xfrm>
          <a:prstGeom prst="line">
            <a:avLst/>
          </a:prstGeom>
          <a:ln cap="flat" w="47625">
            <a:solidFill>
              <a:srgbClr val="484540"/>
            </a:solidFill>
            <a:prstDash val="solid"/>
            <a:headEnd type="none" len="sm" w="sm"/>
            <a:tailEnd type="none" len="sm" w="sm"/>
          </a:ln>
        </p:spPr>
      </p:sp>
      <p:sp>
        <p:nvSpPr>
          <p:cNvPr name="AutoShape 3" id="3"/>
          <p:cNvSpPr/>
          <p:nvPr/>
        </p:nvSpPr>
        <p:spPr>
          <a:xfrm flipH="true">
            <a:off x="233024" y="7049251"/>
            <a:ext cx="3056632" cy="0"/>
          </a:xfrm>
          <a:prstGeom prst="line">
            <a:avLst/>
          </a:prstGeom>
          <a:ln cap="flat" w="47625">
            <a:solidFill>
              <a:srgbClr val="484540"/>
            </a:solidFill>
            <a:prstDash val="solid"/>
            <a:headEnd type="none" len="sm" w="sm"/>
            <a:tailEnd type="none" len="sm" w="sm"/>
          </a:ln>
        </p:spPr>
      </p:sp>
      <p:sp>
        <p:nvSpPr>
          <p:cNvPr name="AutoShape 4" id="4"/>
          <p:cNvSpPr/>
          <p:nvPr/>
        </p:nvSpPr>
        <p:spPr>
          <a:xfrm flipH="true">
            <a:off x="7331178" y="7059436"/>
            <a:ext cx="3056632" cy="0"/>
          </a:xfrm>
          <a:prstGeom prst="line">
            <a:avLst/>
          </a:prstGeom>
          <a:ln cap="flat" w="47625">
            <a:solidFill>
              <a:srgbClr val="484540"/>
            </a:solidFill>
            <a:prstDash val="solid"/>
            <a:headEnd type="none" len="sm" w="sm"/>
            <a:tailEnd type="none" len="sm" w="sm"/>
          </a:ln>
        </p:spPr>
      </p:sp>
      <p:sp>
        <p:nvSpPr>
          <p:cNvPr name="AutoShape 5" id="5"/>
          <p:cNvSpPr/>
          <p:nvPr/>
        </p:nvSpPr>
        <p:spPr>
          <a:xfrm flipH="true">
            <a:off x="3864638" y="7049251"/>
            <a:ext cx="3056632" cy="0"/>
          </a:xfrm>
          <a:prstGeom prst="line">
            <a:avLst/>
          </a:prstGeom>
          <a:ln cap="flat" w="47625">
            <a:solidFill>
              <a:srgbClr val="484540"/>
            </a:solidFill>
            <a:prstDash val="solid"/>
            <a:headEnd type="none" len="sm" w="sm"/>
            <a:tailEnd type="none" len="sm" w="sm"/>
          </a:ln>
        </p:spPr>
      </p:sp>
      <p:sp>
        <p:nvSpPr>
          <p:cNvPr name="Freeform 6" id="6"/>
          <p:cNvSpPr/>
          <p:nvPr/>
        </p:nvSpPr>
        <p:spPr>
          <a:xfrm flipH="false" flipV="false" rot="0">
            <a:off x="233024" y="1399007"/>
            <a:ext cx="1480812" cy="1974416"/>
          </a:xfrm>
          <a:custGeom>
            <a:avLst/>
            <a:gdLst/>
            <a:ahLst/>
            <a:cxnLst/>
            <a:rect r="r" b="b" t="t" l="l"/>
            <a:pathLst>
              <a:path h="1974416" w="1480812">
                <a:moveTo>
                  <a:pt x="0" y="0"/>
                </a:moveTo>
                <a:lnTo>
                  <a:pt x="1480812" y="0"/>
                </a:lnTo>
                <a:lnTo>
                  <a:pt x="1480812" y="1974416"/>
                </a:lnTo>
                <a:lnTo>
                  <a:pt x="0" y="1974416"/>
                </a:lnTo>
                <a:lnTo>
                  <a:pt x="0" y="0"/>
                </a:lnTo>
                <a:close/>
              </a:path>
            </a:pathLst>
          </a:custGeom>
          <a:blipFill>
            <a:blip r:embed="rId2"/>
            <a:stretch>
              <a:fillRect l="0" t="0" r="0" b="0"/>
            </a:stretch>
          </a:blipFill>
          <a:ln w="4762" cap="sq">
            <a:solidFill>
              <a:srgbClr val="484540"/>
            </a:solidFill>
            <a:prstDash val="solid"/>
            <a:miter/>
          </a:ln>
        </p:spPr>
      </p:sp>
      <p:sp>
        <p:nvSpPr>
          <p:cNvPr name="Freeform 7" id="7"/>
          <p:cNvSpPr/>
          <p:nvPr/>
        </p:nvSpPr>
        <p:spPr>
          <a:xfrm flipH="false" flipV="false" rot="0">
            <a:off x="233024" y="5452175"/>
            <a:ext cx="1804755" cy="1353566"/>
          </a:xfrm>
          <a:custGeom>
            <a:avLst/>
            <a:gdLst/>
            <a:ahLst/>
            <a:cxnLst/>
            <a:rect r="r" b="b" t="t" l="l"/>
            <a:pathLst>
              <a:path h="1353566" w="1804755">
                <a:moveTo>
                  <a:pt x="0" y="0"/>
                </a:moveTo>
                <a:lnTo>
                  <a:pt x="1804755" y="0"/>
                </a:lnTo>
                <a:lnTo>
                  <a:pt x="1804755" y="1353566"/>
                </a:lnTo>
                <a:lnTo>
                  <a:pt x="0" y="1353566"/>
                </a:lnTo>
                <a:lnTo>
                  <a:pt x="0" y="0"/>
                </a:lnTo>
                <a:close/>
              </a:path>
            </a:pathLst>
          </a:custGeom>
          <a:blipFill>
            <a:blip r:embed="rId3"/>
            <a:stretch>
              <a:fillRect l="0" t="0" r="0" b="0"/>
            </a:stretch>
          </a:blipFill>
          <a:ln w="4762" cap="sq">
            <a:solidFill>
              <a:srgbClr val="484540"/>
            </a:solidFill>
            <a:prstDash val="solid"/>
            <a:miter/>
          </a:ln>
        </p:spPr>
      </p:sp>
      <p:grpSp>
        <p:nvGrpSpPr>
          <p:cNvPr name="Group 8" id="8"/>
          <p:cNvGrpSpPr/>
          <p:nvPr/>
        </p:nvGrpSpPr>
        <p:grpSpPr>
          <a:xfrm rot="0">
            <a:off x="1817038" y="1399007"/>
            <a:ext cx="1472618" cy="1974416"/>
            <a:chOff x="0" y="0"/>
            <a:chExt cx="812800" cy="1089764"/>
          </a:xfrm>
        </p:grpSpPr>
        <p:sp>
          <p:nvSpPr>
            <p:cNvPr name="Freeform 9" id="9"/>
            <p:cNvSpPr/>
            <p:nvPr/>
          </p:nvSpPr>
          <p:spPr>
            <a:xfrm flipH="false" flipV="false" rot="0">
              <a:off x="0" y="0"/>
              <a:ext cx="812800" cy="1089764"/>
            </a:xfrm>
            <a:custGeom>
              <a:avLst/>
              <a:gdLst/>
              <a:ahLst/>
              <a:cxnLst/>
              <a:rect r="r" b="b" t="t" l="l"/>
              <a:pathLst>
                <a:path h="1089764" w="812800">
                  <a:moveTo>
                    <a:pt x="26286" y="0"/>
                  </a:moveTo>
                  <a:lnTo>
                    <a:pt x="786514" y="0"/>
                  </a:lnTo>
                  <a:cubicBezTo>
                    <a:pt x="801031" y="0"/>
                    <a:pt x="812800" y="11769"/>
                    <a:pt x="812800" y="26286"/>
                  </a:cubicBezTo>
                  <a:lnTo>
                    <a:pt x="812800" y="1063478"/>
                  </a:lnTo>
                  <a:cubicBezTo>
                    <a:pt x="812800" y="1077995"/>
                    <a:pt x="801031" y="1089764"/>
                    <a:pt x="786514" y="1089764"/>
                  </a:cubicBezTo>
                  <a:lnTo>
                    <a:pt x="26286" y="1089764"/>
                  </a:lnTo>
                  <a:cubicBezTo>
                    <a:pt x="11769" y="1089764"/>
                    <a:pt x="0" y="1077995"/>
                    <a:pt x="0" y="1063478"/>
                  </a:cubicBezTo>
                  <a:lnTo>
                    <a:pt x="0" y="26286"/>
                  </a:lnTo>
                  <a:cubicBezTo>
                    <a:pt x="0" y="11769"/>
                    <a:pt x="11769" y="0"/>
                    <a:pt x="26286" y="0"/>
                  </a:cubicBezTo>
                  <a:close/>
                </a:path>
              </a:pathLst>
            </a:custGeom>
            <a:blipFill>
              <a:blip r:embed="rId4"/>
              <a:stretch>
                <a:fillRect l="-4733" t="-3892" r="-3442" b="-3815"/>
              </a:stretch>
            </a:blipFill>
            <a:ln w="4762" cap="sq">
              <a:solidFill>
                <a:srgbClr val="484540"/>
              </a:solidFill>
              <a:prstDash val="solid"/>
              <a:miter/>
            </a:ln>
          </p:spPr>
        </p:sp>
      </p:grpSp>
      <p:grpSp>
        <p:nvGrpSpPr>
          <p:cNvPr name="Group 10" id="10"/>
          <p:cNvGrpSpPr/>
          <p:nvPr/>
        </p:nvGrpSpPr>
        <p:grpSpPr>
          <a:xfrm rot="0">
            <a:off x="2166535" y="5452175"/>
            <a:ext cx="1123121" cy="1353566"/>
            <a:chOff x="0" y="0"/>
            <a:chExt cx="812800" cy="979572"/>
          </a:xfrm>
        </p:grpSpPr>
        <p:sp>
          <p:nvSpPr>
            <p:cNvPr name="Freeform 11" id="11"/>
            <p:cNvSpPr/>
            <p:nvPr/>
          </p:nvSpPr>
          <p:spPr>
            <a:xfrm flipH="false" flipV="false" rot="0">
              <a:off x="0" y="0"/>
              <a:ext cx="812800" cy="979572"/>
            </a:xfrm>
            <a:custGeom>
              <a:avLst/>
              <a:gdLst/>
              <a:ahLst/>
              <a:cxnLst/>
              <a:rect r="r" b="b" t="t" l="l"/>
              <a:pathLst>
                <a:path h="979572" w="812800">
                  <a:moveTo>
                    <a:pt x="34466" y="0"/>
                  </a:moveTo>
                  <a:lnTo>
                    <a:pt x="778334" y="0"/>
                  </a:lnTo>
                  <a:cubicBezTo>
                    <a:pt x="787475" y="0"/>
                    <a:pt x="796241" y="3631"/>
                    <a:pt x="802705" y="10095"/>
                  </a:cubicBezTo>
                  <a:cubicBezTo>
                    <a:pt x="809169" y="16559"/>
                    <a:pt x="812800" y="25325"/>
                    <a:pt x="812800" y="34466"/>
                  </a:cubicBezTo>
                  <a:lnTo>
                    <a:pt x="812800" y="945106"/>
                  </a:lnTo>
                  <a:cubicBezTo>
                    <a:pt x="812800" y="954247"/>
                    <a:pt x="809169" y="963014"/>
                    <a:pt x="802705" y="969477"/>
                  </a:cubicBezTo>
                  <a:cubicBezTo>
                    <a:pt x="796241" y="975941"/>
                    <a:pt x="787475" y="979572"/>
                    <a:pt x="778334" y="979572"/>
                  </a:cubicBezTo>
                  <a:lnTo>
                    <a:pt x="34466" y="979572"/>
                  </a:lnTo>
                  <a:cubicBezTo>
                    <a:pt x="25325" y="979572"/>
                    <a:pt x="16559" y="975941"/>
                    <a:pt x="10095" y="969477"/>
                  </a:cubicBezTo>
                  <a:cubicBezTo>
                    <a:pt x="3631" y="963014"/>
                    <a:pt x="0" y="954247"/>
                    <a:pt x="0" y="945106"/>
                  </a:cubicBezTo>
                  <a:lnTo>
                    <a:pt x="0" y="34466"/>
                  </a:lnTo>
                  <a:cubicBezTo>
                    <a:pt x="0" y="25325"/>
                    <a:pt x="3631" y="16559"/>
                    <a:pt x="10095" y="10095"/>
                  </a:cubicBezTo>
                  <a:cubicBezTo>
                    <a:pt x="16559" y="3631"/>
                    <a:pt x="25325" y="0"/>
                    <a:pt x="34466" y="0"/>
                  </a:cubicBezTo>
                  <a:close/>
                </a:path>
              </a:pathLst>
            </a:custGeom>
            <a:blipFill>
              <a:blip r:embed="rId5"/>
              <a:stretch>
                <a:fillRect l="0" t="-4967" r="0" b="-5799"/>
              </a:stretch>
            </a:blipFill>
            <a:ln w="4762" cap="sq">
              <a:solidFill>
                <a:srgbClr val="484540"/>
              </a:solidFill>
              <a:prstDash val="solid"/>
              <a:miter/>
            </a:ln>
          </p:spPr>
        </p:sp>
      </p:grpSp>
      <p:grpSp>
        <p:nvGrpSpPr>
          <p:cNvPr name="Group 12" id="12"/>
          <p:cNvGrpSpPr/>
          <p:nvPr/>
        </p:nvGrpSpPr>
        <p:grpSpPr>
          <a:xfrm rot="0">
            <a:off x="3864870" y="2585983"/>
            <a:ext cx="1650735" cy="2057492"/>
            <a:chOff x="0" y="0"/>
            <a:chExt cx="347992" cy="433740"/>
          </a:xfrm>
        </p:grpSpPr>
        <p:sp>
          <p:nvSpPr>
            <p:cNvPr name="Freeform 13" id="13"/>
            <p:cNvSpPr/>
            <p:nvPr/>
          </p:nvSpPr>
          <p:spPr>
            <a:xfrm flipH="false" flipV="false" rot="0">
              <a:off x="0" y="0"/>
              <a:ext cx="347992" cy="433740"/>
            </a:xfrm>
            <a:custGeom>
              <a:avLst/>
              <a:gdLst/>
              <a:ahLst/>
              <a:cxnLst/>
              <a:rect r="r" b="b" t="t" l="l"/>
              <a:pathLst>
                <a:path h="433740" w="347992">
                  <a:moveTo>
                    <a:pt x="23450" y="0"/>
                  </a:moveTo>
                  <a:lnTo>
                    <a:pt x="324542" y="0"/>
                  </a:lnTo>
                  <a:cubicBezTo>
                    <a:pt x="330761" y="0"/>
                    <a:pt x="336726" y="2471"/>
                    <a:pt x="341124" y="6868"/>
                  </a:cubicBezTo>
                  <a:cubicBezTo>
                    <a:pt x="345521" y="11266"/>
                    <a:pt x="347992" y="17231"/>
                    <a:pt x="347992" y="23450"/>
                  </a:cubicBezTo>
                  <a:lnTo>
                    <a:pt x="347992" y="410290"/>
                  </a:lnTo>
                  <a:cubicBezTo>
                    <a:pt x="347992" y="423241"/>
                    <a:pt x="337493" y="433740"/>
                    <a:pt x="324542" y="433740"/>
                  </a:cubicBezTo>
                  <a:lnTo>
                    <a:pt x="23450" y="433740"/>
                  </a:lnTo>
                  <a:cubicBezTo>
                    <a:pt x="10499" y="433740"/>
                    <a:pt x="0" y="423241"/>
                    <a:pt x="0" y="410290"/>
                  </a:cubicBezTo>
                  <a:lnTo>
                    <a:pt x="0" y="23450"/>
                  </a:lnTo>
                  <a:cubicBezTo>
                    <a:pt x="0" y="10499"/>
                    <a:pt x="10499" y="0"/>
                    <a:pt x="23450" y="0"/>
                  </a:cubicBezTo>
                  <a:close/>
                </a:path>
              </a:pathLst>
            </a:custGeom>
            <a:blipFill>
              <a:blip r:embed="rId6"/>
              <a:stretch>
                <a:fillRect l="0" t="-6559" r="0" b="0"/>
              </a:stretch>
            </a:blipFill>
            <a:ln w="4762" cap="sq">
              <a:solidFill>
                <a:srgbClr val="484540"/>
              </a:solidFill>
              <a:prstDash val="solid"/>
              <a:miter/>
            </a:ln>
          </p:spPr>
        </p:sp>
      </p:grpSp>
      <p:grpSp>
        <p:nvGrpSpPr>
          <p:cNvPr name="Group 14" id="14"/>
          <p:cNvGrpSpPr/>
          <p:nvPr/>
        </p:nvGrpSpPr>
        <p:grpSpPr>
          <a:xfrm rot="0">
            <a:off x="3865152" y="4805711"/>
            <a:ext cx="3056400" cy="2057492"/>
            <a:chOff x="0" y="0"/>
            <a:chExt cx="644320" cy="433740"/>
          </a:xfrm>
        </p:grpSpPr>
        <p:sp>
          <p:nvSpPr>
            <p:cNvPr name="Freeform 15" id="15"/>
            <p:cNvSpPr/>
            <p:nvPr/>
          </p:nvSpPr>
          <p:spPr>
            <a:xfrm flipH="false" flipV="false" rot="0">
              <a:off x="0" y="0"/>
              <a:ext cx="644320" cy="433740"/>
            </a:xfrm>
            <a:custGeom>
              <a:avLst/>
              <a:gdLst/>
              <a:ahLst/>
              <a:cxnLst/>
              <a:rect r="r" b="b" t="t" l="l"/>
              <a:pathLst>
                <a:path h="433740" w="644320">
                  <a:moveTo>
                    <a:pt x="12665" y="0"/>
                  </a:moveTo>
                  <a:lnTo>
                    <a:pt x="631655" y="0"/>
                  </a:lnTo>
                  <a:cubicBezTo>
                    <a:pt x="635014" y="0"/>
                    <a:pt x="638236" y="1334"/>
                    <a:pt x="640611" y="3710"/>
                  </a:cubicBezTo>
                  <a:cubicBezTo>
                    <a:pt x="642986" y="6085"/>
                    <a:pt x="644320" y="9306"/>
                    <a:pt x="644320" y="12665"/>
                  </a:cubicBezTo>
                  <a:lnTo>
                    <a:pt x="644320" y="421075"/>
                  </a:lnTo>
                  <a:cubicBezTo>
                    <a:pt x="644320" y="428070"/>
                    <a:pt x="638650" y="433740"/>
                    <a:pt x="631655" y="433740"/>
                  </a:cubicBezTo>
                  <a:lnTo>
                    <a:pt x="12665" y="433740"/>
                  </a:lnTo>
                  <a:cubicBezTo>
                    <a:pt x="5670" y="433740"/>
                    <a:pt x="0" y="428070"/>
                    <a:pt x="0" y="421075"/>
                  </a:cubicBezTo>
                  <a:lnTo>
                    <a:pt x="0" y="12665"/>
                  </a:lnTo>
                  <a:cubicBezTo>
                    <a:pt x="0" y="5670"/>
                    <a:pt x="5670" y="0"/>
                    <a:pt x="12665" y="0"/>
                  </a:cubicBezTo>
                  <a:close/>
                </a:path>
              </a:pathLst>
            </a:custGeom>
            <a:blipFill>
              <a:blip r:embed="rId7"/>
              <a:stretch>
                <a:fillRect l="0" t="-3140" r="0" b="-8272"/>
              </a:stretch>
            </a:blipFill>
            <a:ln w="4762" cap="sq">
              <a:solidFill>
                <a:srgbClr val="484540"/>
              </a:solidFill>
              <a:prstDash val="solid"/>
              <a:miter/>
            </a:ln>
          </p:spPr>
        </p:sp>
      </p:grpSp>
      <p:grpSp>
        <p:nvGrpSpPr>
          <p:cNvPr name="Group 16" id="16"/>
          <p:cNvGrpSpPr/>
          <p:nvPr/>
        </p:nvGrpSpPr>
        <p:grpSpPr>
          <a:xfrm rot="0">
            <a:off x="7331409" y="1399007"/>
            <a:ext cx="3056400" cy="2057492"/>
            <a:chOff x="0" y="0"/>
            <a:chExt cx="644320" cy="433740"/>
          </a:xfrm>
        </p:grpSpPr>
        <p:sp>
          <p:nvSpPr>
            <p:cNvPr name="Freeform 17" id="17"/>
            <p:cNvSpPr/>
            <p:nvPr/>
          </p:nvSpPr>
          <p:spPr>
            <a:xfrm flipH="false" flipV="false" rot="0">
              <a:off x="0" y="0"/>
              <a:ext cx="644320" cy="433740"/>
            </a:xfrm>
            <a:custGeom>
              <a:avLst/>
              <a:gdLst/>
              <a:ahLst/>
              <a:cxnLst/>
              <a:rect r="r" b="b" t="t" l="l"/>
              <a:pathLst>
                <a:path h="433740" w="644320">
                  <a:moveTo>
                    <a:pt x="12665" y="0"/>
                  </a:moveTo>
                  <a:lnTo>
                    <a:pt x="631655" y="0"/>
                  </a:lnTo>
                  <a:cubicBezTo>
                    <a:pt x="635014" y="0"/>
                    <a:pt x="638236" y="1334"/>
                    <a:pt x="640611" y="3710"/>
                  </a:cubicBezTo>
                  <a:cubicBezTo>
                    <a:pt x="642986" y="6085"/>
                    <a:pt x="644320" y="9306"/>
                    <a:pt x="644320" y="12665"/>
                  </a:cubicBezTo>
                  <a:lnTo>
                    <a:pt x="644320" y="421075"/>
                  </a:lnTo>
                  <a:cubicBezTo>
                    <a:pt x="644320" y="428070"/>
                    <a:pt x="638650" y="433740"/>
                    <a:pt x="631655" y="433740"/>
                  </a:cubicBezTo>
                  <a:lnTo>
                    <a:pt x="12665" y="433740"/>
                  </a:lnTo>
                  <a:cubicBezTo>
                    <a:pt x="5670" y="433740"/>
                    <a:pt x="0" y="428070"/>
                    <a:pt x="0" y="421075"/>
                  </a:cubicBezTo>
                  <a:lnTo>
                    <a:pt x="0" y="12665"/>
                  </a:lnTo>
                  <a:cubicBezTo>
                    <a:pt x="0" y="5670"/>
                    <a:pt x="5670" y="0"/>
                    <a:pt x="12665" y="0"/>
                  </a:cubicBezTo>
                  <a:close/>
                </a:path>
              </a:pathLst>
            </a:custGeom>
            <a:blipFill>
              <a:blip r:embed="rId8"/>
              <a:stretch>
                <a:fillRect l="-2000" t="-8279" r="-1006" b="-6482"/>
              </a:stretch>
            </a:blipFill>
            <a:ln w="4762" cap="sq">
              <a:solidFill>
                <a:srgbClr val="484540"/>
              </a:solidFill>
              <a:prstDash val="solid"/>
              <a:miter/>
            </a:ln>
          </p:spPr>
        </p:sp>
      </p:grpSp>
      <p:grpSp>
        <p:nvGrpSpPr>
          <p:cNvPr name="Group 18" id="18"/>
          <p:cNvGrpSpPr/>
          <p:nvPr/>
        </p:nvGrpSpPr>
        <p:grpSpPr>
          <a:xfrm rot="0">
            <a:off x="7331409" y="3614729"/>
            <a:ext cx="3056400" cy="2057492"/>
            <a:chOff x="0" y="0"/>
            <a:chExt cx="644320" cy="433740"/>
          </a:xfrm>
        </p:grpSpPr>
        <p:sp>
          <p:nvSpPr>
            <p:cNvPr name="Freeform 19" id="19"/>
            <p:cNvSpPr/>
            <p:nvPr/>
          </p:nvSpPr>
          <p:spPr>
            <a:xfrm flipH="false" flipV="false" rot="0">
              <a:off x="0" y="0"/>
              <a:ext cx="644320" cy="433740"/>
            </a:xfrm>
            <a:custGeom>
              <a:avLst/>
              <a:gdLst/>
              <a:ahLst/>
              <a:cxnLst/>
              <a:rect r="r" b="b" t="t" l="l"/>
              <a:pathLst>
                <a:path h="433740" w="644320">
                  <a:moveTo>
                    <a:pt x="12665" y="0"/>
                  </a:moveTo>
                  <a:lnTo>
                    <a:pt x="631655" y="0"/>
                  </a:lnTo>
                  <a:cubicBezTo>
                    <a:pt x="635014" y="0"/>
                    <a:pt x="638236" y="1334"/>
                    <a:pt x="640611" y="3710"/>
                  </a:cubicBezTo>
                  <a:cubicBezTo>
                    <a:pt x="642986" y="6085"/>
                    <a:pt x="644320" y="9306"/>
                    <a:pt x="644320" y="12665"/>
                  </a:cubicBezTo>
                  <a:lnTo>
                    <a:pt x="644320" y="421075"/>
                  </a:lnTo>
                  <a:cubicBezTo>
                    <a:pt x="644320" y="428070"/>
                    <a:pt x="638650" y="433740"/>
                    <a:pt x="631655" y="433740"/>
                  </a:cubicBezTo>
                  <a:lnTo>
                    <a:pt x="12665" y="433740"/>
                  </a:lnTo>
                  <a:cubicBezTo>
                    <a:pt x="5670" y="433740"/>
                    <a:pt x="0" y="428070"/>
                    <a:pt x="0" y="421075"/>
                  </a:cubicBezTo>
                  <a:lnTo>
                    <a:pt x="0" y="12665"/>
                  </a:lnTo>
                  <a:cubicBezTo>
                    <a:pt x="0" y="5670"/>
                    <a:pt x="5670" y="0"/>
                    <a:pt x="12665" y="0"/>
                  </a:cubicBezTo>
                  <a:close/>
                </a:path>
              </a:pathLst>
            </a:custGeom>
            <a:blipFill>
              <a:blip r:embed="rId9"/>
              <a:stretch>
                <a:fillRect l="-3843" t="-8948" r="-2761" b="-9822"/>
              </a:stretch>
            </a:blipFill>
            <a:ln w="4762" cap="sq">
              <a:solidFill>
                <a:srgbClr val="484540"/>
              </a:solidFill>
              <a:prstDash val="solid"/>
              <a:miter/>
            </a:ln>
          </p:spPr>
        </p:sp>
      </p:grpSp>
      <p:grpSp>
        <p:nvGrpSpPr>
          <p:cNvPr name="Group 20" id="20"/>
          <p:cNvGrpSpPr/>
          <p:nvPr/>
        </p:nvGrpSpPr>
        <p:grpSpPr>
          <a:xfrm rot="0">
            <a:off x="5607747" y="2586294"/>
            <a:ext cx="1313524" cy="2057492"/>
            <a:chOff x="0" y="0"/>
            <a:chExt cx="812800" cy="1273163"/>
          </a:xfrm>
        </p:grpSpPr>
        <p:sp>
          <p:nvSpPr>
            <p:cNvPr name="Freeform 21" id="21"/>
            <p:cNvSpPr/>
            <p:nvPr/>
          </p:nvSpPr>
          <p:spPr>
            <a:xfrm flipH="false" flipV="false" rot="-5464908">
              <a:off x="-237332" y="218644"/>
              <a:ext cx="1287464" cy="835875"/>
            </a:xfrm>
            <a:custGeom>
              <a:avLst/>
              <a:gdLst/>
              <a:ahLst/>
              <a:cxnLst/>
              <a:rect r="r" b="b" t="t" l="l"/>
              <a:pathLst>
                <a:path h="835875" w="1287464">
                  <a:moveTo>
                    <a:pt x="1287316" y="53093"/>
                  </a:moveTo>
                  <a:lnTo>
                    <a:pt x="1273083" y="806819"/>
                  </a:lnTo>
                  <a:cubicBezTo>
                    <a:pt x="1272936" y="814633"/>
                    <a:pt x="1269690" y="822069"/>
                    <a:pt x="1264060" y="827491"/>
                  </a:cubicBezTo>
                  <a:cubicBezTo>
                    <a:pt x="1258430" y="832912"/>
                    <a:pt x="1250877" y="835875"/>
                    <a:pt x="1243062" y="835727"/>
                  </a:cubicBezTo>
                  <a:lnTo>
                    <a:pt x="29056" y="812803"/>
                  </a:lnTo>
                  <a:cubicBezTo>
                    <a:pt x="21241" y="812655"/>
                    <a:pt x="13806" y="809409"/>
                    <a:pt x="8384" y="803779"/>
                  </a:cubicBezTo>
                  <a:cubicBezTo>
                    <a:pt x="2963" y="798149"/>
                    <a:pt x="0" y="790596"/>
                    <a:pt x="148" y="782781"/>
                  </a:cubicBezTo>
                  <a:lnTo>
                    <a:pt x="14381" y="29056"/>
                  </a:lnTo>
                  <a:cubicBezTo>
                    <a:pt x="14528" y="21241"/>
                    <a:pt x="17774" y="13805"/>
                    <a:pt x="23404" y="8384"/>
                  </a:cubicBezTo>
                  <a:cubicBezTo>
                    <a:pt x="29034" y="2963"/>
                    <a:pt x="36587" y="0"/>
                    <a:pt x="44402" y="147"/>
                  </a:cubicBezTo>
                  <a:lnTo>
                    <a:pt x="1258408" y="23072"/>
                  </a:lnTo>
                  <a:cubicBezTo>
                    <a:pt x="1266223" y="23220"/>
                    <a:pt x="1273658" y="26466"/>
                    <a:pt x="1279080" y="32096"/>
                  </a:cubicBezTo>
                  <a:cubicBezTo>
                    <a:pt x="1284501" y="37726"/>
                    <a:pt x="1287464" y="45279"/>
                    <a:pt x="1287316" y="53093"/>
                  </a:cubicBezTo>
                  <a:close/>
                </a:path>
              </a:pathLst>
            </a:custGeom>
            <a:blipFill>
              <a:blip r:embed="rId10"/>
              <a:stretch>
                <a:fillRect l="-42" t="-63591" r="-42" b="-42226"/>
              </a:stretch>
            </a:blipFill>
            <a:ln w="4762" cap="sq">
              <a:solidFill>
                <a:srgbClr val="484540"/>
              </a:solidFill>
              <a:prstDash val="solid"/>
              <a:miter/>
            </a:ln>
          </p:spPr>
        </p:sp>
      </p:grpSp>
      <p:sp>
        <p:nvSpPr>
          <p:cNvPr name="TextBox 22" id="22"/>
          <p:cNvSpPr txBox="true"/>
          <p:nvPr/>
        </p:nvSpPr>
        <p:spPr>
          <a:xfrm rot="0">
            <a:off x="756000" y="7162014"/>
            <a:ext cx="2010680" cy="154305"/>
          </a:xfrm>
          <a:prstGeom prst="rect">
            <a:avLst/>
          </a:prstGeom>
        </p:spPr>
        <p:txBody>
          <a:bodyPr anchor="t" rtlCol="false" tIns="0" lIns="0" bIns="0" rIns="0">
            <a:spAutoFit/>
          </a:bodyPr>
          <a:lstStyle/>
          <a:p>
            <a:pPr algn="ctr">
              <a:lnSpc>
                <a:spcPts val="1215"/>
              </a:lnSpc>
              <a:spcBef>
                <a:spcPct val="0"/>
              </a:spcBef>
            </a:pPr>
            <a:r>
              <a:rPr lang="en-US" b="true" sz="900" spc="213">
                <a:solidFill>
                  <a:srgbClr val="484540"/>
                </a:solidFill>
                <a:latin typeface="Now Medium"/>
                <a:ea typeface="Now Medium"/>
                <a:cs typeface="Now Medium"/>
                <a:sym typeface="Now Medium"/>
              </a:rPr>
              <a:t>Manuela Schenk</a:t>
            </a:r>
          </a:p>
        </p:txBody>
      </p:sp>
      <p:sp>
        <p:nvSpPr>
          <p:cNvPr name="TextBox 23" id="23"/>
          <p:cNvSpPr txBox="true"/>
          <p:nvPr/>
        </p:nvSpPr>
        <p:spPr>
          <a:xfrm rot="0">
            <a:off x="7656539" y="7172199"/>
            <a:ext cx="2405908" cy="154305"/>
          </a:xfrm>
          <a:prstGeom prst="rect">
            <a:avLst/>
          </a:prstGeom>
        </p:spPr>
        <p:txBody>
          <a:bodyPr anchor="t" rtlCol="false" tIns="0" lIns="0" bIns="0" rIns="0">
            <a:spAutoFit/>
          </a:bodyPr>
          <a:lstStyle/>
          <a:p>
            <a:pPr algn="ctr">
              <a:lnSpc>
                <a:spcPts val="1215"/>
              </a:lnSpc>
              <a:spcBef>
                <a:spcPct val="0"/>
              </a:spcBef>
            </a:pPr>
            <a:r>
              <a:rPr lang="en-US" b="true" sz="900" spc="213">
                <a:solidFill>
                  <a:srgbClr val="484540"/>
                </a:solidFill>
                <a:latin typeface="Now Medium"/>
                <a:ea typeface="Now Medium"/>
                <a:cs typeface="Now Medium"/>
                <a:sym typeface="Now Medium"/>
              </a:rPr>
              <a:t>manufaktur-malerei@web.de</a:t>
            </a:r>
          </a:p>
        </p:txBody>
      </p:sp>
      <p:sp>
        <p:nvSpPr>
          <p:cNvPr name="TextBox 24" id="24"/>
          <p:cNvSpPr txBox="true"/>
          <p:nvPr/>
        </p:nvSpPr>
        <p:spPr>
          <a:xfrm rot="0">
            <a:off x="4340660" y="7162014"/>
            <a:ext cx="2010680" cy="154305"/>
          </a:xfrm>
          <a:prstGeom prst="rect">
            <a:avLst/>
          </a:prstGeom>
        </p:spPr>
        <p:txBody>
          <a:bodyPr anchor="t" rtlCol="false" tIns="0" lIns="0" bIns="0" rIns="0">
            <a:spAutoFit/>
          </a:bodyPr>
          <a:lstStyle/>
          <a:p>
            <a:pPr algn="ctr">
              <a:lnSpc>
                <a:spcPts val="1215"/>
              </a:lnSpc>
              <a:spcBef>
                <a:spcPct val="0"/>
              </a:spcBef>
            </a:pPr>
            <a:r>
              <a:rPr lang="en-US" b="true" sz="900" spc="213">
                <a:solidFill>
                  <a:srgbClr val="484540"/>
                </a:solidFill>
                <a:latin typeface="Now Medium"/>
                <a:ea typeface="Now Medium"/>
                <a:cs typeface="Now Medium"/>
                <a:sym typeface="Now Medium"/>
              </a:rPr>
              <a:t>+49 163 2662435</a:t>
            </a:r>
          </a:p>
        </p:txBody>
      </p:sp>
      <p:grpSp>
        <p:nvGrpSpPr>
          <p:cNvPr name="Group 25" id="25"/>
          <p:cNvGrpSpPr/>
          <p:nvPr/>
        </p:nvGrpSpPr>
        <p:grpSpPr>
          <a:xfrm rot="0">
            <a:off x="7331409" y="6025625"/>
            <a:ext cx="3056400" cy="780116"/>
            <a:chOff x="0" y="0"/>
            <a:chExt cx="4075200" cy="1040155"/>
          </a:xfrm>
        </p:grpSpPr>
        <p:sp>
          <p:nvSpPr>
            <p:cNvPr name="TextBox 26" id="26"/>
            <p:cNvSpPr txBox="true"/>
            <p:nvPr/>
          </p:nvSpPr>
          <p:spPr>
            <a:xfrm rot="0">
              <a:off x="0" y="506332"/>
              <a:ext cx="4075200" cy="533823"/>
            </a:xfrm>
            <a:prstGeom prst="rect">
              <a:avLst/>
            </a:prstGeom>
          </p:spPr>
          <p:txBody>
            <a:bodyPr anchor="t" rtlCol="false" tIns="0" lIns="0" bIns="0" rIns="0">
              <a:spAutoFit/>
            </a:bodyPr>
            <a:lstStyle/>
            <a:p>
              <a:pPr algn="l">
                <a:lnSpc>
                  <a:spcPts val="1119"/>
                </a:lnSpc>
              </a:pPr>
              <a:r>
                <a:rPr lang="en-US" sz="799" spc="39">
                  <a:solidFill>
                    <a:srgbClr val="484540"/>
                  </a:solidFill>
                  <a:latin typeface="Now Light"/>
                  <a:ea typeface="Now Light"/>
                  <a:cs typeface="Now Light"/>
                  <a:sym typeface="Now Light"/>
                </a:rPr>
                <a:t>Auch besondere Landschaften und Orte faszinieren mich. Wenn Du auch solche Lieblingsorte hast, kann ich sie Dir auf Leinwand zaubern.</a:t>
              </a:r>
            </a:p>
          </p:txBody>
        </p:sp>
        <p:sp>
          <p:nvSpPr>
            <p:cNvPr name="TextBox 27" id="27"/>
            <p:cNvSpPr txBox="true"/>
            <p:nvPr/>
          </p:nvSpPr>
          <p:spPr>
            <a:xfrm rot="0">
              <a:off x="0" y="-28575"/>
              <a:ext cx="4075200" cy="422723"/>
            </a:xfrm>
            <a:prstGeom prst="rect">
              <a:avLst/>
            </a:prstGeom>
          </p:spPr>
          <p:txBody>
            <a:bodyPr anchor="t" rtlCol="false" tIns="0" lIns="0" bIns="0" rIns="0">
              <a:spAutoFit/>
            </a:bodyPr>
            <a:lstStyle/>
            <a:p>
              <a:pPr algn="l">
                <a:lnSpc>
                  <a:spcPts val="2676"/>
                </a:lnSpc>
              </a:pPr>
              <a:r>
                <a:rPr lang="en-US" sz="1982" spc="164" b="true">
                  <a:solidFill>
                    <a:srgbClr val="484540"/>
                  </a:solidFill>
                  <a:latin typeface="Now Medium"/>
                  <a:ea typeface="Now Medium"/>
                  <a:cs typeface="Now Medium"/>
                  <a:sym typeface="Now Medium"/>
                </a:rPr>
                <a:t>Dein Lieblingsort</a:t>
              </a:r>
            </a:p>
          </p:txBody>
        </p:sp>
      </p:grpSp>
      <p:grpSp>
        <p:nvGrpSpPr>
          <p:cNvPr name="Group 28" id="28"/>
          <p:cNvGrpSpPr/>
          <p:nvPr/>
        </p:nvGrpSpPr>
        <p:grpSpPr>
          <a:xfrm rot="0">
            <a:off x="3864870" y="1399007"/>
            <a:ext cx="3056400" cy="978025"/>
            <a:chOff x="0" y="0"/>
            <a:chExt cx="4075200" cy="1304033"/>
          </a:xfrm>
        </p:grpSpPr>
        <p:sp>
          <p:nvSpPr>
            <p:cNvPr name="TextBox 29" id="29"/>
            <p:cNvSpPr txBox="true"/>
            <p:nvPr/>
          </p:nvSpPr>
          <p:spPr>
            <a:xfrm rot="0">
              <a:off x="0" y="950832"/>
              <a:ext cx="4075200" cy="353201"/>
            </a:xfrm>
            <a:prstGeom prst="rect">
              <a:avLst/>
            </a:prstGeom>
          </p:spPr>
          <p:txBody>
            <a:bodyPr anchor="t" rtlCol="false" tIns="0" lIns="0" bIns="0" rIns="0">
              <a:spAutoFit/>
            </a:bodyPr>
            <a:lstStyle/>
            <a:p>
              <a:pPr algn="l">
                <a:lnSpc>
                  <a:spcPts val="1119"/>
                </a:lnSpc>
              </a:pPr>
              <a:r>
                <a:rPr lang="en-US" sz="799" spc="39">
                  <a:solidFill>
                    <a:srgbClr val="484540"/>
                  </a:solidFill>
                  <a:latin typeface="Now Light"/>
                  <a:ea typeface="Now Light"/>
                  <a:cs typeface="Now Light"/>
                  <a:sym typeface="Now Light"/>
                </a:rPr>
                <a:t>Neben Hunden male ich auch andere tierische Familienmitglieder, z.B. Papageien.</a:t>
              </a:r>
            </a:p>
          </p:txBody>
        </p:sp>
        <p:sp>
          <p:nvSpPr>
            <p:cNvPr name="TextBox 30" id="30"/>
            <p:cNvSpPr txBox="true"/>
            <p:nvPr/>
          </p:nvSpPr>
          <p:spPr>
            <a:xfrm rot="0">
              <a:off x="0" y="-28575"/>
              <a:ext cx="4075200" cy="867223"/>
            </a:xfrm>
            <a:prstGeom prst="rect">
              <a:avLst/>
            </a:prstGeom>
          </p:spPr>
          <p:txBody>
            <a:bodyPr anchor="t" rtlCol="false" tIns="0" lIns="0" bIns="0" rIns="0">
              <a:spAutoFit/>
            </a:bodyPr>
            <a:lstStyle/>
            <a:p>
              <a:pPr algn="l">
                <a:lnSpc>
                  <a:spcPts val="2676"/>
                </a:lnSpc>
              </a:pPr>
              <a:r>
                <a:rPr lang="en-US" sz="1982" spc="164" b="true">
                  <a:solidFill>
                    <a:srgbClr val="484540"/>
                  </a:solidFill>
                  <a:latin typeface="Now Medium"/>
                  <a:ea typeface="Now Medium"/>
                  <a:cs typeface="Now Medium"/>
                  <a:sym typeface="Now Medium"/>
                </a:rPr>
                <a:t>Weitere tierische Freunde</a:t>
              </a:r>
            </a:p>
          </p:txBody>
        </p:sp>
      </p:grpSp>
      <p:grpSp>
        <p:nvGrpSpPr>
          <p:cNvPr name="Group 31" id="31"/>
          <p:cNvGrpSpPr/>
          <p:nvPr/>
        </p:nvGrpSpPr>
        <p:grpSpPr>
          <a:xfrm rot="0">
            <a:off x="233024" y="3525885"/>
            <a:ext cx="3222271" cy="1926290"/>
            <a:chOff x="0" y="0"/>
            <a:chExt cx="4296362" cy="2568387"/>
          </a:xfrm>
        </p:grpSpPr>
        <p:sp>
          <p:nvSpPr>
            <p:cNvPr name="TextBox 32" id="32"/>
            <p:cNvSpPr txBox="true"/>
            <p:nvPr/>
          </p:nvSpPr>
          <p:spPr>
            <a:xfrm rot="0">
              <a:off x="0" y="950832"/>
              <a:ext cx="4296362" cy="1617555"/>
            </a:xfrm>
            <a:prstGeom prst="rect">
              <a:avLst/>
            </a:prstGeom>
          </p:spPr>
          <p:txBody>
            <a:bodyPr anchor="t" rtlCol="false" tIns="0" lIns="0" bIns="0" rIns="0">
              <a:spAutoFit/>
            </a:bodyPr>
            <a:lstStyle/>
            <a:p>
              <a:pPr algn="l">
                <a:lnSpc>
                  <a:spcPts val="1119"/>
                </a:lnSpc>
              </a:pPr>
              <a:r>
                <a:rPr lang="en-US" sz="799" spc="39">
                  <a:solidFill>
                    <a:srgbClr val="484540"/>
                  </a:solidFill>
                  <a:latin typeface="Now Light"/>
                  <a:ea typeface="Now Light"/>
                  <a:cs typeface="Now Light"/>
                  <a:sym typeface="Now Light"/>
                </a:rPr>
                <a:t>Du hast Dir schon immer mal ein einzigartiges Portrait Deines treuen Begleiters gewünscht?</a:t>
              </a:r>
            </a:p>
            <a:p>
              <a:pPr algn="l">
                <a:lnSpc>
                  <a:spcPts val="1119"/>
                </a:lnSpc>
              </a:pPr>
              <a:r>
                <a:rPr lang="en-US" sz="799" spc="39">
                  <a:solidFill>
                    <a:srgbClr val="484540"/>
                  </a:solidFill>
                  <a:latin typeface="Now Light"/>
                  <a:ea typeface="Now Light"/>
                  <a:cs typeface="Now Light"/>
                  <a:sym typeface="Now Light"/>
                </a:rPr>
                <a:t>Dann bist Du hier richtig! Ich habe schon so einige Vierbeiner malen dürfen - vom weißen Maltheser bis zum schwarzen Labrador, ob kurz- oder langhaarig. Jeder Hund ist ein ganz besonderes Motiv, und ich freue mich, auch Deinen Liebling in liebevollen Details auf Leinwand zu verewigen.</a:t>
              </a:r>
            </a:p>
            <a:p>
              <a:pPr algn="l">
                <a:lnSpc>
                  <a:spcPts val="1119"/>
                </a:lnSpc>
              </a:pPr>
            </a:p>
          </p:txBody>
        </p:sp>
        <p:sp>
          <p:nvSpPr>
            <p:cNvPr name="TextBox 33" id="33"/>
            <p:cNvSpPr txBox="true"/>
            <p:nvPr/>
          </p:nvSpPr>
          <p:spPr>
            <a:xfrm rot="0">
              <a:off x="0" y="-28575"/>
              <a:ext cx="4296362" cy="867223"/>
            </a:xfrm>
            <a:prstGeom prst="rect">
              <a:avLst/>
            </a:prstGeom>
          </p:spPr>
          <p:txBody>
            <a:bodyPr anchor="t" rtlCol="false" tIns="0" lIns="0" bIns="0" rIns="0">
              <a:spAutoFit/>
            </a:bodyPr>
            <a:lstStyle/>
            <a:p>
              <a:pPr algn="l">
                <a:lnSpc>
                  <a:spcPts val="2676"/>
                </a:lnSpc>
              </a:pPr>
              <a:r>
                <a:rPr lang="en-US" sz="1982" spc="164" b="true">
                  <a:solidFill>
                    <a:srgbClr val="484540"/>
                  </a:solidFill>
                  <a:latin typeface="Now Medium"/>
                  <a:ea typeface="Now Medium"/>
                  <a:cs typeface="Now Medium"/>
                  <a:sym typeface="Now Medium"/>
                </a:rPr>
                <a:t>Dein vierbeiniger Liebling auf Leinwand</a:t>
              </a:r>
            </a:p>
          </p:txBody>
        </p:sp>
      </p:grpSp>
      <p:grpSp>
        <p:nvGrpSpPr>
          <p:cNvPr name="Group 34" id="34"/>
          <p:cNvGrpSpPr/>
          <p:nvPr/>
        </p:nvGrpSpPr>
        <p:grpSpPr>
          <a:xfrm rot="0">
            <a:off x="221714" y="55562"/>
            <a:ext cx="3632128" cy="1400875"/>
            <a:chOff x="0" y="0"/>
            <a:chExt cx="4842838" cy="1867834"/>
          </a:xfrm>
        </p:grpSpPr>
        <p:sp>
          <p:nvSpPr>
            <p:cNvPr name="Freeform 35" id="35"/>
            <p:cNvSpPr/>
            <p:nvPr/>
          </p:nvSpPr>
          <p:spPr>
            <a:xfrm flipH="false" flipV="false" rot="-677456">
              <a:off x="186401" y="158934"/>
              <a:ext cx="1776724" cy="1549965"/>
            </a:xfrm>
            <a:custGeom>
              <a:avLst/>
              <a:gdLst/>
              <a:ahLst/>
              <a:cxnLst/>
              <a:rect r="r" b="b" t="t" l="l"/>
              <a:pathLst>
                <a:path h="1549965" w="1776724">
                  <a:moveTo>
                    <a:pt x="0" y="0"/>
                  </a:moveTo>
                  <a:lnTo>
                    <a:pt x="1776724" y="0"/>
                  </a:lnTo>
                  <a:lnTo>
                    <a:pt x="1776724" y="1549966"/>
                  </a:lnTo>
                  <a:lnTo>
                    <a:pt x="0" y="1549966"/>
                  </a:lnTo>
                  <a:lnTo>
                    <a:pt x="0" y="0"/>
                  </a:lnTo>
                  <a:close/>
                </a:path>
              </a:pathLst>
            </a:custGeom>
            <a:blipFill>
              <a:blip r:embed="rId11"/>
              <a:stretch>
                <a:fillRect l="-1538" t="-10640" r="0" b="-1388"/>
              </a:stretch>
            </a:blipFill>
          </p:spPr>
        </p:sp>
        <p:sp>
          <p:nvSpPr>
            <p:cNvPr name="TextBox 36" id="36"/>
            <p:cNvSpPr txBox="true"/>
            <p:nvPr/>
          </p:nvSpPr>
          <p:spPr>
            <a:xfrm rot="0">
              <a:off x="0" y="242913"/>
              <a:ext cx="2061549" cy="888155"/>
            </a:xfrm>
            <a:prstGeom prst="rect">
              <a:avLst/>
            </a:prstGeom>
          </p:spPr>
          <p:txBody>
            <a:bodyPr anchor="t" rtlCol="false" tIns="0" lIns="0" bIns="0" rIns="0">
              <a:spAutoFit/>
            </a:bodyPr>
            <a:lstStyle/>
            <a:p>
              <a:pPr algn="ctr">
                <a:lnSpc>
                  <a:spcPts val="5501"/>
                </a:lnSpc>
                <a:spcBef>
                  <a:spcPct val="0"/>
                </a:spcBef>
              </a:pPr>
              <a:r>
                <a:rPr lang="en-US" sz="4075" spc="391">
                  <a:solidFill>
                    <a:srgbClr val="004AAD"/>
                  </a:solidFill>
                  <a:latin typeface="Great Vibes"/>
                  <a:ea typeface="Great Vibes"/>
                  <a:cs typeface="Great Vibes"/>
                  <a:sym typeface="Great Vibes"/>
                </a:rPr>
                <a:t>Manu</a:t>
              </a:r>
            </a:p>
          </p:txBody>
        </p:sp>
        <p:sp>
          <p:nvSpPr>
            <p:cNvPr name="TextBox 37" id="37"/>
            <p:cNvSpPr txBox="true"/>
            <p:nvPr/>
          </p:nvSpPr>
          <p:spPr>
            <a:xfrm rot="0">
              <a:off x="1939764" y="359968"/>
              <a:ext cx="2903073" cy="673095"/>
            </a:xfrm>
            <a:prstGeom prst="rect">
              <a:avLst/>
            </a:prstGeom>
          </p:spPr>
          <p:txBody>
            <a:bodyPr anchor="t" rtlCol="false" tIns="0" lIns="0" bIns="0" rIns="0">
              <a:spAutoFit/>
            </a:bodyPr>
            <a:lstStyle/>
            <a:p>
              <a:pPr algn="ctr">
                <a:lnSpc>
                  <a:spcPts val="4213"/>
                </a:lnSpc>
                <a:spcBef>
                  <a:spcPct val="0"/>
                </a:spcBef>
              </a:pPr>
              <a:r>
                <a:rPr lang="en-US" sz="3121" spc="739">
                  <a:solidFill>
                    <a:srgbClr val="004AAD"/>
                  </a:solidFill>
                  <a:latin typeface="Cheque Bold"/>
                  <a:ea typeface="Cheque Bold"/>
                  <a:cs typeface="Cheque Bold"/>
                  <a:sym typeface="Cheque Bold"/>
                </a:rPr>
                <a:t>FAKTUR</a:t>
              </a:r>
            </a:p>
          </p:txBody>
        </p:sp>
        <p:sp>
          <p:nvSpPr>
            <p:cNvPr name="TextBox 38" id="38"/>
            <p:cNvSpPr txBox="true"/>
            <p:nvPr/>
          </p:nvSpPr>
          <p:spPr>
            <a:xfrm rot="0">
              <a:off x="890044" y="1093856"/>
              <a:ext cx="2947026" cy="263512"/>
            </a:xfrm>
            <a:prstGeom prst="rect">
              <a:avLst/>
            </a:prstGeom>
          </p:spPr>
          <p:txBody>
            <a:bodyPr anchor="t" rtlCol="false" tIns="0" lIns="0" bIns="0" rIns="0">
              <a:spAutoFit/>
            </a:bodyPr>
            <a:lstStyle/>
            <a:p>
              <a:pPr algn="ctr">
                <a:lnSpc>
                  <a:spcPts val="1638"/>
                </a:lnSpc>
                <a:spcBef>
                  <a:spcPct val="0"/>
                </a:spcBef>
              </a:pPr>
              <a:r>
                <a:rPr lang="en-US" sz="1213" spc="287">
                  <a:solidFill>
                    <a:srgbClr val="000000"/>
                  </a:solidFill>
                  <a:latin typeface="Now"/>
                  <a:ea typeface="Now"/>
                  <a:cs typeface="Now"/>
                  <a:sym typeface="Now"/>
                </a:rPr>
                <a:t>Manuela Schenk</a:t>
              </a:r>
            </a:p>
          </p:txBody>
        </p:sp>
      </p:gr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AutoShape 2" id="2"/>
          <p:cNvSpPr/>
          <p:nvPr/>
        </p:nvSpPr>
        <p:spPr>
          <a:xfrm flipH="true">
            <a:off x="233024" y="7049251"/>
            <a:ext cx="3056632" cy="0"/>
          </a:xfrm>
          <a:prstGeom prst="line">
            <a:avLst/>
          </a:prstGeom>
          <a:ln cap="flat" w="47625">
            <a:solidFill>
              <a:srgbClr val="484540"/>
            </a:solidFill>
            <a:prstDash val="solid"/>
            <a:headEnd type="none" len="sm" w="sm"/>
            <a:tailEnd type="none" len="sm" w="sm"/>
          </a:ln>
        </p:spPr>
      </p:sp>
      <p:sp>
        <p:nvSpPr>
          <p:cNvPr name="Freeform 3" id="3"/>
          <p:cNvSpPr/>
          <p:nvPr/>
        </p:nvSpPr>
        <p:spPr>
          <a:xfrm flipH="false" flipV="false" rot="0">
            <a:off x="3817771" y="859666"/>
            <a:ext cx="3056400" cy="2056870"/>
          </a:xfrm>
          <a:custGeom>
            <a:avLst/>
            <a:gdLst/>
            <a:ahLst/>
            <a:cxnLst/>
            <a:rect r="r" b="b" t="t" l="l"/>
            <a:pathLst>
              <a:path h="2056870" w="3056400">
                <a:moveTo>
                  <a:pt x="0" y="0"/>
                </a:moveTo>
                <a:lnTo>
                  <a:pt x="3056400" y="0"/>
                </a:lnTo>
                <a:lnTo>
                  <a:pt x="3056400" y="2056870"/>
                </a:lnTo>
                <a:lnTo>
                  <a:pt x="0" y="2056870"/>
                </a:lnTo>
                <a:lnTo>
                  <a:pt x="0" y="0"/>
                </a:lnTo>
                <a:close/>
              </a:path>
            </a:pathLst>
          </a:custGeom>
          <a:blipFill>
            <a:blip r:embed="rId2"/>
            <a:stretch>
              <a:fillRect l="-7956" t="-23132" r="-22865" b="-136375"/>
            </a:stretch>
          </a:blipFill>
          <a:ln w="4762" cap="sq">
            <a:solidFill>
              <a:srgbClr val="484540"/>
            </a:solidFill>
            <a:prstDash val="solid"/>
            <a:miter/>
          </a:ln>
        </p:spPr>
      </p:sp>
      <p:grpSp>
        <p:nvGrpSpPr>
          <p:cNvPr name="Group 4" id="4"/>
          <p:cNvGrpSpPr/>
          <p:nvPr/>
        </p:nvGrpSpPr>
        <p:grpSpPr>
          <a:xfrm rot="0">
            <a:off x="0" y="0"/>
            <a:ext cx="3564000" cy="7560000"/>
            <a:chOff x="0" y="0"/>
            <a:chExt cx="4752000" cy="10080000"/>
          </a:xfrm>
        </p:grpSpPr>
        <p:grpSp>
          <p:nvGrpSpPr>
            <p:cNvPr name="Group 5" id="5"/>
            <p:cNvGrpSpPr/>
            <p:nvPr/>
          </p:nvGrpSpPr>
          <p:grpSpPr>
            <a:xfrm rot="0">
              <a:off x="0" y="0"/>
              <a:ext cx="4752000" cy="10080000"/>
              <a:chOff x="0" y="0"/>
              <a:chExt cx="751328" cy="1593725"/>
            </a:xfrm>
          </p:grpSpPr>
          <p:sp>
            <p:nvSpPr>
              <p:cNvPr name="Freeform 6" id="6"/>
              <p:cNvSpPr/>
              <p:nvPr/>
            </p:nvSpPr>
            <p:spPr>
              <a:xfrm flipH="false" flipV="false" rot="0">
                <a:off x="0" y="0"/>
                <a:ext cx="751328" cy="1593725"/>
              </a:xfrm>
              <a:custGeom>
                <a:avLst/>
                <a:gdLst/>
                <a:ahLst/>
                <a:cxnLst/>
                <a:rect r="r" b="b" t="t" l="l"/>
                <a:pathLst>
                  <a:path h="1593725" w="751328">
                    <a:moveTo>
                      <a:pt x="0" y="0"/>
                    </a:moveTo>
                    <a:lnTo>
                      <a:pt x="751328" y="0"/>
                    </a:lnTo>
                    <a:lnTo>
                      <a:pt x="751328" y="1593725"/>
                    </a:lnTo>
                    <a:lnTo>
                      <a:pt x="0" y="1593725"/>
                    </a:lnTo>
                    <a:close/>
                  </a:path>
                </a:pathLst>
              </a:custGeom>
              <a:blipFill>
                <a:blip r:embed="rId3"/>
                <a:stretch>
                  <a:fillRect l="-141374" t="-13201" r="-112345" b="-11864"/>
                </a:stretch>
              </a:blipFill>
            </p:spPr>
          </p:sp>
        </p:grpSp>
        <p:grpSp>
          <p:nvGrpSpPr>
            <p:cNvPr name="Group 7" id="7"/>
            <p:cNvGrpSpPr/>
            <p:nvPr/>
          </p:nvGrpSpPr>
          <p:grpSpPr>
            <a:xfrm rot="0">
              <a:off x="0" y="0"/>
              <a:ext cx="4752000" cy="10080000"/>
              <a:chOff x="0" y="0"/>
              <a:chExt cx="1277257" cy="2709333"/>
            </a:xfrm>
          </p:grpSpPr>
          <p:sp>
            <p:nvSpPr>
              <p:cNvPr name="Freeform 8" id="8"/>
              <p:cNvSpPr/>
              <p:nvPr/>
            </p:nvSpPr>
            <p:spPr>
              <a:xfrm flipH="false" flipV="false" rot="0">
                <a:off x="0" y="0"/>
                <a:ext cx="1277257" cy="2709333"/>
              </a:xfrm>
              <a:custGeom>
                <a:avLst/>
                <a:gdLst/>
                <a:ahLst/>
                <a:cxnLst/>
                <a:rect r="r" b="b" t="t" l="l"/>
                <a:pathLst>
                  <a:path h="2709333" w="1277257">
                    <a:moveTo>
                      <a:pt x="0" y="0"/>
                    </a:moveTo>
                    <a:lnTo>
                      <a:pt x="1277257" y="0"/>
                    </a:lnTo>
                    <a:lnTo>
                      <a:pt x="1277257" y="2709333"/>
                    </a:lnTo>
                    <a:lnTo>
                      <a:pt x="0" y="2709333"/>
                    </a:lnTo>
                    <a:close/>
                  </a:path>
                </a:pathLst>
              </a:custGeom>
              <a:solidFill>
                <a:srgbClr val="D9D9D9">
                  <a:alpha val="49804"/>
                </a:srgbClr>
              </a:solidFill>
            </p:spPr>
          </p:sp>
          <p:sp>
            <p:nvSpPr>
              <p:cNvPr name="TextBox 9" id="9"/>
              <p:cNvSpPr txBox="true"/>
              <p:nvPr/>
            </p:nvSpPr>
            <p:spPr>
              <a:xfrm>
                <a:off x="0" y="-19050"/>
                <a:ext cx="1277257" cy="2728383"/>
              </a:xfrm>
              <a:prstGeom prst="rect">
                <a:avLst/>
              </a:prstGeom>
            </p:spPr>
            <p:txBody>
              <a:bodyPr anchor="ctr" rtlCol="false" tIns="50800" lIns="50800" bIns="50800" rIns="50800"/>
              <a:lstStyle/>
              <a:p>
                <a:pPr algn="ctr">
                  <a:lnSpc>
                    <a:spcPts val="1889"/>
                  </a:lnSpc>
                </a:pPr>
              </a:p>
            </p:txBody>
          </p:sp>
        </p:grpSp>
      </p:grpSp>
      <p:grpSp>
        <p:nvGrpSpPr>
          <p:cNvPr name="Group 10" id="10"/>
          <p:cNvGrpSpPr/>
          <p:nvPr/>
        </p:nvGrpSpPr>
        <p:grpSpPr>
          <a:xfrm rot="0">
            <a:off x="7128000" y="0"/>
            <a:ext cx="3564000" cy="7560000"/>
            <a:chOff x="0" y="0"/>
            <a:chExt cx="4752000" cy="10080000"/>
          </a:xfrm>
        </p:grpSpPr>
        <p:grpSp>
          <p:nvGrpSpPr>
            <p:cNvPr name="Group 11" id="11"/>
            <p:cNvGrpSpPr/>
            <p:nvPr/>
          </p:nvGrpSpPr>
          <p:grpSpPr>
            <a:xfrm rot="0">
              <a:off x="0" y="0"/>
              <a:ext cx="4752000" cy="10080000"/>
              <a:chOff x="0" y="0"/>
              <a:chExt cx="751328" cy="1593725"/>
            </a:xfrm>
          </p:grpSpPr>
          <p:sp>
            <p:nvSpPr>
              <p:cNvPr name="Freeform 12" id="12"/>
              <p:cNvSpPr/>
              <p:nvPr/>
            </p:nvSpPr>
            <p:spPr>
              <a:xfrm flipH="false" flipV="false" rot="0">
                <a:off x="0" y="0"/>
                <a:ext cx="751328" cy="1593725"/>
              </a:xfrm>
              <a:custGeom>
                <a:avLst/>
                <a:gdLst/>
                <a:ahLst/>
                <a:cxnLst/>
                <a:rect r="r" b="b" t="t" l="l"/>
                <a:pathLst>
                  <a:path h="1593725" w="751328">
                    <a:moveTo>
                      <a:pt x="0" y="0"/>
                    </a:moveTo>
                    <a:lnTo>
                      <a:pt x="751328" y="0"/>
                    </a:lnTo>
                    <a:lnTo>
                      <a:pt x="751328" y="1593725"/>
                    </a:lnTo>
                    <a:lnTo>
                      <a:pt x="0" y="1593725"/>
                    </a:lnTo>
                    <a:close/>
                  </a:path>
                </a:pathLst>
              </a:custGeom>
              <a:blipFill>
                <a:blip r:embed="rId4"/>
                <a:stretch>
                  <a:fillRect l="-81276" t="-4801" r="-121533" b="-2203"/>
                </a:stretch>
              </a:blipFill>
            </p:spPr>
          </p:sp>
        </p:grpSp>
        <p:grpSp>
          <p:nvGrpSpPr>
            <p:cNvPr name="Group 13" id="13"/>
            <p:cNvGrpSpPr/>
            <p:nvPr/>
          </p:nvGrpSpPr>
          <p:grpSpPr>
            <a:xfrm rot="0">
              <a:off x="0" y="0"/>
              <a:ext cx="4752000" cy="10080000"/>
              <a:chOff x="0" y="0"/>
              <a:chExt cx="1277257" cy="2709333"/>
            </a:xfrm>
          </p:grpSpPr>
          <p:sp>
            <p:nvSpPr>
              <p:cNvPr name="Freeform 14" id="14"/>
              <p:cNvSpPr/>
              <p:nvPr/>
            </p:nvSpPr>
            <p:spPr>
              <a:xfrm flipH="false" flipV="false" rot="0">
                <a:off x="0" y="0"/>
                <a:ext cx="1277257" cy="2709333"/>
              </a:xfrm>
              <a:custGeom>
                <a:avLst/>
                <a:gdLst/>
                <a:ahLst/>
                <a:cxnLst/>
                <a:rect r="r" b="b" t="t" l="l"/>
                <a:pathLst>
                  <a:path h="2709333" w="1277257">
                    <a:moveTo>
                      <a:pt x="0" y="0"/>
                    </a:moveTo>
                    <a:lnTo>
                      <a:pt x="1277257" y="0"/>
                    </a:lnTo>
                    <a:lnTo>
                      <a:pt x="1277257" y="2709333"/>
                    </a:lnTo>
                    <a:lnTo>
                      <a:pt x="0" y="2709333"/>
                    </a:lnTo>
                    <a:close/>
                  </a:path>
                </a:pathLst>
              </a:custGeom>
              <a:solidFill>
                <a:srgbClr val="D9D9D9">
                  <a:alpha val="27843"/>
                </a:srgbClr>
              </a:solidFill>
            </p:spPr>
          </p:sp>
          <p:sp>
            <p:nvSpPr>
              <p:cNvPr name="TextBox 15" id="15"/>
              <p:cNvSpPr txBox="true"/>
              <p:nvPr/>
            </p:nvSpPr>
            <p:spPr>
              <a:xfrm>
                <a:off x="0" y="-19050"/>
                <a:ext cx="1277257" cy="2728383"/>
              </a:xfrm>
              <a:prstGeom prst="rect">
                <a:avLst/>
              </a:prstGeom>
            </p:spPr>
            <p:txBody>
              <a:bodyPr anchor="ctr" rtlCol="false" tIns="50800" lIns="50800" bIns="50800" rIns="50800"/>
              <a:lstStyle/>
              <a:p>
                <a:pPr algn="ctr">
                  <a:lnSpc>
                    <a:spcPts val="1889"/>
                  </a:lnSpc>
                </a:pPr>
              </a:p>
            </p:txBody>
          </p:sp>
        </p:grpSp>
      </p:grpSp>
      <p:sp>
        <p:nvSpPr>
          <p:cNvPr name="Freeform 16" id="16"/>
          <p:cNvSpPr/>
          <p:nvPr/>
        </p:nvSpPr>
        <p:spPr>
          <a:xfrm flipH="false" flipV="false" rot="0">
            <a:off x="7409591" y="5133608"/>
            <a:ext cx="3000818" cy="2035100"/>
          </a:xfrm>
          <a:custGeom>
            <a:avLst/>
            <a:gdLst/>
            <a:ahLst/>
            <a:cxnLst/>
            <a:rect r="r" b="b" t="t" l="l"/>
            <a:pathLst>
              <a:path h="2035100" w="3000818">
                <a:moveTo>
                  <a:pt x="0" y="0"/>
                </a:moveTo>
                <a:lnTo>
                  <a:pt x="3000818" y="0"/>
                </a:lnTo>
                <a:lnTo>
                  <a:pt x="3000818" y="2035100"/>
                </a:lnTo>
                <a:lnTo>
                  <a:pt x="0" y="2035100"/>
                </a:lnTo>
                <a:lnTo>
                  <a:pt x="0" y="0"/>
                </a:lnTo>
                <a:close/>
              </a:path>
            </a:pathLst>
          </a:custGeom>
          <a:blipFill>
            <a:blip r:embed="rId5">
              <a:alphaModFix amt="77000"/>
              <a:extLst>
                <a:ext uri="{96DAC541-7B7A-43D3-8B79-37D633B846F1}">
                  <asvg:svgBlip xmlns:asvg="http://schemas.microsoft.com/office/drawing/2016/SVG/main" r:embed="rId6"/>
                </a:ext>
              </a:extLst>
            </a:blip>
            <a:stretch>
              <a:fillRect l="0" t="0" r="0" b="0"/>
            </a:stretch>
          </a:blipFill>
        </p:spPr>
      </p:sp>
      <p:sp>
        <p:nvSpPr>
          <p:cNvPr name="Freeform 17" id="17"/>
          <p:cNvSpPr/>
          <p:nvPr/>
        </p:nvSpPr>
        <p:spPr>
          <a:xfrm flipH="false" flipV="false" rot="0">
            <a:off x="7171754" y="5142976"/>
            <a:ext cx="3476491" cy="2016365"/>
          </a:xfrm>
          <a:custGeom>
            <a:avLst/>
            <a:gdLst/>
            <a:ahLst/>
            <a:cxnLst/>
            <a:rect r="r" b="b" t="t" l="l"/>
            <a:pathLst>
              <a:path h="2016365" w="3476491">
                <a:moveTo>
                  <a:pt x="0" y="0"/>
                </a:moveTo>
                <a:lnTo>
                  <a:pt x="3476492" y="0"/>
                </a:lnTo>
                <a:lnTo>
                  <a:pt x="3476492" y="2016365"/>
                </a:lnTo>
                <a:lnTo>
                  <a:pt x="0" y="2016365"/>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18" id="18"/>
          <p:cNvSpPr/>
          <p:nvPr/>
        </p:nvSpPr>
        <p:spPr>
          <a:xfrm flipH="false" flipV="false" rot="0">
            <a:off x="9703549" y="6234940"/>
            <a:ext cx="392902" cy="424186"/>
          </a:xfrm>
          <a:custGeom>
            <a:avLst/>
            <a:gdLst/>
            <a:ahLst/>
            <a:cxnLst/>
            <a:rect r="r" b="b" t="t" l="l"/>
            <a:pathLst>
              <a:path h="424186" w="392902">
                <a:moveTo>
                  <a:pt x="0" y="0"/>
                </a:moveTo>
                <a:lnTo>
                  <a:pt x="392902" y="0"/>
                </a:lnTo>
                <a:lnTo>
                  <a:pt x="392902" y="424186"/>
                </a:lnTo>
                <a:lnTo>
                  <a:pt x="0" y="424186"/>
                </a:lnTo>
                <a:lnTo>
                  <a:pt x="0" y="0"/>
                </a:lnTo>
                <a:close/>
              </a:path>
            </a:pathLst>
          </a:custGeom>
          <a:blipFill>
            <a:blip r:embed="rId9"/>
            <a:stretch>
              <a:fillRect l="0" t="0" r="0" b="0"/>
            </a:stretch>
          </a:blipFill>
        </p:spPr>
      </p:sp>
      <p:sp>
        <p:nvSpPr>
          <p:cNvPr name="Freeform 19" id="19"/>
          <p:cNvSpPr/>
          <p:nvPr/>
        </p:nvSpPr>
        <p:spPr>
          <a:xfrm flipH="false" flipV="false" rot="-677456">
            <a:off x="7696078" y="5739054"/>
            <a:ext cx="990653" cy="864218"/>
          </a:xfrm>
          <a:custGeom>
            <a:avLst/>
            <a:gdLst/>
            <a:ahLst/>
            <a:cxnLst/>
            <a:rect r="r" b="b" t="t" l="l"/>
            <a:pathLst>
              <a:path h="864218" w="990653">
                <a:moveTo>
                  <a:pt x="0" y="0"/>
                </a:moveTo>
                <a:lnTo>
                  <a:pt x="990652" y="0"/>
                </a:lnTo>
                <a:lnTo>
                  <a:pt x="990652" y="864218"/>
                </a:lnTo>
                <a:lnTo>
                  <a:pt x="0" y="864218"/>
                </a:lnTo>
                <a:lnTo>
                  <a:pt x="0" y="0"/>
                </a:lnTo>
                <a:close/>
              </a:path>
            </a:pathLst>
          </a:custGeom>
          <a:blipFill>
            <a:blip r:embed="rId10"/>
            <a:stretch>
              <a:fillRect l="-1538" t="-10640" r="0" b="-1388"/>
            </a:stretch>
          </a:blipFill>
        </p:spPr>
      </p:sp>
      <p:sp>
        <p:nvSpPr>
          <p:cNvPr name="TextBox 20" id="20"/>
          <p:cNvSpPr txBox="true"/>
          <p:nvPr/>
        </p:nvSpPr>
        <p:spPr>
          <a:xfrm rot="0">
            <a:off x="7592146" y="5784954"/>
            <a:ext cx="1149463" cy="496135"/>
          </a:xfrm>
          <a:prstGeom prst="rect">
            <a:avLst/>
          </a:prstGeom>
        </p:spPr>
        <p:txBody>
          <a:bodyPr anchor="t" rtlCol="false" tIns="0" lIns="0" bIns="0" rIns="0">
            <a:spAutoFit/>
          </a:bodyPr>
          <a:lstStyle/>
          <a:p>
            <a:pPr algn="ctr">
              <a:lnSpc>
                <a:spcPts val="4089"/>
              </a:lnSpc>
              <a:spcBef>
                <a:spcPct val="0"/>
              </a:spcBef>
            </a:pPr>
            <a:r>
              <a:rPr lang="en-US" sz="3029" spc="290">
                <a:solidFill>
                  <a:srgbClr val="004AAD"/>
                </a:solidFill>
                <a:latin typeface="Great Vibes"/>
                <a:ea typeface="Great Vibes"/>
                <a:cs typeface="Great Vibes"/>
                <a:sym typeface="Great Vibes"/>
              </a:rPr>
              <a:t>Manu</a:t>
            </a:r>
          </a:p>
        </p:txBody>
      </p:sp>
      <p:sp>
        <p:nvSpPr>
          <p:cNvPr name="TextBox 21" id="21"/>
          <p:cNvSpPr txBox="true"/>
          <p:nvPr/>
        </p:nvSpPr>
        <p:spPr>
          <a:xfrm rot="0">
            <a:off x="8673705" y="5839599"/>
            <a:ext cx="1618674" cy="386845"/>
          </a:xfrm>
          <a:prstGeom prst="rect">
            <a:avLst/>
          </a:prstGeom>
        </p:spPr>
        <p:txBody>
          <a:bodyPr anchor="t" rtlCol="false" tIns="0" lIns="0" bIns="0" rIns="0">
            <a:spAutoFit/>
          </a:bodyPr>
          <a:lstStyle/>
          <a:p>
            <a:pPr algn="ctr">
              <a:lnSpc>
                <a:spcPts val="3132"/>
              </a:lnSpc>
              <a:spcBef>
                <a:spcPct val="0"/>
              </a:spcBef>
            </a:pPr>
            <a:r>
              <a:rPr lang="en-US" sz="2320" spc="549">
                <a:solidFill>
                  <a:srgbClr val="004AAD"/>
                </a:solidFill>
                <a:latin typeface="Cheque Bold"/>
                <a:ea typeface="Cheque Bold"/>
                <a:cs typeface="Cheque Bold"/>
                <a:sym typeface="Cheque Bold"/>
              </a:rPr>
              <a:t>FAKTUR</a:t>
            </a:r>
          </a:p>
        </p:txBody>
      </p:sp>
      <p:sp>
        <p:nvSpPr>
          <p:cNvPr name="TextBox 22" id="22"/>
          <p:cNvSpPr txBox="true"/>
          <p:nvPr/>
        </p:nvSpPr>
        <p:spPr>
          <a:xfrm rot="0">
            <a:off x="8326520" y="6452543"/>
            <a:ext cx="1166959" cy="109588"/>
          </a:xfrm>
          <a:prstGeom prst="rect">
            <a:avLst/>
          </a:prstGeom>
        </p:spPr>
        <p:txBody>
          <a:bodyPr anchor="t" rtlCol="false" tIns="0" lIns="0" bIns="0" rIns="0">
            <a:spAutoFit/>
          </a:bodyPr>
          <a:lstStyle/>
          <a:p>
            <a:pPr algn="ctr">
              <a:lnSpc>
                <a:spcPts val="813"/>
              </a:lnSpc>
              <a:spcBef>
                <a:spcPct val="0"/>
              </a:spcBef>
            </a:pPr>
            <a:r>
              <a:rPr lang="en-US" sz="602" spc="142">
                <a:solidFill>
                  <a:srgbClr val="000000"/>
                </a:solidFill>
                <a:latin typeface="Now"/>
                <a:ea typeface="Now"/>
                <a:cs typeface="Now"/>
                <a:sym typeface="Now"/>
              </a:rPr>
              <a:t>Individuelle Malerei</a:t>
            </a:r>
          </a:p>
        </p:txBody>
      </p:sp>
      <p:sp>
        <p:nvSpPr>
          <p:cNvPr name="Freeform 23" id="23"/>
          <p:cNvSpPr/>
          <p:nvPr/>
        </p:nvSpPr>
        <p:spPr>
          <a:xfrm flipH="false" flipV="false" rot="0">
            <a:off x="8441783" y="6577198"/>
            <a:ext cx="114691" cy="114691"/>
          </a:xfrm>
          <a:custGeom>
            <a:avLst/>
            <a:gdLst/>
            <a:ahLst/>
            <a:cxnLst/>
            <a:rect r="r" b="b" t="t" l="l"/>
            <a:pathLst>
              <a:path h="114691" w="114691">
                <a:moveTo>
                  <a:pt x="0" y="0"/>
                </a:moveTo>
                <a:lnTo>
                  <a:pt x="114691" y="0"/>
                </a:lnTo>
                <a:lnTo>
                  <a:pt x="114691" y="114691"/>
                </a:lnTo>
                <a:lnTo>
                  <a:pt x="0" y="114691"/>
                </a:lnTo>
                <a:lnTo>
                  <a:pt x="0" y="0"/>
                </a:lnTo>
                <a:close/>
              </a:path>
            </a:pathLst>
          </a:custGeom>
          <a:blipFill>
            <a:blip r:embed="rId11">
              <a:extLst>
                <a:ext uri="{96DAC541-7B7A-43D3-8B79-37D633B846F1}">
                  <asvg:svgBlip xmlns:asvg="http://schemas.microsoft.com/office/drawing/2016/SVG/main" r:embed="rId12"/>
                </a:ext>
              </a:extLst>
            </a:blip>
            <a:stretch>
              <a:fillRect l="0" t="0" r="0" b="0"/>
            </a:stretch>
          </a:blipFill>
        </p:spPr>
      </p:sp>
      <p:sp>
        <p:nvSpPr>
          <p:cNvPr name="TextBox 24" id="24"/>
          <p:cNvSpPr txBox="true"/>
          <p:nvPr/>
        </p:nvSpPr>
        <p:spPr>
          <a:xfrm rot="0">
            <a:off x="8613448" y="6570409"/>
            <a:ext cx="764769" cy="109220"/>
          </a:xfrm>
          <a:prstGeom prst="rect">
            <a:avLst/>
          </a:prstGeom>
        </p:spPr>
        <p:txBody>
          <a:bodyPr anchor="t" rtlCol="false" tIns="0" lIns="0" bIns="0" rIns="0">
            <a:spAutoFit/>
          </a:bodyPr>
          <a:lstStyle/>
          <a:p>
            <a:pPr algn="l">
              <a:lnSpc>
                <a:spcPts val="810"/>
              </a:lnSpc>
              <a:spcBef>
                <a:spcPct val="0"/>
              </a:spcBef>
            </a:pPr>
            <a:r>
              <a:rPr lang="en-US" sz="600" spc="142">
                <a:solidFill>
                  <a:srgbClr val="000000"/>
                </a:solidFill>
                <a:latin typeface="Now"/>
                <a:ea typeface="Now"/>
                <a:cs typeface="Now"/>
                <a:sym typeface="Now"/>
              </a:rPr>
              <a:t>0163 2662435</a:t>
            </a:r>
          </a:p>
        </p:txBody>
      </p:sp>
      <p:sp>
        <p:nvSpPr>
          <p:cNvPr name="TextBox 25" id="25"/>
          <p:cNvSpPr txBox="true"/>
          <p:nvPr/>
        </p:nvSpPr>
        <p:spPr>
          <a:xfrm rot="0">
            <a:off x="8088410" y="6251912"/>
            <a:ext cx="1643181" cy="155355"/>
          </a:xfrm>
          <a:prstGeom prst="rect">
            <a:avLst/>
          </a:prstGeom>
        </p:spPr>
        <p:txBody>
          <a:bodyPr anchor="t" rtlCol="false" tIns="0" lIns="0" bIns="0" rIns="0">
            <a:spAutoFit/>
          </a:bodyPr>
          <a:lstStyle/>
          <a:p>
            <a:pPr algn="ctr">
              <a:lnSpc>
                <a:spcPts val="1218"/>
              </a:lnSpc>
              <a:spcBef>
                <a:spcPct val="0"/>
              </a:spcBef>
            </a:pPr>
            <a:r>
              <a:rPr lang="en-US" sz="902" spc="213">
                <a:solidFill>
                  <a:srgbClr val="000000"/>
                </a:solidFill>
                <a:latin typeface="Now"/>
                <a:ea typeface="Now"/>
                <a:cs typeface="Now"/>
                <a:sym typeface="Now"/>
              </a:rPr>
              <a:t>Manuela Schenk</a:t>
            </a:r>
          </a:p>
        </p:txBody>
      </p:sp>
      <p:sp>
        <p:nvSpPr>
          <p:cNvPr name="AutoShape 26" id="26"/>
          <p:cNvSpPr/>
          <p:nvPr/>
        </p:nvSpPr>
        <p:spPr>
          <a:xfrm flipH="true">
            <a:off x="3817742" y="639590"/>
            <a:ext cx="3056632" cy="0"/>
          </a:xfrm>
          <a:prstGeom prst="line">
            <a:avLst/>
          </a:prstGeom>
          <a:ln cap="flat" w="47625">
            <a:solidFill>
              <a:srgbClr val="484540"/>
            </a:solidFill>
            <a:prstDash val="solid"/>
            <a:headEnd type="none" len="sm" w="sm"/>
            <a:tailEnd type="none" len="sm" w="sm"/>
          </a:ln>
        </p:spPr>
      </p:sp>
      <p:grpSp>
        <p:nvGrpSpPr>
          <p:cNvPr name="Group 27" id="27"/>
          <p:cNvGrpSpPr/>
          <p:nvPr/>
        </p:nvGrpSpPr>
        <p:grpSpPr>
          <a:xfrm rot="0">
            <a:off x="3734835" y="3240867"/>
            <a:ext cx="3222271" cy="915583"/>
            <a:chOff x="0" y="0"/>
            <a:chExt cx="4296362" cy="1220777"/>
          </a:xfrm>
        </p:grpSpPr>
        <p:sp>
          <p:nvSpPr>
            <p:cNvPr name="TextBox 28" id="28"/>
            <p:cNvSpPr txBox="true"/>
            <p:nvPr/>
          </p:nvSpPr>
          <p:spPr>
            <a:xfrm rot="0">
              <a:off x="0" y="506332"/>
              <a:ext cx="4296362" cy="714445"/>
            </a:xfrm>
            <a:prstGeom prst="rect">
              <a:avLst/>
            </a:prstGeom>
          </p:spPr>
          <p:txBody>
            <a:bodyPr anchor="t" rtlCol="false" tIns="0" lIns="0" bIns="0" rIns="0">
              <a:spAutoFit/>
            </a:bodyPr>
            <a:lstStyle/>
            <a:p>
              <a:pPr algn="l" marL="172720" indent="-86360" lvl="1">
                <a:lnSpc>
                  <a:spcPts val="1119"/>
                </a:lnSpc>
                <a:buFont typeface="Arial"/>
                <a:buChar char="•"/>
              </a:pPr>
              <a:r>
                <a:rPr lang="en-US" sz="799" spc="39">
                  <a:solidFill>
                    <a:srgbClr val="484540"/>
                  </a:solidFill>
                  <a:latin typeface="Now Light"/>
                  <a:ea typeface="Now Light"/>
                  <a:cs typeface="Now Light"/>
                  <a:sym typeface="Now Light"/>
                </a:rPr>
                <a:t>Frauchen von Balou :)</a:t>
              </a:r>
            </a:p>
            <a:p>
              <a:pPr algn="l" marL="172720" indent="-86360" lvl="1">
                <a:lnSpc>
                  <a:spcPts val="1119"/>
                </a:lnSpc>
                <a:buFont typeface="Arial"/>
                <a:buChar char="•"/>
              </a:pPr>
              <a:r>
                <a:rPr lang="en-US" sz="799" spc="39">
                  <a:solidFill>
                    <a:srgbClr val="484540"/>
                  </a:solidFill>
                  <a:latin typeface="Now Light"/>
                  <a:ea typeface="Now Light"/>
                  <a:cs typeface="Now Light"/>
                  <a:sym typeface="Now Light"/>
                </a:rPr>
                <a:t>Leidensch</a:t>
              </a:r>
              <a:r>
                <a:rPr lang="en-US" sz="799" spc="39">
                  <a:solidFill>
                    <a:srgbClr val="484540"/>
                  </a:solidFill>
                  <a:latin typeface="Now Light"/>
                  <a:ea typeface="Now Light"/>
                  <a:cs typeface="Now Light"/>
                  <a:sym typeface="Now Light"/>
                </a:rPr>
                <a:t>aftliche Hobbymalerin (Acryl und Öl) Hundeliebhaberin und Naturfreundin – besonders im Wald finde ich oft die Inspiration für meine Arbeiten.</a:t>
              </a:r>
            </a:p>
          </p:txBody>
        </p:sp>
        <p:sp>
          <p:nvSpPr>
            <p:cNvPr name="TextBox 29" id="29"/>
            <p:cNvSpPr txBox="true"/>
            <p:nvPr/>
          </p:nvSpPr>
          <p:spPr>
            <a:xfrm rot="0">
              <a:off x="0" y="-28575"/>
              <a:ext cx="4296362" cy="422723"/>
            </a:xfrm>
            <a:prstGeom prst="rect">
              <a:avLst/>
            </a:prstGeom>
          </p:spPr>
          <p:txBody>
            <a:bodyPr anchor="t" rtlCol="false" tIns="0" lIns="0" bIns="0" rIns="0">
              <a:spAutoFit/>
            </a:bodyPr>
            <a:lstStyle/>
            <a:p>
              <a:pPr algn="l">
                <a:lnSpc>
                  <a:spcPts val="2676"/>
                </a:lnSpc>
              </a:pPr>
              <a:r>
                <a:rPr lang="en-US" sz="1982" spc="164" b="true">
                  <a:solidFill>
                    <a:srgbClr val="484540"/>
                  </a:solidFill>
                  <a:latin typeface="Now Medium"/>
                  <a:ea typeface="Now Medium"/>
                  <a:cs typeface="Now Medium"/>
                  <a:sym typeface="Now Medium"/>
                </a:rPr>
                <a:t>Wer bin ich?</a:t>
              </a:r>
            </a:p>
          </p:txBody>
        </p:sp>
      </p:grpSp>
      <p:grpSp>
        <p:nvGrpSpPr>
          <p:cNvPr name="Group 30" id="30"/>
          <p:cNvGrpSpPr/>
          <p:nvPr/>
        </p:nvGrpSpPr>
        <p:grpSpPr>
          <a:xfrm rot="0">
            <a:off x="3734835" y="4480781"/>
            <a:ext cx="3222271" cy="780116"/>
            <a:chOff x="0" y="0"/>
            <a:chExt cx="4296362" cy="1040155"/>
          </a:xfrm>
        </p:grpSpPr>
        <p:sp>
          <p:nvSpPr>
            <p:cNvPr name="TextBox 31" id="31"/>
            <p:cNvSpPr txBox="true"/>
            <p:nvPr/>
          </p:nvSpPr>
          <p:spPr>
            <a:xfrm rot="0">
              <a:off x="0" y="506332"/>
              <a:ext cx="4040198" cy="533823"/>
            </a:xfrm>
            <a:prstGeom prst="rect">
              <a:avLst/>
            </a:prstGeom>
          </p:spPr>
          <p:txBody>
            <a:bodyPr anchor="t" rtlCol="false" tIns="0" lIns="0" bIns="0" rIns="0">
              <a:spAutoFit/>
            </a:bodyPr>
            <a:lstStyle/>
            <a:p>
              <a:pPr algn="l" marL="172720" indent="-86360" lvl="1">
                <a:lnSpc>
                  <a:spcPts val="1119"/>
                </a:lnSpc>
                <a:buFont typeface="Arial"/>
                <a:buChar char="•"/>
              </a:pPr>
              <a:r>
                <a:rPr lang="en-US" sz="799" spc="39">
                  <a:solidFill>
                    <a:srgbClr val="484540"/>
                  </a:solidFill>
                  <a:latin typeface="Now Light"/>
                  <a:ea typeface="Now Light"/>
                  <a:cs typeface="Now Light"/>
                  <a:sym typeface="Now Light"/>
                </a:rPr>
                <a:t>Zahlreiche Kunst-/Mal-Lehrgänge im Alanus Werkhaus Alfter</a:t>
              </a:r>
            </a:p>
            <a:p>
              <a:pPr algn="l" marL="172720" indent="-86360" lvl="1">
                <a:lnSpc>
                  <a:spcPts val="1119"/>
                </a:lnSpc>
                <a:buFont typeface="Arial"/>
                <a:buChar char="•"/>
              </a:pPr>
              <a:r>
                <a:rPr lang="en-US" sz="799" spc="39">
                  <a:solidFill>
                    <a:srgbClr val="484540"/>
                  </a:solidFill>
                  <a:latin typeface="Now Light"/>
                  <a:ea typeface="Now Light"/>
                  <a:cs typeface="Now Light"/>
                  <a:sym typeface="Now Light"/>
                </a:rPr>
                <a:t>Private Malkurse bei promovierter Dozentin </a:t>
              </a:r>
            </a:p>
          </p:txBody>
        </p:sp>
        <p:sp>
          <p:nvSpPr>
            <p:cNvPr name="TextBox 32" id="32"/>
            <p:cNvSpPr txBox="true"/>
            <p:nvPr/>
          </p:nvSpPr>
          <p:spPr>
            <a:xfrm rot="0">
              <a:off x="0" y="-28575"/>
              <a:ext cx="4296362" cy="422723"/>
            </a:xfrm>
            <a:prstGeom prst="rect">
              <a:avLst/>
            </a:prstGeom>
          </p:spPr>
          <p:txBody>
            <a:bodyPr anchor="t" rtlCol="false" tIns="0" lIns="0" bIns="0" rIns="0">
              <a:spAutoFit/>
            </a:bodyPr>
            <a:lstStyle/>
            <a:p>
              <a:pPr algn="l">
                <a:lnSpc>
                  <a:spcPts val="2676"/>
                </a:lnSpc>
              </a:pPr>
              <a:r>
                <a:rPr lang="en-US" sz="1982" spc="164" b="true">
                  <a:solidFill>
                    <a:srgbClr val="484540"/>
                  </a:solidFill>
                  <a:latin typeface="Now Medium"/>
                  <a:ea typeface="Now Medium"/>
                  <a:cs typeface="Now Medium"/>
                  <a:sym typeface="Now Medium"/>
                </a:rPr>
                <a:t>Mein Weg zur Malerei</a:t>
              </a:r>
            </a:p>
          </p:txBody>
        </p:sp>
      </p:grpSp>
      <p:grpSp>
        <p:nvGrpSpPr>
          <p:cNvPr name="Group 33" id="33"/>
          <p:cNvGrpSpPr/>
          <p:nvPr/>
        </p:nvGrpSpPr>
        <p:grpSpPr>
          <a:xfrm rot="0">
            <a:off x="3734835" y="5585228"/>
            <a:ext cx="3222271" cy="1487835"/>
            <a:chOff x="0" y="0"/>
            <a:chExt cx="4296362" cy="1983781"/>
          </a:xfrm>
        </p:grpSpPr>
        <p:sp>
          <p:nvSpPr>
            <p:cNvPr name="AutoShape 34" id="34"/>
            <p:cNvSpPr/>
            <p:nvPr/>
          </p:nvSpPr>
          <p:spPr>
            <a:xfrm flipH="true">
              <a:off x="110581" y="1952031"/>
              <a:ext cx="4075509" cy="0"/>
            </a:xfrm>
            <a:prstGeom prst="line">
              <a:avLst/>
            </a:prstGeom>
            <a:ln cap="flat" w="63500">
              <a:solidFill>
                <a:srgbClr val="484540"/>
              </a:solidFill>
              <a:prstDash val="solid"/>
              <a:headEnd type="none" len="sm" w="sm"/>
              <a:tailEnd type="none" len="sm" w="sm"/>
            </a:ln>
          </p:spPr>
        </p:sp>
        <p:sp>
          <p:nvSpPr>
            <p:cNvPr name="TextBox 35" id="35"/>
            <p:cNvSpPr txBox="true"/>
            <p:nvPr/>
          </p:nvSpPr>
          <p:spPr>
            <a:xfrm rot="0">
              <a:off x="0" y="-28575"/>
              <a:ext cx="4296362" cy="422723"/>
            </a:xfrm>
            <a:prstGeom prst="rect">
              <a:avLst/>
            </a:prstGeom>
          </p:spPr>
          <p:txBody>
            <a:bodyPr anchor="t" rtlCol="false" tIns="0" lIns="0" bIns="0" rIns="0">
              <a:spAutoFit/>
            </a:bodyPr>
            <a:lstStyle/>
            <a:p>
              <a:pPr algn="l">
                <a:lnSpc>
                  <a:spcPts val="2676"/>
                </a:lnSpc>
              </a:pPr>
              <a:r>
                <a:rPr lang="en-US" sz="1982" spc="164" b="true">
                  <a:solidFill>
                    <a:srgbClr val="484540"/>
                  </a:solidFill>
                  <a:latin typeface="Now Medium"/>
                  <a:ea typeface="Now Medium"/>
                  <a:cs typeface="Now Medium"/>
                  <a:sym typeface="Now Medium"/>
                </a:rPr>
                <a:t>Dein Weg zu mir</a:t>
              </a:r>
            </a:p>
          </p:txBody>
        </p:sp>
        <p:sp>
          <p:nvSpPr>
            <p:cNvPr name="TextBox 36" id="36"/>
            <p:cNvSpPr txBox="true"/>
            <p:nvPr/>
          </p:nvSpPr>
          <p:spPr>
            <a:xfrm rot="0">
              <a:off x="0" y="506332"/>
              <a:ext cx="3318099" cy="1075689"/>
            </a:xfrm>
            <a:prstGeom prst="rect">
              <a:avLst/>
            </a:prstGeom>
          </p:spPr>
          <p:txBody>
            <a:bodyPr anchor="t" rtlCol="false" tIns="0" lIns="0" bIns="0" rIns="0">
              <a:spAutoFit/>
            </a:bodyPr>
            <a:lstStyle/>
            <a:p>
              <a:pPr algn="l" marL="172720" indent="-86360" lvl="1">
                <a:lnSpc>
                  <a:spcPts val="1119"/>
                </a:lnSpc>
                <a:buFont typeface="Arial"/>
                <a:buChar char="•"/>
              </a:pPr>
              <a:r>
                <a:rPr lang="en-US" sz="799" spc="39">
                  <a:solidFill>
                    <a:srgbClr val="484540"/>
                  </a:solidFill>
                  <a:latin typeface="Now Light"/>
                  <a:ea typeface="Now Light"/>
                  <a:cs typeface="Now Light"/>
                  <a:sym typeface="Now Light"/>
                </a:rPr>
                <a:t>Am liebsten male ich Tiere &amp; Natur nach Fotovorlagen.</a:t>
              </a:r>
            </a:p>
            <a:p>
              <a:pPr algn="l" marL="172720" indent="-86360" lvl="1">
                <a:lnSpc>
                  <a:spcPts val="1119"/>
                </a:lnSpc>
                <a:buFont typeface="Arial"/>
                <a:buChar char="•"/>
              </a:pPr>
              <a:r>
                <a:rPr lang="en-US" sz="799" spc="39">
                  <a:solidFill>
                    <a:srgbClr val="484540"/>
                  </a:solidFill>
                  <a:latin typeface="Now Light"/>
                  <a:ea typeface="Now Light"/>
                  <a:cs typeface="Now Light"/>
                  <a:sym typeface="Now Light"/>
                </a:rPr>
                <a:t>Ich freue mich, Dich in einem Beratungs-gespräch näher kennenzulernen.</a:t>
              </a:r>
            </a:p>
            <a:p>
              <a:pPr algn="l" marL="172720" indent="-86360" lvl="1">
                <a:lnSpc>
                  <a:spcPts val="1119"/>
                </a:lnSpc>
                <a:buFont typeface="Arial"/>
                <a:buChar char="•"/>
              </a:pPr>
              <a:r>
                <a:rPr lang="en-US" sz="799" spc="39">
                  <a:solidFill>
                    <a:srgbClr val="484540"/>
                  </a:solidFill>
                  <a:latin typeface="Now Light"/>
                  <a:ea typeface="Now Light"/>
                  <a:cs typeface="Now Light"/>
                  <a:sym typeface="Now Light"/>
                </a:rPr>
                <a:t>Tel.: 0163 2662435</a:t>
              </a:r>
            </a:p>
            <a:p>
              <a:pPr algn="l" marL="172720" indent="-86360" lvl="1">
                <a:lnSpc>
                  <a:spcPts val="1119"/>
                </a:lnSpc>
                <a:buFont typeface="Arial"/>
                <a:buChar char="•"/>
              </a:pPr>
              <a:r>
                <a:rPr lang="en-US" sz="799" spc="39">
                  <a:solidFill>
                    <a:srgbClr val="484540"/>
                  </a:solidFill>
                  <a:latin typeface="Now Light"/>
                  <a:ea typeface="Now Light"/>
                  <a:cs typeface="Now Light"/>
                  <a:sym typeface="Now Light"/>
                </a:rPr>
                <a:t>E-Mail: manufaktur-malerei@web.de</a:t>
              </a:r>
            </a:p>
          </p:txBody>
        </p:sp>
        <p:sp>
          <p:nvSpPr>
            <p:cNvPr name="Freeform 37" id="37"/>
            <p:cNvSpPr/>
            <p:nvPr/>
          </p:nvSpPr>
          <p:spPr>
            <a:xfrm flipH="false" flipV="false" rot="0">
              <a:off x="3403053" y="525382"/>
              <a:ext cx="782728" cy="1041323"/>
            </a:xfrm>
            <a:custGeom>
              <a:avLst/>
              <a:gdLst/>
              <a:ahLst/>
              <a:cxnLst/>
              <a:rect r="r" b="b" t="t" l="l"/>
              <a:pathLst>
                <a:path h="1041323" w="782728">
                  <a:moveTo>
                    <a:pt x="0" y="0"/>
                  </a:moveTo>
                  <a:lnTo>
                    <a:pt x="782728" y="0"/>
                  </a:lnTo>
                  <a:lnTo>
                    <a:pt x="782728" y="1041323"/>
                  </a:lnTo>
                  <a:lnTo>
                    <a:pt x="0" y="1041323"/>
                  </a:lnTo>
                  <a:lnTo>
                    <a:pt x="0" y="0"/>
                  </a:lnTo>
                  <a:close/>
                </a:path>
              </a:pathLst>
            </a:custGeom>
            <a:blipFill>
              <a:blip r:embed="rId13"/>
              <a:stretch>
                <a:fillRect l="0" t="0" r="0" b="0"/>
              </a:stretch>
            </a:blipFill>
            <a:ln w="4762" cap="sq">
              <a:solidFill>
                <a:srgbClr val="484540"/>
              </a:solidFill>
              <a:prstDash val="solid"/>
              <a:miter/>
            </a:ln>
          </p:spPr>
        </p:sp>
      </p:gr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show="false">
  <p:cSld>
    <p:spTree>
      <p:nvGrpSpPr>
        <p:cNvPr id="1" name=""/>
        <p:cNvGrpSpPr/>
        <p:nvPr/>
      </p:nvGrpSpPr>
      <p:grpSpPr>
        <a:xfrm>
          <a:off x="0" y="0"/>
          <a:ext cx="0" cy="0"/>
          <a:chOff x="0" y="0"/>
          <a:chExt cx="0" cy="0"/>
        </a:xfrm>
      </p:grpSpPr>
      <p:sp>
        <p:nvSpPr>
          <p:cNvPr name="AutoShape 2" id="2"/>
          <p:cNvSpPr/>
          <p:nvPr/>
        </p:nvSpPr>
        <p:spPr>
          <a:xfrm flipH="true">
            <a:off x="233024" y="7049251"/>
            <a:ext cx="3056632" cy="0"/>
          </a:xfrm>
          <a:prstGeom prst="line">
            <a:avLst/>
          </a:prstGeom>
          <a:ln cap="flat" w="47625">
            <a:solidFill>
              <a:srgbClr val="484540"/>
            </a:solidFill>
            <a:prstDash val="solid"/>
            <a:headEnd type="none" len="sm" w="sm"/>
            <a:tailEnd type="none" len="sm" w="sm"/>
          </a:ln>
        </p:spPr>
      </p:sp>
      <p:sp>
        <p:nvSpPr>
          <p:cNvPr name="Freeform 3" id="3"/>
          <p:cNvSpPr/>
          <p:nvPr/>
        </p:nvSpPr>
        <p:spPr>
          <a:xfrm flipH="false" flipV="false" rot="0">
            <a:off x="3817742" y="859666"/>
            <a:ext cx="3056400" cy="2056870"/>
          </a:xfrm>
          <a:custGeom>
            <a:avLst/>
            <a:gdLst/>
            <a:ahLst/>
            <a:cxnLst/>
            <a:rect r="r" b="b" t="t" l="l"/>
            <a:pathLst>
              <a:path h="2056870" w="3056400">
                <a:moveTo>
                  <a:pt x="0" y="0"/>
                </a:moveTo>
                <a:lnTo>
                  <a:pt x="3056400" y="0"/>
                </a:lnTo>
                <a:lnTo>
                  <a:pt x="3056400" y="2056870"/>
                </a:lnTo>
                <a:lnTo>
                  <a:pt x="0" y="2056870"/>
                </a:lnTo>
                <a:lnTo>
                  <a:pt x="0" y="0"/>
                </a:lnTo>
                <a:close/>
              </a:path>
            </a:pathLst>
          </a:custGeom>
          <a:blipFill>
            <a:blip r:embed="rId2"/>
            <a:stretch>
              <a:fillRect l="-7956" t="-23132" r="-22865" b="-136375"/>
            </a:stretch>
          </a:blipFill>
          <a:ln w="4762" cap="sq">
            <a:solidFill>
              <a:srgbClr val="484540"/>
            </a:solidFill>
            <a:prstDash val="solid"/>
            <a:miter/>
          </a:ln>
        </p:spPr>
      </p:sp>
      <p:sp>
        <p:nvSpPr>
          <p:cNvPr name="TextBox 4" id="4"/>
          <p:cNvSpPr txBox="true"/>
          <p:nvPr/>
        </p:nvSpPr>
        <p:spPr>
          <a:xfrm rot="0">
            <a:off x="3817742" y="5516247"/>
            <a:ext cx="3056400" cy="324186"/>
          </a:xfrm>
          <a:prstGeom prst="rect">
            <a:avLst/>
          </a:prstGeom>
        </p:spPr>
        <p:txBody>
          <a:bodyPr anchor="t" rtlCol="false" tIns="0" lIns="0" bIns="0" rIns="0">
            <a:spAutoFit/>
          </a:bodyPr>
          <a:lstStyle/>
          <a:p>
            <a:pPr algn="l">
              <a:lnSpc>
                <a:spcPts val="2676"/>
              </a:lnSpc>
            </a:pPr>
            <a:r>
              <a:rPr lang="en-US" sz="1982" spc="164" b="true">
                <a:solidFill>
                  <a:srgbClr val="484540"/>
                </a:solidFill>
                <a:latin typeface="Now Medium"/>
                <a:ea typeface="Now Medium"/>
                <a:cs typeface="Now Medium"/>
                <a:sym typeface="Now Medium"/>
              </a:rPr>
              <a:t>Dein Weg zu mir</a:t>
            </a:r>
          </a:p>
        </p:txBody>
      </p:sp>
      <p:grpSp>
        <p:nvGrpSpPr>
          <p:cNvPr name="Group 5" id="5"/>
          <p:cNvGrpSpPr/>
          <p:nvPr/>
        </p:nvGrpSpPr>
        <p:grpSpPr>
          <a:xfrm rot="0">
            <a:off x="3817742" y="6036696"/>
            <a:ext cx="3056632" cy="792479"/>
            <a:chOff x="0" y="0"/>
            <a:chExt cx="4075509" cy="1056639"/>
          </a:xfrm>
        </p:grpSpPr>
        <p:sp>
          <p:nvSpPr>
            <p:cNvPr name="TextBox 6" id="6"/>
            <p:cNvSpPr txBox="true"/>
            <p:nvPr/>
          </p:nvSpPr>
          <p:spPr>
            <a:xfrm rot="0">
              <a:off x="0" y="-19050"/>
              <a:ext cx="3218691" cy="1075689"/>
            </a:xfrm>
            <a:prstGeom prst="rect">
              <a:avLst/>
            </a:prstGeom>
          </p:spPr>
          <p:txBody>
            <a:bodyPr anchor="t" rtlCol="false" tIns="0" lIns="0" bIns="0" rIns="0">
              <a:spAutoFit/>
            </a:bodyPr>
            <a:lstStyle/>
            <a:p>
              <a:pPr algn="l" marL="172720" indent="-86360" lvl="1">
                <a:lnSpc>
                  <a:spcPts val="1119"/>
                </a:lnSpc>
                <a:buFont typeface="Arial"/>
                <a:buChar char="•"/>
              </a:pPr>
              <a:r>
                <a:rPr lang="en-US" sz="799" spc="39">
                  <a:solidFill>
                    <a:srgbClr val="484540"/>
                  </a:solidFill>
                  <a:latin typeface="Now Light"/>
                  <a:ea typeface="Now Light"/>
                  <a:cs typeface="Now Light"/>
                  <a:sym typeface="Now Light"/>
                </a:rPr>
                <a:t>Am liebsten male ich Tiere &amp; Natur nach Fotovorlagen.</a:t>
              </a:r>
            </a:p>
            <a:p>
              <a:pPr algn="l" marL="172720" indent="-86360" lvl="1">
                <a:lnSpc>
                  <a:spcPts val="1119"/>
                </a:lnSpc>
                <a:buFont typeface="Arial"/>
                <a:buChar char="•"/>
              </a:pPr>
              <a:r>
                <a:rPr lang="en-US" sz="799" spc="39">
                  <a:solidFill>
                    <a:srgbClr val="484540"/>
                  </a:solidFill>
                  <a:latin typeface="Now Light"/>
                  <a:ea typeface="Now Light"/>
                  <a:cs typeface="Now Light"/>
                  <a:sym typeface="Now Light"/>
                </a:rPr>
                <a:t>Ich freue mich, Dich in einem Beratungs-gespräch näher kennenzulernen.</a:t>
              </a:r>
            </a:p>
            <a:p>
              <a:pPr algn="l" marL="172720" indent="-86360" lvl="1">
                <a:lnSpc>
                  <a:spcPts val="1119"/>
                </a:lnSpc>
                <a:buFont typeface="Arial"/>
                <a:buChar char="•"/>
              </a:pPr>
              <a:r>
                <a:rPr lang="en-US" sz="799" spc="39">
                  <a:solidFill>
                    <a:srgbClr val="484540"/>
                  </a:solidFill>
                  <a:latin typeface="Now Light"/>
                  <a:ea typeface="Now Light"/>
                  <a:cs typeface="Now Light"/>
                  <a:sym typeface="Now Light"/>
                </a:rPr>
                <a:t>Tel.: 0163 2662435</a:t>
              </a:r>
            </a:p>
            <a:p>
              <a:pPr algn="l" marL="172720" indent="-86360" lvl="1">
                <a:lnSpc>
                  <a:spcPts val="1119"/>
                </a:lnSpc>
                <a:buFont typeface="Arial"/>
                <a:buChar char="•"/>
              </a:pPr>
              <a:r>
                <a:rPr lang="en-US" sz="799" spc="39">
                  <a:solidFill>
                    <a:srgbClr val="484540"/>
                  </a:solidFill>
                  <a:latin typeface="Now Light"/>
                  <a:ea typeface="Now Light"/>
                  <a:cs typeface="Now Light"/>
                  <a:sym typeface="Now Light"/>
                </a:rPr>
                <a:t>E-Mail: manufaktur-malerei@web.de</a:t>
              </a:r>
            </a:p>
          </p:txBody>
        </p:sp>
        <p:sp>
          <p:nvSpPr>
            <p:cNvPr name="Freeform 7" id="7"/>
            <p:cNvSpPr/>
            <p:nvPr/>
          </p:nvSpPr>
          <p:spPr>
            <a:xfrm flipH="false" flipV="false" rot="0">
              <a:off x="3304293" y="15316"/>
              <a:ext cx="771216" cy="1026007"/>
            </a:xfrm>
            <a:custGeom>
              <a:avLst/>
              <a:gdLst/>
              <a:ahLst/>
              <a:cxnLst/>
              <a:rect r="r" b="b" t="t" l="l"/>
              <a:pathLst>
                <a:path h="1026007" w="771216">
                  <a:moveTo>
                    <a:pt x="0" y="0"/>
                  </a:moveTo>
                  <a:lnTo>
                    <a:pt x="771216" y="0"/>
                  </a:lnTo>
                  <a:lnTo>
                    <a:pt x="771216" y="1026007"/>
                  </a:lnTo>
                  <a:lnTo>
                    <a:pt x="0" y="1026007"/>
                  </a:lnTo>
                  <a:lnTo>
                    <a:pt x="0" y="0"/>
                  </a:lnTo>
                  <a:close/>
                </a:path>
              </a:pathLst>
            </a:custGeom>
            <a:blipFill>
              <a:blip r:embed="rId3"/>
              <a:stretch>
                <a:fillRect l="0" t="0" r="0" b="0"/>
              </a:stretch>
            </a:blipFill>
            <a:ln w="4762" cap="sq">
              <a:solidFill>
                <a:srgbClr val="484540"/>
              </a:solidFill>
              <a:prstDash val="solid"/>
              <a:miter/>
            </a:ln>
          </p:spPr>
        </p:sp>
      </p:grpSp>
      <p:grpSp>
        <p:nvGrpSpPr>
          <p:cNvPr name="Group 8" id="8"/>
          <p:cNvGrpSpPr/>
          <p:nvPr/>
        </p:nvGrpSpPr>
        <p:grpSpPr>
          <a:xfrm rot="0">
            <a:off x="0" y="0"/>
            <a:ext cx="3564000" cy="7560000"/>
            <a:chOff x="0" y="0"/>
            <a:chExt cx="4752000" cy="10080000"/>
          </a:xfrm>
        </p:grpSpPr>
        <p:grpSp>
          <p:nvGrpSpPr>
            <p:cNvPr name="Group 9" id="9"/>
            <p:cNvGrpSpPr/>
            <p:nvPr/>
          </p:nvGrpSpPr>
          <p:grpSpPr>
            <a:xfrm rot="0">
              <a:off x="0" y="0"/>
              <a:ext cx="4752000" cy="10080000"/>
              <a:chOff x="0" y="0"/>
              <a:chExt cx="751328" cy="1593725"/>
            </a:xfrm>
          </p:grpSpPr>
          <p:sp>
            <p:nvSpPr>
              <p:cNvPr name="Freeform 10" id="10"/>
              <p:cNvSpPr/>
              <p:nvPr/>
            </p:nvSpPr>
            <p:spPr>
              <a:xfrm flipH="false" flipV="false" rot="0">
                <a:off x="0" y="0"/>
                <a:ext cx="751328" cy="1593725"/>
              </a:xfrm>
              <a:custGeom>
                <a:avLst/>
                <a:gdLst/>
                <a:ahLst/>
                <a:cxnLst/>
                <a:rect r="r" b="b" t="t" l="l"/>
                <a:pathLst>
                  <a:path h="1593725" w="751328">
                    <a:moveTo>
                      <a:pt x="0" y="0"/>
                    </a:moveTo>
                    <a:lnTo>
                      <a:pt x="751328" y="0"/>
                    </a:lnTo>
                    <a:lnTo>
                      <a:pt x="751328" y="1593725"/>
                    </a:lnTo>
                    <a:lnTo>
                      <a:pt x="0" y="1593725"/>
                    </a:lnTo>
                    <a:close/>
                  </a:path>
                </a:pathLst>
              </a:custGeom>
              <a:blipFill>
                <a:blip r:embed="rId4"/>
                <a:stretch>
                  <a:fillRect l="-141374" t="-13201" r="-112345" b="-11864"/>
                </a:stretch>
              </a:blipFill>
            </p:spPr>
          </p:sp>
        </p:grpSp>
        <p:grpSp>
          <p:nvGrpSpPr>
            <p:cNvPr name="Group 11" id="11"/>
            <p:cNvGrpSpPr/>
            <p:nvPr/>
          </p:nvGrpSpPr>
          <p:grpSpPr>
            <a:xfrm rot="0">
              <a:off x="0" y="0"/>
              <a:ext cx="4752000" cy="10080000"/>
              <a:chOff x="0" y="0"/>
              <a:chExt cx="1277257" cy="2709333"/>
            </a:xfrm>
          </p:grpSpPr>
          <p:sp>
            <p:nvSpPr>
              <p:cNvPr name="Freeform 12" id="12"/>
              <p:cNvSpPr/>
              <p:nvPr/>
            </p:nvSpPr>
            <p:spPr>
              <a:xfrm flipH="false" flipV="false" rot="0">
                <a:off x="0" y="0"/>
                <a:ext cx="1277257" cy="2709333"/>
              </a:xfrm>
              <a:custGeom>
                <a:avLst/>
                <a:gdLst/>
                <a:ahLst/>
                <a:cxnLst/>
                <a:rect r="r" b="b" t="t" l="l"/>
                <a:pathLst>
                  <a:path h="2709333" w="1277257">
                    <a:moveTo>
                      <a:pt x="0" y="0"/>
                    </a:moveTo>
                    <a:lnTo>
                      <a:pt x="1277257" y="0"/>
                    </a:lnTo>
                    <a:lnTo>
                      <a:pt x="1277257" y="2709333"/>
                    </a:lnTo>
                    <a:lnTo>
                      <a:pt x="0" y="2709333"/>
                    </a:lnTo>
                    <a:close/>
                  </a:path>
                </a:pathLst>
              </a:custGeom>
              <a:solidFill>
                <a:srgbClr val="D9D9D9">
                  <a:alpha val="49804"/>
                </a:srgbClr>
              </a:solidFill>
            </p:spPr>
          </p:sp>
          <p:sp>
            <p:nvSpPr>
              <p:cNvPr name="TextBox 13" id="13"/>
              <p:cNvSpPr txBox="true"/>
              <p:nvPr/>
            </p:nvSpPr>
            <p:spPr>
              <a:xfrm>
                <a:off x="0" y="-19050"/>
                <a:ext cx="1277257" cy="2728383"/>
              </a:xfrm>
              <a:prstGeom prst="rect">
                <a:avLst/>
              </a:prstGeom>
            </p:spPr>
            <p:txBody>
              <a:bodyPr anchor="ctr" rtlCol="false" tIns="50800" lIns="50800" bIns="50800" rIns="50800"/>
              <a:lstStyle/>
              <a:p>
                <a:pPr algn="ctr">
                  <a:lnSpc>
                    <a:spcPts val="1889"/>
                  </a:lnSpc>
                </a:pPr>
              </a:p>
            </p:txBody>
          </p:sp>
        </p:grpSp>
      </p:grpSp>
      <p:grpSp>
        <p:nvGrpSpPr>
          <p:cNvPr name="Group 14" id="14"/>
          <p:cNvGrpSpPr/>
          <p:nvPr/>
        </p:nvGrpSpPr>
        <p:grpSpPr>
          <a:xfrm rot="0">
            <a:off x="7128000" y="0"/>
            <a:ext cx="3564000" cy="7560000"/>
            <a:chOff x="0" y="0"/>
            <a:chExt cx="4752000" cy="10080000"/>
          </a:xfrm>
        </p:grpSpPr>
        <p:grpSp>
          <p:nvGrpSpPr>
            <p:cNvPr name="Group 15" id="15"/>
            <p:cNvGrpSpPr/>
            <p:nvPr/>
          </p:nvGrpSpPr>
          <p:grpSpPr>
            <a:xfrm rot="0">
              <a:off x="0" y="0"/>
              <a:ext cx="4752000" cy="10080000"/>
              <a:chOff x="0" y="0"/>
              <a:chExt cx="751328" cy="1593725"/>
            </a:xfrm>
          </p:grpSpPr>
          <p:sp>
            <p:nvSpPr>
              <p:cNvPr name="Freeform 16" id="16"/>
              <p:cNvSpPr/>
              <p:nvPr/>
            </p:nvSpPr>
            <p:spPr>
              <a:xfrm flipH="false" flipV="false" rot="0">
                <a:off x="0" y="0"/>
                <a:ext cx="751328" cy="1593725"/>
              </a:xfrm>
              <a:custGeom>
                <a:avLst/>
                <a:gdLst/>
                <a:ahLst/>
                <a:cxnLst/>
                <a:rect r="r" b="b" t="t" l="l"/>
                <a:pathLst>
                  <a:path h="1593725" w="751328">
                    <a:moveTo>
                      <a:pt x="0" y="0"/>
                    </a:moveTo>
                    <a:lnTo>
                      <a:pt x="751328" y="0"/>
                    </a:lnTo>
                    <a:lnTo>
                      <a:pt x="751328" y="1593725"/>
                    </a:lnTo>
                    <a:lnTo>
                      <a:pt x="0" y="1593725"/>
                    </a:lnTo>
                    <a:close/>
                  </a:path>
                </a:pathLst>
              </a:custGeom>
              <a:blipFill>
                <a:blip r:embed="rId5"/>
                <a:stretch>
                  <a:fillRect l="-81276" t="-4801" r="-121533" b="-2203"/>
                </a:stretch>
              </a:blipFill>
            </p:spPr>
          </p:sp>
        </p:grpSp>
        <p:grpSp>
          <p:nvGrpSpPr>
            <p:cNvPr name="Group 17" id="17"/>
            <p:cNvGrpSpPr/>
            <p:nvPr/>
          </p:nvGrpSpPr>
          <p:grpSpPr>
            <a:xfrm rot="0">
              <a:off x="0" y="0"/>
              <a:ext cx="4752000" cy="10080000"/>
              <a:chOff x="0" y="0"/>
              <a:chExt cx="1277257" cy="2709333"/>
            </a:xfrm>
          </p:grpSpPr>
          <p:sp>
            <p:nvSpPr>
              <p:cNvPr name="Freeform 18" id="18"/>
              <p:cNvSpPr/>
              <p:nvPr/>
            </p:nvSpPr>
            <p:spPr>
              <a:xfrm flipH="false" flipV="false" rot="0">
                <a:off x="0" y="0"/>
                <a:ext cx="1277257" cy="2709333"/>
              </a:xfrm>
              <a:custGeom>
                <a:avLst/>
                <a:gdLst/>
                <a:ahLst/>
                <a:cxnLst/>
                <a:rect r="r" b="b" t="t" l="l"/>
                <a:pathLst>
                  <a:path h="2709333" w="1277257">
                    <a:moveTo>
                      <a:pt x="0" y="0"/>
                    </a:moveTo>
                    <a:lnTo>
                      <a:pt x="1277257" y="0"/>
                    </a:lnTo>
                    <a:lnTo>
                      <a:pt x="1277257" y="2709333"/>
                    </a:lnTo>
                    <a:lnTo>
                      <a:pt x="0" y="2709333"/>
                    </a:lnTo>
                    <a:close/>
                  </a:path>
                </a:pathLst>
              </a:custGeom>
              <a:solidFill>
                <a:srgbClr val="D9D9D9">
                  <a:alpha val="27843"/>
                </a:srgbClr>
              </a:solidFill>
            </p:spPr>
          </p:sp>
          <p:sp>
            <p:nvSpPr>
              <p:cNvPr name="TextBox 19" id="19"/>
              <p:cNvSpPr txBox="true"/>
              <p:nvPr/>
            </p:nvSpPr>
            <p:spPr>
              <a:xfrm>
                <a:off x="0" y="-19050"/>
                <a:ext cx="1277257" cy="2728383"/>
              </a:xfrm>
              <a:prstGeom prst="rect">
                <a:avLst/>
              </a:prstGeom>
            </p:spPr>
            <p:txBody>
              <a:bodyPr anchor="ctr" rtlCol="false" tIns="50800" lIns="50800" bIns="50800" rIns="50800"/>
              <a:lstStyle/>
              <a:p>
                <a:pPr algn="ctr">
                  <a:lnSpc>
                    <a:spcPts val="1889"/>
                  </a:lnSpc>
                </a:pPr>
              </a:p>
            </p:txBody>
          </p:sp>
        </p:grpSp>
      </p:grpSp>
      <p:sp>
        <p:nvSpPr>
          <p:cNvPr name="Freeform 20" id="20"/>
          <p:cNvSpPr/>
          <p:nvPr/>
        </p:nvSpPr>
        <p:spPr>
          <a:xfrm flipH="false" flipV="false" rot="0">
            <a:off x="7409591" y="5133608"/>
            <a:ext cx="3000818" cy="2035100"/>
          </a:xfrm>
          <a:custGeom>
            <a:avLst/>
            <a:gdLst/>
            <a:ahLst/>
            <a:cxnLst/>
            <a:rect r="r" b="b" t="t" l="l"/>
            <a:pathLst>
              <a:path h="2035100" w="3000818">
                <a:moveTo>
                  <a:pt x="0" y="0"/>
                </a:moveTo>
                <a:lnTo>
                  <a:pt x="3000818" y="0"/>
                </a:lnTo>
                <a:lnTo>
                  <a:pt x="3000818" y="2035100"/>
                </a:lnTo>
                <a:lnTo>
                  <a:pt x="0" y="2035100"/>
                </a:lnTo>
                <a:lnTo>
                  <a:pt x="0" y="0"/>
                </a:lnTo>
                <a:close/>
              </a:path>
            </a:pathLst>
          </a:custGeom>
          <a:blipFill>
            <a:blip r:embed="rId6">
              <a:alphaModFix amt="77000"/>
              <a:extLst>
                <a:ext uri="{96DAC541-7B7A-43D3-8B79-37D633B846F1}">
                  <asvg:svgBlip xmlns:asvg="http://schemas.microsoft.com/office/drawing/2016/SVG/main" r:embed="rId7"/>
                </a:ext>
              </a:extLst>
            </a:blip>
            <a:stretch>
              <a:fillRect l="0" t="0" r="0" b="0"/>
            </a:stretch>
          </a:blipFill>
        </p:spPr>
      </p:sp>
      <p:sp>
        <p:nvSpPr>
          <p:cNvPr name="Freeform 21" id="21"/>
          <p:cNvSpPr/>
          <p:nvPr/>
        </p:nvSpPr>
        <p:spPr>
          <a:xfrm flipH="false" flipV="false" rot="0">
            <a:off x="7171754" y="5142976"/>
            <a:ext cx="3476491" cy="2016365"/>
          </a:xfrm>
          <a:custGeom>
            <a:avLst/>
            <a:gdLst/>
            <a:ahLst/>
            <a:cxnLst/>
            <a:rect r="r" b="b" t="t" l="l"/>
            <a:pathLst>
              <a:path h="2016365" w="3476491">
                <a:moveTo>
                  <a:pt x="0" y="0"/>
                </a:moveTo>
                <a:lnTo>
                  <a:pt x="3476492" y="0"/>
                </a:lnTo>
                <a:lnTo>
                  <a:pt x="3476492" y="2016365"/>
                </a:lnTo>
                <a:lnTo>
                  <a:pt x="0" y="2016365"/>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22" id="22"/>
          <p:cNvSpPr/>
          <p:nvPr/>
        </p:nvSpPr>
        <p:spPr>
          <a:xfrm flipH="false" flipV="false" rot="0">
            <a:off x="9703549" y="6234940"/>
            <a:ext cx="392902" cy="424186"/>
          </a:xfrm>
          <a:custGeom>
            <a:avLst/>
            <a:gdLst/>
            <a:ahLst/>
            <a:cxnLst/>
            <a:rect r="r" b="b" t="t" l="l"/>
            <a:pathLst>
              <a:path h="424186" w="392902">
                <a:moveTo>
                  <a:pt x="0" y="0"/>
                </a:moveTo>
                <a:lnTo>
                  <a:pt x="392902" y="0"/>
                </a:lnTo>
                <a:lnTo>
                  <a:pt x="392902" y="424186"/>
                </a:lnTo>
                <a:lnTo>
                  <a:pt x="0" y="424186"/>
                </a:lnTo>
                <a:lnTo>
                  <a:pt x="0" y="0"/>
                </a:lnTo>
                <a:close/>
              </a:path>
            </a:pathLst>
          </a:custGeom>
          <a:blipFill>
            <a:blip r:embed="rId10"/>
            <a:stretch>
              <a:fillRect l="0" t="0" r="0" b="0"/>
            </a:stretch>
          </a:blipFill>
        </p:spPr>
      </p:sp>
      <p:sp>
        <p:nvSpPr>
          <p:cNvPr name="Freeform 23" id="23"/>
          <p:cNvSpPr/>
          <p:nvPr/>
        </p:nvSpPr>
        <p:spPr>
          <a:xfrm flipH="false" flipV="false" rot="0">
            <a:off x="7439599" y="5544822"/>
            <a:ext cx="1234106" cy="993707"/>
          </a:xfrm>
          <a:custGeom>
            <a:avLst/>
            <a:gdLst/>
            <a:ahLst/>
            <a:cxnLst/>
            <a:rect r="r" b="b" t="t" l="l"/>
            <a:pathLst>
              <a:path h="993707" w="1234106">
                <a:moveTo>
                  <a:pt x="0" y="0"/>
                </a:moveTo>
                <a:lnTo>
                  <a:pt x="1234106" y="0"/>
                </a:lnTo>
                <a:lnTo>
                  <a:pt x="1234106" y="993706"/>
                </a:lnTo>
                <a:lnTo>
                  <a:pt x="0" y="993706"/>
                </a:lnTo>
                <a:lnTo>
                  <a:pt x="0" y="0"/>
                </a:lnTo>
                <a:close/>
              </a:path>
            </a:pathLst>
          </a:custGeom>
          <a:blipFill>
            <a:blip r:embed="rId11"/>
            <a:stretch>
              <a:fillRect l="0" t="-7781" r="0" b="-11753"/>
            </a:stretch>
          </a:blipFill>
        </p:spPr>
      </p:sp>
      <p:sp>
        <p:nvSpPr>
          <p:cNvPr name="TextBox 24" id="24"/>
          <p:cNvSpPr txBox="true"/>
          <p:nvPr/>
        </p:nvSpPr>
        <p:spPr>
          <a:xfrm rot="0">
            <a:off x="7592146" y="5784954"/>
            <a:ext cx="1149463" cy="496135"/>
          </a:xfrm>
          <a:prstGeom prst="rect">
            <a:avLst/>
          </a:prstGeom>
        </p:spPr>
        <p:txBody>
          <a:bodyPr anchor="t" rtlCol="false" tIns="0" lIns="0" bIns="0" rIns="0">
            <a:spAutoFit/>
          </a:bodyPr>
          <a:lstStyle/>
          <a:p>
            <a:pPr algn="ctr">
              <a:lnSpc>
                <a:spcPts val="4089"/>
              </a:lnSpc>
              <a:spcBef>
                <a:spcPct val="0"/>
              </a:spcBef>
            </a:pPr>
            <a:r>
              <a:rPr lang="en-US" sz="3029" spc="290">
                <a:solidFill>
                  <a:srgbClr val="004AAD"/>
                </a:solidFill>
                <a:latin typeface="Great Vibes"/>
                <a:ea typeface="Great Vibes"/>
                <a:cs typeface="Great Vibes"/>
                <a:sym typeface="Great Vibes"/>
              </a:rPr>
              <a:t>Manu</a:t>
            </a:r>
          </a:p>
        </p:txBody>
      </p:sp>
      <p:sp>
        <p:nvSpPr>
          <p:cNvPr name="TextBox 25" id="25"/>
          <p:cNvSpPr txBox="true"/>
          <p:nvPr/>
        </p:nvSpPr>
        <p:spPr>
          <a:xfrm rot="0">
            <a:off x="8673705" y="5839599"/>
            <a:ext cx="1618674" cy="386845"/>
          </a:xfrm>
          <a:prstGeom prst="rect">
            <a:avLst/>
          </a:prstGeom>
        </p:spPr>
        <p:txBody>
          <a:bodyPr anchor="t" rtlCol="false" tIns="0" lIns="0" bIns="0" rIns="0">
            <a:spAutoFit/>
          </a:bodyPr>
          <a:lstStyle/>
          <a:p>
            <a:pPr algn="ctr">
              <a:lnSpc>
                <a:spcPts val="3132"/>
              </a:lnSpc>
              <a:spcBef>
                <a:spcPct val="0"/>
              </a:spcBef>
            </a:pPr>
            <a:r>
              <a:rPr lang="en-US" sz="2320" spc="549">
                <a:solidFill>
                  <a:srgbClr val="004AAD"/>
                </a:solidFill>
                <a:latin typeface="Cheque Bold"/>
                <a:ea typeface="Cheque Bold"/>
                <a:cs typeface="Cheque Bold"/>
                <a:sym typeface="Cheque Bold"/>
              </a:rPr>
              <a:t>FAKTUR</a:t>
            </a:r>
          </a:p>
        </p:txBody>
      </p:sp>
      <p:sp>
        <p:nvSpPr>
          <p:cNvPr name="TextBox 26" id="26"/>
          <p:cNvSpPr txBox="true"/>
          <p:nvPr/>
        </p:nvSpPr>
        <p:spPr>
          <a:xfrm rot="0">
            <a:off x="8326520" y="6452543"/>
            <a:ext cx="1166959" cy="109588"/>
          </a:xfrm>
          <a:prstGeom prst="rect">
            <a:avLst/>
          </a:prstGeom>
        </p:spPr>
        <p:txBody>
          <a:bodyPr anchor="t" rtlCol="false" tIns="0" lIns="0" bIns="0" rIns="0">
            <a:spAutoFit/>
          </a:bodyPr>
          <a:lstStyle/>
          <a:p>
            <a:pPr algn="ctr">
              <a:lnSpc>
                <a:spcPts val="813"/>
              </a:lnSpc>
              <a:spcBef>
                <a:spcPct val="0"/>
              </a:spcBef>
            </a:pPr>
            <a:r>
              <a:rPr lang="en-US" sz="602" spc="142">
                <a:solidFill>
                  <a:srgbClr val="000000"/>
                </a:solidFill>
                <a:latin typeface="Now"/>
                <a:ea typeface="Now"/>
                <a:cs typeface="Now"/>
                <a:sym typeface="Now"/>
              </a:rPr>
              <a:t>Individuelle Malerei</a:t>
            </a:r>
          </a:p>
        </p:txBody>
      </p:sp>
      <p:sp>
        <p:nvSpPr>
          <p:cNvPr name="Freeform 27" id="27"/>
          <p:cNvSpPr/>
          <p:nvPr/>
        </p:nvSpPr>
        <p:spPr>
          <a:xfrm flipH="false" flipV="false" rot="0">
            <a:off x="8441783" y="6577198"/>
            <a:ext cx="114691" cy="114691"/>
          </a:xfrm>
          <a:custGeom>
            <a:avLst/>
            <a:gdLst/>
            <a:ahLst/>
            <a:cxnLst/>
            <a:rect r="r" b="b" t="t" l="l"/>
            <a:pathLst>
              <a:path h="114691" w="114691">
                <a:moveTo>
                  <a:pt x="0" y="0"/>
                </a:moveTo>
                <a:lnTo>
                  <a:pt x="114691" y="0"/>
                </a:lnTo>
                <a:lnTo>
                  <a:pt x="114691" y="114691"/>
                </a:lnTo>
                <a:lnTo>
                  <a:pt x="0" y="114691"/>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TextBox 28" id="28"/>
          <p:cNvSpPr txBox="true"/>
          <p:nvPr/>
        </p:nvSpPr>
        <p:spPr>
          <a:xfrm rot="0">
            <a:off x="8613448" y="6570409"/>
            <a:ext cx="764769" cy="109220"/>
          </a:xfrm>
          <a:prstGeom prst="rect">
            <a:avLst/>
          </a:prstGeom>
        </p:spPr>
        <p:txBody>
          <a:bodyPr anchor="t" rtlCol="false" tIns="0" lIns="0" bIns="0" rIns="0">
            <a:spAutoFit/>
          </a:bodyPr>
          <a:lstStyle/>
          <a:p>
            <a:pPr algn="l">
              <a:lnSpc>
                <a:spcPts val="810"/>
              </a:lnSpc>
              <a:spcBef>
                <a:spcPct val="0"/>
              </a:spcBef>
            </a:pPr>
            <a:r>
              <a:rPr lang="en-US" sz="600" spc="142">
                <a:solidFill>
                  <a:srgbClr val="000000"/>
                </a:solidFill>
                <a:latin typeface="Now"/>
                <a:ea typeface="Now"/>
                <a:cs typeface="Now"/>
                <a:sym typeface="Now"/>
              </a:rPr>
              <a:t>0163 2662435</a:t>
            </a:r>
          </a:p>
        </p:txBody>
      </p:sp>
      <p:sp>
        <p:nvSpPr>
          <p:cNvPr name="TextBox 29" id="29"/>
          <p:cNvSpPr txBox="true"/>
          <p:nvPr/>
        </p:nvSpPr>
        <p:spPr>
          <a:xfrm rot="0">
            <a:off x="8088410" y="6251912"/>
            <a:ext cx="1643181" cy="155355"/>
          </a:xfrm>
          <a:prstGeom prst="rect">
            <a:avLst/>
          </a:prstGeom>
        </p:spPr>
        <p:txBody>
          <a:bodyPr anchor="t" rtlCol="false" tIns="0" lIns="0" bIns="0" rIns="0">
            <a:spAutoFit/>
          </a:bodyPr>
          <a:lstStyle/>
          <a:p>
            <a:pPr algn="ctr">
              <a:lnSpc>
                <a:spcPts val="1218"/>
              </a:lnSpc>
              <a:spcBef>
                <a:spcPct val="0"/>
              </a:spcBef>
            </a:pPr>
            <a:r>
              <a:rPr lang="en-US" sz="902" spc="213">
                <a:solidFill>
                  <a:srgbClr val="000000"/>
                </a:solidFill>
                <a:latin typeface="Now"/>
                <a:ea typeface="Now"/>
                <a:cs typeface="Now"/>
                <a:sym typeface="Now"/>
              </a:rPr>
              <a:t>Manuela Schenk</a:t>
            </a:r>
          </a:p>
        </p:txBody>
      </p:sp>
      <p:grpSp>
        <p:nvGrpSpPr>
          <p:cNvPr name="Group 30" id="30"/>
          <p:cNvGrpSpPr/>
          <p:nvPr/>
        </p:nvGrpSpPr>
        <p:grpSpPr>
          <a:xfrm rot="0">
            <a:off x="3817742" y="3112800"/>
            <a:ext cx="3056400" cy="1055121"/>
            <a:chOff x="0" y="0"/>
            <a:chExt cx="4075200" cy="1406828"/>
          </a:xfrm>
        </p:grpSpPr>
        <p:sp>
          <p:nvSpPr>
            <p:cNvPr name="TextBox 31" id="31"/>
            <p:cNvSpPr txBox="true"/>
            <p:nvPr/>
          </p:nvSpPr>
          <p:spPr>
            <a:xfrm rot="0">
              <a:off x="0" y="511762"/>
              <a:ext cx="4075200" cy="895067"/>
            </a:xfrm>
            <a:prstGeom prst="rect">
              <a:avLst/>
            </a:prstGeom>
          </p:spPr>
          <p:txBody>
            <a:bodyPr anchor="t" rtlCol="false" tIns="0" lIns="0" bIns="0" rIns="0">
              <a:spAutoFit/>
            </a:bodyPr>
            <a:lstStyle/>
            <a:p>
              <a:pPr algn="l" marL="172720" indent="-86360" lvl="1">
                <a:lnSpc>
                  <a:spcPts val="1119"/>
                </a:lnSpc>
                <a:buFont typeface="Arial"/>
                <a:buChar char="•"/>
              </a:pPr>
              <a:r>
                <a:rPr lang="en-US" sz="799" spc="39">
                  <a:solidFill>
                    <a:srgbClr val="484540"/>
                  </a:solidFill>
                  <a:latin typeface="Now Light"/>
                  <a:ea typeface="Now Light"/>
                  <a:cs typeface="Now Light"/>
                  <a:sym typeface="Now Light"/>
                </a:rPr>
                <a:t>Frauchen von Balou :)</a:t>
              </a:r>
            </a:p>
            <a:p>
              <a:pPr algn="l" marL="172720" indent="-86360" lvl="1">
                <a:lnSpc>
                  <a:spcPts val="1119"/>
                </a:lnSpc>
                <a:buFont typeface="Arial"/>
                <a:buChar char="•"/>
              </a:pPr>
              <a:r>
                <a:rPr lang="en-US" sz="799" spc="39">
                  <a:solidFill>
                    <a:srgbClr val="484540"/>
                  </a:solidFill>
                  <a:latin typeface="Now"/>
                  <a:ea typeface="Now"/>
                  <a:cs typeface="Now"/>
                  <a:sym typeface="Now"/>
                </a:rPr>
                <a:t>L</a:t>
              </a:r>
              <a:r>
                <a:rPr lang="en-US" sz="799" spc="39">
                  <a:solidFill>
                    <a:srgbClr val="484540"/>
                  </a:solidFill>
                  <a:latin typeface="Now Light"/>
                  <a:ea typeface="Now Light"/>
                  <a:cs typeface="Now Light"/>
                  <a:sym typeface="Now Light"/>
                </a:rPr>
                <a:t>eidenschaftliche Hobbymalerin (Acryl und Öl, Hundeliebhaberin und Naturfreundin – besonders im Wald finde ich oft die Inspiration für meine Arbeiten.</a:t>
              </a:r>
            </a:p>
          </p:txBody>
        </p:sp>
        <p:sp>
          <p:nvSpPr>
            <p:cNvPr name="TextBox 32" id="32"/>
            <p:cNvSpPr txBox="true"/>
            <p:nvPr/>
          </p:nvSpPr>
          <p:spPr>
            <a:xfrm rot="0">
              <a:off x="0" y="-28575"/>
              <a:ext cx="4075200" cy="422723"/>
            </a:xfrm>
            <a:prstGeom prst="rect">
              <a:avLst/>
            </a:prstGeom>
          </p:spPr>
          <p:txBody>
            <a:bodyPr anchor="t" rtlCol="false" tIns="0" lIns="0" bIns="0" rIns="0">
              <a:spAutoFit/>
            </a:bodyPr>
            <a:lstStyle/>
            <a:p>
              <a:pPr algn="l">
                <a:lnSpc>
                  <a:spcPts val="2676"/>
                </a:lnSpc>
              </a:pPr>
              <a:r>
                <a:rPr lang="en-US" sz="1982" spc="164" b="true">
                  <a:solidFill>
                    <a:srgbClr val="484540"/>
                  </a:solidFill>
                  <a:latin typeface="Now Medium"/>
                  <a:ea typeface="Now Medium"/>
                  <a:cs typeface="Now Medium"/>
                  <a:sym typeface="Now Medium"/>
                </a:rPr>
                <a:t>Wer bin ich?</a:t>
              </a:r>
            </a:p>
          </p:txBody>
        </p:sp>
      </p:grpSp>
      <p:grpSp>
        <p:nvGrpSpPr>
          <p:cNvPr name="Group 33" id="33"/>
          <p:cNvGrpSpPr/>
          <p:nvPr/>
        </p:nvGrpSpPr>
        <p:grpSpPr>
          <a:xfrm rot="0">
            <a:off x="3817742" y="4228718"/>
            <a:ext cx="3056400" cy="1119840"/>
            <a:chOff x="0" y="0"/>
            <a:chExt cx="4075200" cy="1493120"/>
          </a:xfrm>
        </p:grpSpPr>
        <p:sp>
          <p:nvSpPr>
            <p:cNvPr name="TextBox 34" id="34"/>
            <p:cNvSpPr txBox="true"/>
            <p:nvPr/>
          </p:nvSpPr>
          <p:spPr>
            <a:xfrm rot="0">
              <a:off x="0" y="-28575"/>
              <a:ext cx="4075200" cy="867223"/>
            </a:xfrm>
            <a:prstGeom prst="rect">
              <a:avLst/>
            </a:prstGeom>
          </p:spPr>
          <p:txBody>
            <a:bodyPr anchor="t" rtlCol="false" tIns="0" lIns="0" bIns="0" rIns="0">
              <a:spAutoFit/>
            </a:bodyPr>
            <a:lstStyle/>
            <a:p>
              <a:pPr algn="l">
                <a:lnSpc>
                  <a:spcPts val="2676"/>
                </a:lnSpc>
              </a:pPr>
              <a:r>
                <a:rPr lang="en-US" sz="1982" spc="164" b="true">
                  <a:solidFill>
                    <a:srgbClr val="484540"/>
                  </a:solidFill>
                  <a:latin typeface="Now Medium"/>
                  <a:ea typeface="Now Medium"/>
                  <a:cs typeface="Now Medium"/>
                  <a:sym typeface="Now Medium"/>
                </a:rPr>
                <a:t>Mein Weg zur Malerei</a:t>
              </a:r>
            </a:p>
          </p:txBody>
        </p:sp>
        <p:sp>
          <p:nvSpPr>
            <p:cNvPr name="TextBox 35" id="35"/>
            <p:cNvSpPr txBox="true"/>
            <p:nvPr/>
          </p:nvSpPr>
          <p:spPr>
            <a:xfrm rot="0">
              <a:off x="0" y="959298"/>
              <a:ext cx="4075200" cy="533823"/>
            </a:xfrm>
            <a:prstGeom prst="rect">
              <a:avLst/>
            </a:prstGeom>
          </p:spPr>
          <p:txBody>
            <a:bodyPr anchor="t" rtlCol="false" tIns="0" lIns="0" bIns="0" rIns="0">
              <a:spAutoFit/>
            </a:bodyPr>
            <a:lstStyle/>
            <a:p>
              <a:pPr algn="l" marL="172720" indent="-86360" lvl="1">
                <a:lnSpc>
                  <a:spcPts val="1119"/>
                </a:lnSpc>
                <a:buFont typeface="Arial"/>
                <a:buChar char="•"/>
              </a:pPr>
              <a:r>
                <a:rPr lang="en-US" sz="799" spc="39">
                  <a:solidFill>
                    <a:srgbClr val="484540"/>
                  </a:solidFill>
                  <a:latin typeface="Now Light"/>
                  <a:ea typeface="Now Light"/>
                  <a:cs typeface="Now Light"/>
                  <a:sym typeface="Now Light"/>
                </a:rPr>
                <a:t>Zahlreiche Kunst-/Mal-Lehrgänge im Alanus Werkhaus Alfter</a:t>
              </a:r>
            </a:p>
            <a:p>
              <a:pPr algn="l" marL="172720" indent="-86360" lvl="1">
                <a:lnSpc>
                  <a:spcPts val="1119"/>
                </a:lnSpc>
                <a:buFont typeface="Arial"/>
                <a:buChar char="•"/>
              </a:pPr>
              <a:r>
                <a:rPr lang="en-US" sz="799" spc="39">
                  <a:solidFill>
                    <a:srgbClr val="484540"/>
                  </a:solidFill>
                  <a:latin typeface="Now Light"/>
                  <a:ea typeface="Now Light"/>
                  <a:cs typeface="Now Light"/>
                  <a:sym typeface="Now Light"/>
                </a:rPr>
                <a:t>Private Malkurse bei promovierter Dozentin </a:t>
              </a:r>
            </a:p>
          </p:txBody>
        </p:sp>
      </p:grpSp>
      <p:sp>
        <p:nvSpPr>
          <p:cNvPr name="AutoShape 36" id="36"/>
          <p:cNvSpPr/>
          <p:nvPr/>
        </p:nvSpPr>
        <p:spPr>
          <a:xfrm flipH="true">
            <a:off x="3817742" y="639590"/>
            <a:ext cx="3056632" cy="0"/>
          </a:xfrm>
          <a:prstGeom prst="line">
            <a:avLst/>
          </a:prstGeom>
          <a:ln cap="flat" w="47625">
            <a:solidFill>
              <a:srgbClr val="484540"/>
            </a:solidFill>
            <a:prstDash val="solid"/>
            <a:headEnd type="none" len="sm" w="sm"/>
            <a:tailEnd type="none" len="sm" w="sm"/>
          </a:ln>
        </p:spPr>
      </p:sp>
      <p:sp>
        <p:nvSpPr>
          <p:cNvPr name="AutoShape 37" id="37"/>
          <p:cNvSpPr/>
          <p:nvPr/>
        </p:nvSpPr>
        <p:spPr>
          <a:xfrm flipH="true">
            <a:off x="3817742" y="7049251"/>
            <a:ext cx="3056632" cy="0"/>
          </a:xfrm>
          <a:prstGeom prst="line">
            <a:avLst/>
          </a:prstGeom>
          <a:ln cap="flat" w="47625">
            <a:solidFill>
              <a:srgbClr val="484540"/>
            </a:solidFill>
            <a:prstDash val="solid"/>
            <a:headEnd type="none" len="sm" w="sm"/>
            <a:tailEnd type="none" len="sm" w="sm"/>
          </a:ln>
        </p:spPr>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show="false">
  <p:cSld>
    <p:spTree>
      <p:nvGrpSpPr>
        <p:cNvPr id="1" name=""/>
        <p:cNvGrpSpPr/>
        <p:nvPr/>
      </p:nvGrpSpPr>
      <p:grpSpPr>
        <a:xfrm>
          <a:off x="0" y="0"/>
          <a:ext cx="0" cy="0"/>
          <a:chOff x="0" y="0"/>
          <a:chExt cx="0" cy="0"/>
        </a:xfrm>
      </p:grpSpPr>
      <p:sp>
        <p:nvSpPr>
          <p:cNvPr name="AutoShape 2" id="2"/>
          <p:cNvSpPr/>
          <p:nvPr/>
        </p:nvSpPr>
        <p:spPr>
          <a:xfrm>
            <a:off x="3864638" y="638235"/>
            <a:ext cx="7030276" cy="0"/>
          </a:xfrm>
          <a:prstGeom prst="line">
            <a:avLst/>
          </a:prstGeom>
          <a:ln cap="flat" w="47625">
            <a:solidFill>
              <a:srgbClr val="484540"/>
            </a:solidFill>
            <a:prstDash val="solid"/>
            <a:headEnd type="none" len="sm" w="sm"/>
            <a:tailEnd type="none" len="sm" w="sm"/>
          </a:ln>
        </p:spPr>
      </p:sp>
      <p:sp>
        <p:nvSpPr>
          <p:cNvPr name="AutoShape 3" id="3"/>
          <p:cNvSpPr/>
          <p:nvPr/>
        </p:nvSpPr>
        <p:spPr>
          <a:xfrm flipH="true">
            <a:off x="233024" y="7049251"/>
            <a:ext cx="3056632" cy="0"/>
          </a:xfrm>
          <a:prstGeom prst="line">
            <a:avLst/>
          </a:prstGeom>
          <a:ln cap="flat" w="47625">
            <a:solidFill>
              <a:srgbClr val="484540"/>
            </a:solidFill>
            <a:prstDash val="solid"/>
            <a:headEnd type="none" len="sm" w="sm"/>
            <a:tailEnd type="none" len="sm" w="sm"/>
          </a:ln>
        </p:spPr>
      </p:sp>
      <p:sp>
        <p:nvSpPr>
          <p:cNvPr name="AutoShape 4" id="4"/>
          <p:cNvSpPr/>
          <p:nvPr/>
        </p:nvSpPr>
        <p:spPr>
          <a:xfrm flipH="true">
            <a:off x="7331178" y="7059436"/>
            <a:ext cx="3056632" cy="0"/>
          </a:xfrm>
          <a:prstGeom prst="line">
            <a:avLst/>
          </a:prstGeom>
          <a:ln cap="flat" w="47625">
            <a:solidFill>
              <a:srgbClr val="484540"/>
            </a:solidFill>
            <a:prstDash val="solid"/>
            <a:headEnd type="none" len="sm" w="sm"/>
            <a:tailEnd type="none" len="sm" w="sm"/>
          </a:ln>
        </p:spPr>
      </p:sp>
      <p:sp>
        <p:nvSpPr>
          <p:cNvPr name="AutoShape 5" id="5"/>
          <p:cNvSpPr/>
          <p:nvPr/>
        </p:nvSpPr>
        <p:spPr>
          <a:xfrm flipH="true">
            <a:off x="3864638" y="7049251"/>
            <a:ext cx="3056632" cy="0"/>
          </a:xfrm>
          <a:prstGeom prst="line">
            <a:avLst/>
          </a:prstGeom>
          <a:ln cap="flat" w="47625">
            <a:solidFill>
              <a:srgbClr val="484540"/>
            </a:solidFill>
            <a:prstDash val="solid"/>
            <a:headEnd type="none" len="sm" w="sm"/>
            <a:tailEnd type="none" len="sm" w="sm"/>
          </a:ln>
        </p:spPr>
      </p:sp>
      <p:sp>
        <p:nvSpPr>
          <p:cNvPr name="Freeform 6" id="6"/>
          <p:cNvSpPr/>
          <p:nvPr/>
        </p:nvSpPr>
        <p:spPr>
          <a:xfrm flipH="false" flipV="false" rot="0">
            <a:off x="233024" y="1399007"/>
            <a:ext cx="1480812" cy="1974416"/>
          </a:xfrm>
          <a:custGeom>
            <a:avLst/>
            <a:gdLst/>
            <a:ahLst/>
            <a:cxnLst/>
            <a:rect r="r" b="b" t="t" l="l"/>
            <a:pathLst>
              <a:path h="1974416" w="1480812">
                <a:moveTo>
                  <a:pt x="0" y="0"/>
                </a:moveTo>
                <a:lnTo>
                  <a:pt x="1480812" y="0"/>
                </a:lnTo>
                <a:lnTo>
                  <a:pt x="1480812" y="1974416"/>
                </a:lnTo>
                <a:lnTo>
                  <a:pt x="0" y="1974416"/>
                </a:lnTo>
                <a:lnTo>
                  <a:pt x="0" y="0"/>
                </a:lnTo>
                <a:close/>
              </a:path>
            </a:pathLst>
          </a:custGeom>
          <a:blipFill>
            <a:blip r:embed="rId2"/>
            <a:stretch>
              <a:fillRect l="0" t="0" r="0" b="0"/>
            </a:stretch>
          </a:blipFill>
          <a:ln w="4762" cap="sq">
            <a:solidFill>
              <a:srgbClr val="484540"/>
            </a:solidFill>
            <a:prstDash val="solid"/>
            <a:miter/>
          </a:ln>
        </p:spPr>
      </p:sp>
      <p:sp>
        <p:nvSpPr>
          <p:cNvPr name="Freeform 7" id="7"/>
          <p:cNvSpPr/>
          <p:nvPr/>
        </p:nvSpPr>
        <p:spPr>
          <a:xfrm flipH="false" flipV="false" rot="0">
            <a:off x="233024" y="5452175"/>
            <a:ext cx="1804755" cy="1353566"/>
          </a:xfrm>
          <a:custGeom>
            <a:avLst/>
            <a:gdLst/>
            <a:ahLst/>
            <a:cxnLst/>
            <a:rect r="r" b="b" t="t" l="l"/>
            <a:pathLst>
              <a:path h="1353566" w="1804755">
                <a:moveTo>
                  <a:pt x="0" y="0"/>
                </a:moveTo>
                <a:lnTo>
                  <a:pt x="1804755" y="0"/>
                </a:lnTo>
                <a:lnTo>
                  <a:pt x="1804755" y="1353566"/>
                </a:lnTo>
                <a:lnTo>
                  <a:pt x="0" y="1353566"/>
                </a:lnTo>
                <a:lnTo>
                  <a:pt x="0" y="0"/>
                </a:lnTo>
                <a:close/>
              </a:path>
            </a:pathLst>
          </a:custGeom>
          <a:blipFill>
            <a:blip r:embed="rId3"/>
            <a:stretch>
              <a:fillRect l="0" t="0" r="0" b="0"/>
            </a:stretch>
          </a:blipFill>
          <a:ln w="4762" cap="sq">
            <a:solidFill>
              <a:srgbClr val="484540"/>
            </a:solidFill>
            <a:prstDash val="solid"/>
            <a:miter/>
          </a:ln>
        </p:spPr>
      </p:sp>
      <p:grpSp>
        <p:nvGrpSpPr>
          <p:cNvPr name="Group 8" id="8"/>
          <p:cNvGrpSpPr/>
          <p:nvPr/>
        </p:nvGrpSpPr>
        <p:grpSpPr>
          <a:xfrm rot="0">
            <a:off x="1817038" y="1399007"/>
            <a:ext cx="1472618" cy="1974416"/>
            <a:chOff x="0" y="0"/>
            <a:chExt cx="812800" cy="1089764"/>
          </a:xfrm>
        </p:grpSpPr>
        <p:sp>
          <p:nvSpPr>
            <p:cNvPr name="Freeform 9" id="9"/>
            <p:cNvSpPr/>
            <p:nvPr/>
          </p:nvSpPr>
          <p:spPr>
            <a:xfrm flipH="false" flipV="false" rot="0">
              <a:off x="0" y="0"/>
              <a:ext cx="812800" cy="1089764"/>
            </a:xfrm>
            <a:custGeom>
              <a:avLst/>
              <a:gdLst/>
              <a:ahLst/>
              <a:cxnLst/>
              <a:rect r="r" b="b" t="t" l="l"/>
              <a:pathLst>
                <a:path h="1089764" w="812800">
                  <a:moveTo>
                    <a:pt x="26286" y="0"/>
                  </a:moveTo>
                  <a:lnTo>
                    <a:pt x="786514" y="0"/>
                  </a:lnTo>
                  <a:cubicBezTo>
                    <a:pt x="801031" y="0"/>
                    <a:pt x="812800" y="11769"/>
                    <a:pt x="812800" y="26286"/>
                  </a:cubicBezTo>
                  <a:lnTo>
                    <a:pt x="812800" y="1063478"/>
                  </a:lnTo>
                  <a:cubicBezTo>
                    <a:pt x="812800" y="1077995"/>
                    <a:pt x="801031" y="1089764"/>
                    <a:pt x="786514" y="1089764"/>
                  </a:cubicBezTo>
                  <a:lnTo>
                    <a:pt x="26286" y="1089764"/>
                  </a:lnTo>
                  <a:cubicBezTo>
                    <a:pt x="11769" y="1089764"/>
                    <a:pt x="0" y="1077995"/>
                    <a:pt x="0" y="1063478"/>
                  </a:cubicBezTo>
                  <a:lnTo>
                    <a:pt x="0" y="26286"/>
                  </a:lnTo>
                  <a:cubicBezTo>
                    <a:pt x="0" y="11769"/>
                    <a:pt x="11769" y="0"/>
                    <a:pt x="26286" y="0"/>
                  </a:cubicBezTo>
                  <a:close/>
                </a:path>
              </a:pathLst>
            </a:custGeom>
            <a:blipFill>
              <a:blip r:embed="rId4"/>
              <a:stretch>
                <a:fillRect l="-217" t="0" r="-217" b="0"/>
              </a:stretch>
            </a:blipFill>
            <a:ln w="4762" cap="sq">
              <a:solidFill>
                <a:srgbClr val="484540"/>
              </a:solidFill>
              <a:prstDash val="solid"/>
              <a:miter/>
            </a:ln>
          </p:spPr>
        </p:sp>
      </p:grpSp>
      <p:grpSp>
        <p:nvGrpSpPr>
          <p:cNvPr name="Group 10" id="10"/>
          <p:cNvGrpSpPr/>
          <p:nvPr/>
        </p:nvGrpSpPr>
        <p:grpSpPr>
          <a:xfrm rot="0">
            <a:off x="2166535" y="5452175"/>
            <a:ext cx="1123121" cy="1353566"/>
            <a:chOff x="0" y="0"/>
            <a:chExt cx="812800" cy="979572"/>
          </a:xfrm>
        </p:grpSpPr>
        <p:sp>
          <p:nvSpPr>
            <p:cNvPr name="Freeform 11" id="11"/>
            <p:cNvSpPr/>
            <p:nvPr/>
          </p:nvSpPr>
          <p:spPr>
            <a:xfrm flipH="false" flipV="false" rot="0">
              <a:off x="0" y="0"/>
              <a:ext cx="812800" cy="979572"/>
            </a:xfrm>
            <a:custGeom>
              <a:avLst/>
              <a:gdLst/>
              <a:ahLst/>
              <a:cxnLst/>
              <a:rect r="r" b="b" t="t" l="l"/>
              <a:pathLst>
                <a:path h="979572" w="812800">
                  <a:moveTo>
                    <a:pt x="34466" y="0"/>
                  </a:moveTo>
                  <a:lnTo>
                    <a:pt x="778334" y="0"/>
                  </a:lnTo>
                  <a:cubicBezTo>
                    <a:pt x="787475" y="0"/>
                    <a:pt x="796241" y="3631"/>
                    <a:pt x="802705" y="10095"/>
                  </a:cubicBezTo>
                  <a:cubicBezTo>
                    <a:pt x="809169" y="16559"/>
                    <a:pt x="812800" y="25325"/>
                    <a:pt x="812800" y="34466"/>
                  </a:cubicBezTo>
                  <a:lnTo>
                    <a:pt x="812800" y="945106"/>
                  </a:lnTo>
                  <a:cubicBezTo>
                    <a:pt x="812800" y="954247"/>
                    <a:pt x="809169" y="963014"/>
                    <a:pt x="802705" y="969477"/>
                  </a:cubicBezTo>
                  <a:cubicBezTo>
                    <a:pt x="796241" y="975941"/>
                    <a:pt x="787475" y="979572"/>
                    <a:pt x="778334" y="979572"/>
                  </a:cubicBezTo>
                  <a:lnTo>
                    <a:pt x="34466" y="979572"/>
                  </a:lnTo>
                  <a:cubicBezTo>
                    <a:pt x="25325" y="979572"/>
                    <a:pt x="16559" y="975941"/>
                    <a:pt x="10095" y="969477"/>
                  </a:cubicBezTo>
                  <a:cubicBezTo>
                    <a:pt x="3631" y="963014"/>
                    <a:pt x="0" y="954247"/>
                    <a:pt x="0" y="945106"/>
                  </a:cubicBezTo>
                  <a:lnTo>
                    <a:pt x="0" y="34466"/>
                  </a:lnTo>
                  <a:cubicBezTo>
                    <a:pt x="0" y="25325"/>
                    <a:pt x="3631" y="16559"/>
                    <a:pt x="10095" y="10095"/>
                  </a:cubicBezTo>
                  <a:cubicBezTo>
                    <a:pt x="16559" y="3631"/>
                    <a:pt x="25325" y="0"/>
                    <a:pt x="34466" y="0"/>
                  </a:cubicBezTo>
                  <a:close/>
                </a:path>
              </a:pathLst>
            </a:custGeom>
            <a:blipFill>
              <a:blip r:embed="rId5"/>
              <a:stretch>
                <a:fillRect l="0" t="-5258" r="0" b="-5374"/>
              </a:stretch>
            </a:blipFill>
            <a:ln w="4762" cap="sq">
              <a:solidFill>
                <a:srgbClr val="484540"/>
              </a:solidFill>
              <a:prstDash val="solid"/>
              <a:miter/>
            </a:ln>
          </p:spPr>
        </p:sp>
      </p:grpSp>
      <p:grpSp>
        <p:nvGrpSpPr>
          <p:cNvPr name="Group 12" id="12"/>
          <p:cNvGrpSpPr/>
          <p:nvPr/>
        </p:nvGrpSpPr>
        <p:grpSpPr>
          <a:xfrm rot="0">
            <a:off x="3864870" y="2585983"/>
            <a:ext cx="3056400" cy="2057492"/>
            <a:chOff x="0" y="0"/>
            <a:chExt cx="644320" cy="433740"/>
          </a:xfrm>
        </p:grpSpPr>
        <p:sp>
          <p:nvSpPr>
            <p:cNvPr name="Freeform 13" id="13"/>
            <p:cNvSpPr/>
            <p:nvPr/>
          </p:nvSpPr>
          <p:spPr>
            <a:xfrm flipH="false" flipV="false" rot="-5400000">
              <a:off x="105290" y="-105290"/>
              <a:ext cx="433740" cy="644320"/>
            </a:xfrm>
            <a:custGeom>
              <a:avLst/>
              <a:gdLst/>
              <a:ahLst/>
              <a:cxnLst/>
              <a:rect r="r" b="b" t="t" l="l"/>
              <a:pathLst>
                <a:path h="644320" w="433740">
                  <a:moveTo>
                    <a:pt x="433740" y="12665"/>
                  </a:moveTo>
                  <a:lnTo>
                    <a:pt x="433740" y="631655"/>
                  </a:lnTo>
                  <a:cubicBezTo>
                    <a:pt x="433740" y="635014"/>
                    <a:pt x="432406" y="638236"/>
                    <a:pt x="430031" y="640611"/>
                  </a:cubicBezTo>
                  <a:cubicBezTo>
                    <a:pt x="427656" y="642986"/>
                    <a:pt x="424434" y="644320"/>
                    <a:pt x="421075" y="644320"/>
                  </a:cubicBezTo>
                  <a:lnTo>
                    <a:pt x="12665" y="644320"/>
                  </a:lnTo>
                  <a:cubicBezTo>
                    <a:pt x="5670" y="644320"/>
                    <a:pt x="0" y="638650"/>
                    <a:pt x="0" y="631655"/>
                  </a:cubicBezTo>
                  <a:lnTo>
                    <a:pt x="0" y="12665"/>
                  </a:lnTo>
                  <a:cubicBezTo>
                    <a:pt x="0" y="5670"/>
                    <a:pt x="5670" y="0"/>
                    <a:pt x="12665" y="0"/>
                  </a:cubicBezTo>
                  <a:lnTo>
                    <a:pt x="421075" y="0"/>
                  </a:lnTo>
                  <a:cubicBezTo>
                    <a:pt x="428070" y="0"/>
                    <a:pt x="433740" y="5670"/>
                    <a:pt x="433740" y="12665"/>
                  </a:cubicBezTo>
                  <a:close/>
                </a:path>
              </a:pathLst>
            </a:custGeom>
            <a:blipFill>
              <a:blip r:embed="rId6"/>
              <a:stretch>
                <a:fillRect l="-27143" t="-3356" r="-5327" b="-15545"/>
              </a:stretch>
            </a:blipFill>
            <a:ln w="4762" cap="sq">
              <a:solidFill>
                <a:srgbClr val="484540"/>
              </a:solidFill>
              <a:prstDash val="solid"/>
              <a:miter/>
            </a:ln>
          </p:spPr>
        </p:sp>
      </p:grpSp>
      <p:sp>
        <p:nvSpPr>
          <p:cNvPr name="TextBox 14" id="14"/>
          <p:cNvSpPr txBox="true"/>
          <p:nvPr/>
        </p:nvSpPr>
        <p:spPr>
          <a:xfrm rot="0">
            <a:off x="756000" y="7162014"/>
            <a:ext cx="2010680" cy="154305"/>
          </a:xfrm>
          <a:prstGeom prst="rect">
            <a:avLst/>
          </a:prstGeom>
        </p:spPr>
        <p:txBody>
          <a:bodyPr anchor="t" rtlCol="false" tIns="0" lIns="0" bIns="0" rIns="0">
            <a:spAutoFit/>
          </a:bodyPr>
          <a:lstStyle/>
          <a:p>
            <a:pPr algn="ctr">
              <a:lnSpc>
                <a:spcPts val="1215"/>
              </a:lnSpc>
              <a:spcBef>
                <a:spcPct val="0"/>
              </a:spcBef>
            </a:pPr>
            <a:r>
              <a:rPr lang="en-US" b="true" sz="900" spc="213">
                <a:solidFill>
                  <a:srgbClr val="484540"/>
                </a:solidFill>
                <a:latin typeface="Now Medium"/>
                <a:ea typeface="Now Medium"/>
                <a:cs typeface="Now Medium"/>
                <a:sym typeface="Now Medium"/>
              </a:rPr>
              <a:t>Manuela Schenk</a:t>
            </a:r>
          </a:p>
        </p:txBody>
      </p:sp>
      <p:sp>
        <p:nvSpPr>
          <p:cNvPr name="TextBox 15" id="15"/>
          <p:cNvSpPr txBox="true"/>
          <p:nvPr/>
        </p:nvSpPr>
        <p:spPr>
          <a:xfrm rot="0">
            <a:off x="7656539" y="7172199"/>
            <a:ext cx="2405908" cy="154305"/>
          </a:xfrm>
          <a:prstGeom prst="rect">
            <a:avLst/>
          </a:prstGeom>
        </p:spPr>
        <p:txBody>
          <a:bodyPr anchor="t" rtlCol="false" tIns="0" lIns="0" bIns="0" rIns="0">
            <a:spAutoFit/>
          </a:bodyPr>
          <a:lstStyle/>
          <a:p>
            <a:pPr algn="ctr">
              <a:lnSpc>
                <a:spcPts val="1215"/>
              </a:lnSpc>
              <a:spcBef>
                <a:spcPct val="0"/>
              </a:spcBef>
            </a:pPr>
            <a:r>
              <a:rPr lang="en-US" b="true" sz="900" spc="213">
                <a:solidFill>
                  <a:srgbClr val="484540"/>
                </a:solidFill>
                <a:latin typeface="Now Medium"/>
                <a:ea typeface="Now Medium"/>
                <a:cs typeface="Now Medium"/>
                <a:sym typeface="Now Medium"/>
              </a:rPr>
              <a:t>manufaktur-malerei@web.de</a:t>
            </a:r>
          </a:p>
        </p:txBody>
      </p:sp>
      <p:sp>
        <p:nvSpPr>
          <p:cNvPr name="TextBox 16" id="16"/>
          <p:cNvSpPr txBox="true"/>
          <p:nvPr/>
        </p:nvSpPr>
        <p:spPr>
          <a:xfrm rot="0">
            <a:off x="4340660" y="7162014"/>
            <a:ext cx="2010680" cy="154305"/>
          </a:xfrm>
          <a:prstGeom prst="rect">
            <a:avLst/>
          </a:prstGeom>
        </p:spPr>
        <p:txBody>
          <a:bodyPr anchor="t" rtlCol="false" tIns="0" lIns="0" bIns="0" rIns="0">
            <a:spAutoFit/>
          </a:bodyPr>
          <a:lstStyle/>
          <a:p>
            <a:pPr algn="ctr">
              <a:lnSpc>
                <a:spcPts val="1215"/>
              </a:lnSpc>
              <a:spcBef>
                <a:spcPct val="0"/>
              </a:spcBef>
            </a:pPr>
            <a:r>
              <a:rPr lang="en-US" b="true" sz="900" spc="213">
                <a:solidFill>
                  <a:srgbClr val="484540"/>
                </a:solidFill>
                <a:latin typeface="Now Medium"/>
                <a:ea typeface="Now Medium"/>
                <a:cs typeface="Now Medium"/>
                <a:sym typeface="Now Medium"/>
              </a:rPr>
              <a:t>+49 163 2662435</a:t>
            </a:r>
          </a:p>
        </p:txBody>
      </p:sp>
      <p:grpSp>
        <p:nvGrpSpPr>
          <p:cNvPr name="Group 17" id="17"/>
          <p:cNvGrpSpPr/>
          <p:nvPr/>
        </p:nvGrpSpPr>
        <p:grpSpPr>
          <a:xfrm rot="0">
            <a:off x="7331409" y="6025625"/>
            <a:ext cx="3056400" cy="780116"/>
            <a:chOff x="0" y="0"/>
            <a:chExt cx="4075200" cy="1040155"/>
          </a:xfrm>
        </p:grpSpPr>
        <p:sp>
          <p:nvSpPr>
            <p:cNvPr name="TextBox 18" id="18"/>
            <p:cNvSpPr txBox="true"/>
            <p:nvPr/>
          </p:nvSpPr>
          <p:spPr>
            <a:xfrm rot="0">
              <a:off x="0" y="506332"/>
              <a:ext cx="4075200" cy="533823"/>
            </a:xfrm>
            <a:prstGeom prst="rect">
              <a:avLst/>
            </a:prstGeom>
          </p:spPr>
          <p:txBody>
            <a:bodyPr anchor="t" rtlCol="false" tIns="0" lIns="0" bIns="0" rIns="0">
              <a:spAutoFit/>
            </a:bodyPr>
            <a:lstStyle/>
            <a:p>
              <a:pPr algn="l">
                <a:lnSpc>
                  <a:spcPts val="1119"/>
                </a:lnSpc>
              </a:pPr>
              <a:r>
                <a:rPr lang="en-US" sz="799" spc="39">
                  <a:solidFill>
                    <a:srgbClr val="484540"/>
                  </a:solidFill>
                  <a:latin typeface="Now Light"/>
                  <a:ea typeface="Now Light"/>
                  <a:cs typeface="Now Light"/>
                  <a:sym typeface="Now Light"/>
                </a:rPr>
                <a:t>Auch besondere Landschaften und Orte faszinieren mich. Wenn Du auch solche Lieblingsorte hast, kann ich sie Dir auf Leinwand zaubern.</a:t>
              </a:r>
            </a:p>
          </p:txBody>
        </p:sp>
        <p:sp>
          <p:nvSpPr>
            <p:cNvPr name="TextBox 19" id="19"/>
            <p:cNvSpPr txBox="true"/>
            <p:nvPr/>
          </p:nvSpPr>
          <p:spPr>
            <a:xfrm rot="0">
              <a:off x="0" y="-28575"/>
              <a:ext cx="4075200" cy="422723"/>
            </a:xfrm>
            <a:prstGeom prst="rect">
              <a:avLst/>
            </a:prstGeom>
          </p:spPr>
          <p:txBody>
            <a:bodyPr anchor="t" rtlCol="false" tIns="0" lIns="0" bIns="0" rIns="0">
              <a:spAutoFit/>
            </a:bodyPr>
            <a:lstStyle/>
            <a:p>
              <a:pPr algn="l">
                <a:lnSpc>
                  <a:spcPts val="2676"/>
                </a:lnSpc>
              </a:pPr>
              <a:r>
                <a:rPr lang="en-US" sz="1982" spc="164" b="true">
                  <a:solidFill>
                    <a:srgbClr val="484540"/>
                  </a:solidFill>
                  <a:latin typeface="Now Medium"/>
                  <a:ea typeface="Now Medium"/>
                  <a:cs typeface="Now Medium"/>
                  <a:sym typeface="Now Medium"/>
                </a:rPr>
                <a:t>Dein Lieblingsort</a:t>
              </a:r>
            </a:p>
          </p:txBody>
        </p:sp>
      </p:grpSp>
      <p:grpSp>
        <p:nvGrpSpPr>
          <p:cNvPr name="Group 20" id="20"/>
          <p:cNvGrpSpPr/>
          <p:nvPr/>
        </p:nvGrpSpPr>
        <p:grpSpPr>
          <a:xfrm rot="0">
            <a:off x="3865152" y="4805711"/>
            <a:ext cx="3056400" cy="2057492"/>
            <a:chOff x="0" y="0"/>
            <a:chExt cx="644320" cy="433740"/>
          </a:xfrm>
        </p:grpSpPr>
        <p:sp>
          <p:nvSpPr>
            <p:cNvPr name="Freeform 21" id="21"/>
            <p:cNvSpPr/>
            <p:nvPr/>
          </p:nvSpPr>
          <p:spPr>
            <a:xfrm flipH="false" flipV="false" rot="0">
              <a:off x="0" y="0"/>
              <a:ext cx="644320" cy="433740"/>
            </a:xfrm>
            <a:custGeom>
              <a:avLst/>
              <a:gdLst/>
              <a:ahLst/>
              <a:cxnLst/>
              <a:rect r="r" b="b" t="t" l="l"/>
              <a:pathLst>
                <a:path h="433740" w="644320">
                  <a:moveTo>
                    <a:pt x="12665" y="0"/>
                  </a:moveTo>
                  <a:lnTo>
                    <a:pt x="631655" y="0"/>
                  </a:lnTo>
                  <a:cubicBezTo>
                    <a:pt x="635014" y="0"/>
                    <a:pt x="638236" y="1334"/>
                    <a:pt x="640611" y="3710"/>
                  </a:cubicBezTo>
                  <a:cubicBezTo>
                    <a:pt x="642986" y="6085"/>
                    <a:pt x="644320" y="9306"/>
                    <a:pt x="644320" y="12665"/>
                  </a:cubicBezTo>
                  <a:lnTo>
                    <a:pt x="644320" y="421075"/>
                  </a:lnTo>
                  <a:cubicBezTo>
                    <a:pt x="644320" y="428070"/>
                    <a:pt x="638650" y="433740"/>
                    <a:pt x="631655" y="433740"/>
                  </a:cubicBezTo>
                  <a:lnTo>
                    <a:pt x="12665" y="433740"/>
                  </a:lnTo>
                  <a:cubicBezTo>
                    <a:pt x="5670" y="433740"/>
                    <a:pt x="0" y="428070"/>
                    <a:pt x="0" y="421075"/>
                  </a:cubicBezTo>
                  <a:lnTo>
                    <a:pt x="0" y="12665"/>
                  </a:lnTo>
                  <a:cubicBezTo>
                    <a:pt x="0" y="5670"/>
                    <a:pt x="5670" y="0"/>
                    <a:pt x="12665" y="0"/>
                  </a:cubicBezTo>
                  <a:close/>
                </a:path>
              </a:pathLst>
            </a:custGeom>
            <a:blipFill>
              <a:blip r:embed="rId7"/>
              <a:stretch>
                <a:fillRect l="0" t="-3140" r="0" b="-8272"/>
              </a:stretch>
            </a:blipFill>
            <a:ln w="4762" cap="sq">
              <a:solidFill>
                <a:srgbClr val="484540"/>
              </a:solidFill>
              <a:prstDash val="solid"/>
              <a:miter/>
            </a:ln>
          </p:spPr>
        </p:sp>
      </p:grpSp>
      <p:grpSp>
        <p:nvGrpSpPr>
          <p:cNvPr name="Group 22" id="22"/>
          <p:cNvGrpSpPr/>
          <p:nvPr/>
        </p:nvGrpSpPr>
        <p:grpSpPr>
          <a:xfrm rot="0">
            <a:off x="7331409" y="1399007"/>
            <a:ext cx="3056400" cy="2057492"/>
            <a:chOff x="0" y="0"/>
            <a:chExt cx="644320" cy="433740"/>
          </a:xfrm>
        </p:grpSpPr>
        <p:sp>
          <p:nvSpPr>
            <p:cNvPr name="Freeform 23" id="23"/>
            <p:cNvSpPr/>
            <p:nvPr/>
          </p:nvSpPr>
          <p:spPr>
            <a:xfrm flipH="false" flipV="false" rot="0">
              <a:off x="0" y="0"/>
              <a:ext cx="644320" cy="433740"/>
            </a:xfrm>
            <a:custGeom>
              <a:avLst/>
              <a:gdLst/>
              <a:ahLst/>
              <a:cxnLst/>
              <a:rect r="r" b="b" t="t" l="l"/>
              <a:pathLst>
                <a:path h="433740" w="644320">
                  <a:moveTo>
                    <a:pt x="12665" y="0"/>
                  </a:moveTo>
                  <a:lnTo>
                    <a:pt x="631655" y="0"/>
                  </a:lnTo>
                  <a:cubicBezTo>
                    <a:pt x="635014" y="0"/>
                    <a:pt x="638236" y="1334"/>
                    <a:pt x="640611" y="3710"/>
                  </a:cubicBezTo>
                  <a:cubicBezTo>
                    <a:pt x="642986" y="6085"/>
                    <a:pt x="644320" y="9306"/>
                    <a:pt x="644320" y="12665"/>
                  </a:cubicBezTo>
                  <a:lnTo>
                    <a:pt x="644320" y="421075"/>
                  </a:lnTo>
                  <a:cubicBezTo>
                    <a:pt x="644320" y="428070"/>
                    <a:pt x="638650" y="433740"/>
                    <a:pt x="631655" y="433740"/>
                  </a:cubicBezTo>
                  <a:lnTo>
                    <a:pt x="12665" y="433740"/>
                  </a:lnTo>
                  <a:cubicBezTo>
                    <a:pt x="5670" y="433740"/>
                    <a:pt x="0" y="428070"/>
                    <a:pt x="0" y="421075"/>
                  </a:cubicBezTo>
                  <a:lnTo>
                    <a:pt x="0" y="12665"/>
                  </a:lnTo>
                  <a:cubicBezTo>
                    <a:pt x="0" y="5670"/>
                    <a:pt x="5670" y="0"/>
                    <a:pt x="12665" y="0"/>
                  </a:cubicBezTo>
                  <a:close/>
                </a:path>
              </a:pathLst>
            </a:custGeom>
            <a:blipFill>
              <a:blip r:embed="rId8"/>
              <a:stretch>
                <a:fillRect l="-2000" t="-8279" r="-1006" b="-6482"/>
              </a:stretch>
            </a:blipFill>
            <a:ln w="4762" cap="sq">
              <a:solidFill>
                <a:srgbClr val="484540"/>
              </a:solidFill>
              <a:prstDash val="solid"/>
              <a:miter/>
            </a:ln>
          </p:spPr>
        </p:sp>
      </p:grpSp>
      <p:grpSp>
        <p:nvGrpSpPr>
          <p:cNvPr name="Group 24" id="24"/>
          <p:cNvGrpSpPr/>
          <p:nvPr/>
        </p:nvGrpSpPr>
        <p:grpSpPr>
          <a:xfrm rot="0">
            <a:off x="7331409" y="3614729"/>
            <a:ext cx="3056400" cy="2057492"/>
            <a:chOff x="0" y="0"/>
            <a:chExt cx="644320" cy="433740"/>
          </a:xfrm>
        </p:grpSpPr>
        <p:sp>
          <p:nvSpPr>
            <p:cNvPr name="Freeform 25" id="25"/>
            <p:cNvSpPr/>
            <p:nvPr/>
          </p:nvSpPr>
          <p:spPr>
            <a:xfrm flipH="false" flipV="false" rot="0">
              <a:off x="0" y="0"/>
              <a:ext cx="644320" cy="433740"/>
            </a:xfrm>
            <a:custGeom>
              <a:avLst/>
              <a:gdLst/>
              <a:ahLst/>
              <a:cxnLst/>
              <a:rect r="r" b="b" t="t" l="l"/>
              <a:pathLst>
                <a:path h="433740" w="644320">
                  <a:moveTo>
                    <a:pt x="12665" y="0"/>
                  </a:moveTo>
                  <a:lnTo>
                    <a:pt x="631655" y="0"/>
                  </a:lnTo>
                  <a:cubicBezTo>
                    <a:pt x="635014" y="0"/>
                    <a:pt x="638236" y="1334"/>
                    <a:pt x="640611" y="3710"/>
                  </a:cubicBezTo>
                  <a:cubicBezTo>
                    <a:pt x="642986" y="6085"/>
                    <a:pt x="644320" y="9306"/>
                    <a:pt x="644320" y="12665"/>
                  </a:cubicBezTo>
                  <a:lnTo>
                    <a:pt x="644320" y="421075"/>
                  </a:lnTo>
                  <a:cubicBezTo>
                    <a:pt x="644320" y="428070"/>
                    <a:pt x="638650" y="433740"/>
                    <a:pt x="631655" y="433740"/>
                  </a:cubicBezTo>
                  <a:lnTo>
                    <a:pt x="12665" y="433740"/>
                  </a:lnTo>
                  <a:cubicBezTo>
                    <a:pt x="5670" y="433740"/>
                    <a:pt x="0" y="428070"/>
                    <a:pt x="0" y="421075"/>
                  </a:cubicBezTo>
                  <a:lnTo>
                    <a:pt x="0" y="12665"/>
                  </a:lnTo>
                  <a:cubicBezTo>
                    <a:pt x="0" y="5670"/>
                    <a:pt x="5670" y="0"/>
                    <a:pt x="12665" y="0"/>
                  </a:cubicBezTo>
                  <a:close/>
                </a:path>
              </a:pathLst>
            </a:custGeom>
            <a:blipFill>
              <a:blip r:embed="rId9"/>
              <a:stretch>
                <a:fillRect l="-3843" t="-8948" r="-2761" b="-9822"/>
              </a:stretch>
            </a:blipFill>
            <a:ln w="4762" cap="sq">
              <a:solidFill>
                <a:srgbClr val="484540"/>
              </a:solidFill>
              <a:prstDash val="solid"/>
              <a:miter/>
            </a:ln>
          </p:spPr>
        </p:sp>
      </p:grpSp>
      <p:grpSp>
        <p:nvGrpSpPr>
          <p:cNvPr name="Group 26" id="26"/>
          <p:cNvGrpSpPr/>
          <p:nvPr/>
        </p:nvGrpSpPr>
        <p:grpSpPr>
          <a:xfrm rot="0">
            <a:off x="3864870" y="1399007"/>
            <a:ext cx="3056400" cy="978025"/>
            <a:chOff x="0" y="0"/>
            <a:chExt cx="4075200" cy="1304033"/>
          </a:xfrm>
        </p:grpSpPr>
        <p:sp>
          <p:nvSpPr>
            <p:cNvPr name="TextBox 27" id="27"/>
            <p:cNvSpPr txBox="true"/>
            <p:nvPr/>
          </p:nvSpPr>
          <p:spPr>
            <a:xfrm rot="0">
              <a:off x="0" y="950832"/>
              <a:ext cx="4075200" cy="353201"/>
            </a:xfrm>
            <a:prstGeom prst="rect">
              <a:avLst/>
            </a:prstGeom>
          </p:spPr>
          <p:txBody>
            <a:bodyPr anchor="t" rtlCol="false" tIns="0" lIns="0" bIns="0" rIns="0">
              <a:spAutoFit/>
            </a:bodyPr>
            <a:lstStyle/>
            <a:p>
              <a:pPr algn="l">
                <a:lnSpc>
                  <a:spcPts val="1119"/>
                </a:lnSpc>
              </a:pPr>
              <a:r>
                <a:rPr lang="en-US" sz="799" spc="39">
                  <a:solidFill>
                    <a:srgbClr val="484540"/>
                  </a:solidFill>
                  <a:latin typeface="Now Light"/>
                  <a:ea typeface="Now Light"/>
                  <a:cs typeface="Now Light"/>
                  <a:sym typeface="Now Light"/>
                </a:rPr>
                <a:t>Neben Hunden male ich auch andere tierische Familienmitglieder, z.B. Papageien.</a:t>
              </a:r>
            </a:p>
          </p:txBody>
        </p:sp>
        <p:sp>
          <p:nvSpPr>
            <p:cNvPr name="TextBox 28" id="28"/>
            <p:cNvSpPr txBox="true"/>
            <p:nvPr/>
          </p:nvSpPr>
          <p:spPr>
            <a:xfrm rot="0">
              <a:off x="0" y="-28575"/>
              <a:ext cx="4075200" cy="867223"/>
            </a:xfrm>
            <a:prstGeom prst="rect">
              <a:avLst/>
            </a:prstGeom>
          </p:spPr>
          <p:txBody>
            <a:bodyPr anchor="t" rtlCol="false" tIns="0" lIns="0" bIns="0" rIns="0">
              <a:spAutoFit/>
            </a:bodyPr>
            <a:lstStyle/>
            <a:p>
              <a:pPr algn="l">
                <a:lnSpc>
                  <a:spcPts val="2676"/>
                </a:lnSpc>
              </a:pPr>
              <a:r>
                <a:rPr lang="en-US" sz="1982" spc="164" b="true">
                  <a:solidFill>
                    <a:srgbClr val="484540"/>
                  </a:solidFill>
                  <a:latin typeface="Now Medium"/>
                  <a:ea typeface="Now Medium"/>
                  <a:cs typeface="Now Medium"/>
                  <a:sym typeface="Now Medium"/>
                </a:rPr>
                <a:t>Weitere tierische Freunde</a:t>
              </a:r>
            </a:p>
          </p:txBody>
        </p:sp>
      </p:grpSp>
      <p:grpSp>
        <p:nvGrpSpPr>
          <p:cNvPr name="Group 29" id="29"/>
          <p:cNvGrpSpPr/>
          <p:nvPr/>
        </p:nvGrpSpPr>
        <p:grpSpPr>
          <a:xfrm rot="0">
            <a:off x="233024" y="3525885"/>
            <a:ext cx="3222271" cy="1926290"/>
            <a:chOff x="0" y="0"/>
            <a:chExt cx="4296362" cy="2568387"/>
          </a:xfrm>
        </p:grpSpPr>
        <p:sp>
          <p:nvSpPr>
            <p:cNvPr name="TextBox 30" id="30"/>
            <p:cNvSpPr txBox="true"/>
            <p:nvPr/>
          </p:nvSpPr>
          <p:spPr>
            <a:xfrm rot="0">
              <a:off x="0" y="950832"/>
              <a:ext cx="4296362" cy="1617555"/>
            </a:xfrm>
            <a:prstGeom prst="rect">
              <a:avLst/>
            </a:prstGeom>
          </p:spPr>
          <p:txBody>
            <a:bodyPr anchor="t" rtlCol="false" tIns="0" lIns="0" bIns="0" rIns="0">
              <a:spAutoFit/>
            </a:bodyPr>
            <a:lstStyle/>
            <a:p>
              <a:pPr algn="l">
                <a:lnSpc>
                  <a:spcPts val="1119"/>
                </a:lnSpc>
              </a:pPr>
              <a:r>
                <a:rPr lang="en-US" sz="799" spc="39">
                  <a:solidFill>
                    <a:srgbClr val="484540"/>
                  </a:solidFill>
                  <a:latin typeface="Now Light"/>
                  <a:ea typeface="Now Light"/>
                  <a:cs typeface="Now Light"/>
                  <a:sym typeface="Now Light"/>
                </a:rPr>
                <a:t>Du hast Dir schon immer mal ein einzigartiges Portrait Deines treuen Begleiters gewünscht?</a:t>
              </a:r>
            </a:p>
            <a:p>
              <a:pPr algn="l">
                <a:lnSpc>
                  <a:spcPts val="1119"/>
                </a:lnSpc>
              </a:pPr>
              <a:r>
                <a:rPr lang="en-US" sz="799" spc="39">
                  <a:solidFill>
                    <a:srgbClr val="484540"/>
                  </a:solidFill>
                  <a:latin typeface="Now Light"/>
                  <a:ea typeface="Now Light"/>
                  <a:cs typeface="Now Light"/>
                  <a:sym typeface="Now Light"/>
                </a:rPr>
                <a:t>Dann bist Du hier richtig! Ich habe schon so einige Vierbeiner malen dürfen - vom weißen Maltheser bis zum schwarzen Labrador, ob kurz- oder langhaarig. Jeder Hund ist ein ganz besonderes Motiv, und ich freue mich, auch Deinen Liebling in liebevollen Details auf Leinwand zu verewigen.</a:t>
              </a:r>
            </a:p>
            <a:p>
              <a:pPr algn="l">
                <a:lnSpc>
                  <a:spcPts val="1119"/>
                </a:lnSpc>
              </a:pPr>
            </a:p>
          </p:txBody>
        </p:sp>
        <p:sp>
          <p:nvSpPr>
            <p:cNvPr name="TextBox 31" id="31"/>
            <p:cNvSpPr txBox="true"/>
            <p:nvPr/>
          </p:nvSpPr>
          <p:spPr>
            <a:xfrm rot="0">
              <a:off x="0" y="-28575"/>
              <a:ext cx="4296362" cy="867223"/>
            </a:xfrm>
            <a:prstGeom prst="rect">
              <a:avLst/>
            </a:prstGeom>
          </p:spPr>
          <p:txBody>
            <a:bodyPr anchor="t" rtlCol="false" tIns="0" lIns="0" bIns="0" rIns="0">
              <a:spAutoFit/>
            </a:bodyPr>
            <a:lstStyle/>
            <a:p>
              <a:pPr algn="l">
                <a:lnSpc>
                  <a:spcPts val="2676"/>
                </a:lnSpc>
              </a:pPr>
              <a:r>
                <a:rPr lang="en-US" sz="1982" spc="164" b="true">
                  <a:solidFill>
                    <a:srgbClr val="484540"/>
                  </a:solidFill>
                  <a:latin typeface="Now Medium"/>
                  <a:ea typeface="Now Medium"/>
                  <a:cs typeface="Now Medium"/>
                  <a:sym typeface="Now Medium"/>
                </a:rPr>
                <a:t>Dein vierbeiniger Liebling auf Leinwand</a:t>
              </a:r>
            </a:p>
          </p:txBody>
        </p:sp>
      </p:grpSp>
      <p:grpSp>
        <p:nvGrpSpPr>
          <p:cNvPr name="Group 32" id="32"/>
          <p:cNvGrpSpPr/>
          <p:nvPr/>
        </p:nvGrpSpPr>
        <p:grpSpPr>
          <a:xfrm rot="0">
            <a:off x="233024" y="0"/>
            <a:ext cx="3322552" cy="1276469"/>
            <a:chOff x="0" y="0"/>
            <a:chExt cx="4430070" cy="1701959"/>
          </a:xfrm>
        </p:grpSpPr>
        <p:sp>
          <p:nvSpPr>
            <p:cNvPr name="Freeform 33" id="33"/>
            <p:cNvSpPr/>
            <p:nvPr/>
          </p:nvSpPr>
          <p:spPr>
            <a:xfrm flipH="false" flipV="false" rot="0">
              <a:off x="0" y="0"/>
              <a:ext cx="1913287" cy="1701959"/>
            </a:xfrm>
            <a:custGeom>
              <a:avLst/>
              <a:gdLst/>
              <a:ahLst/>
              <a:cxnLst/>
              <a:rect r="r" b="b" t="t" l="l"/>
              <a:pathLst>
                <a:path h="1701959" w="1913287">
                  <a:moveTo>
                    <a:pt x="0" y="0"/>
                  </a:moveTo>
                  <a:lnTo>
                    <a:pt x="1913287" y="0"/>
                  </a:lnTo>
                  <a:lnTo>
                    <a:pt x="1913287" y="1701959"/>
                  </a:lnTo>
                  <a:lnTo>
                    <a:pt x="0" y="1701959"/>
                  </a:lnTo>
                  <a:lnTo>
                    <a:pt x="0" y="0"/>
                  </a:lnTo>
                  <a:close/>
                </a:path>
              </a:pathLst>
            </a:custGeom>
            <a:blipFill>
              <a:blip r:embed="rId10"/>
              <a:stretch>
                <a:fillRect l="0" t="-4100" r="0" b="-4100"/>
              </a:stretch>
            </a:blipFill>
          </p:spPr>
        </p:sp>
        <p:sp>
          <p:nvSpPr>
            <p:cNvPr name="TextBox 34" id="34"/>
            <p:cNvSpPr txBox="true"/>
            <p:nvPr/>
          </p:nvSpPr>
          <p:spPr>
            <a:xfrm rot="0">
              <a:off x="47795" y="430416"/>
              <a:ext cx="1865491" cy="790981"/>
            </a:xfrm>
            <a:prstGeom prst="rect">
              <a:avLst/>
            </a:prstGeom>
          </p:spPr>
          <p:txBody>
            <a:bodyPr anchor="t" rtlCol="false" tIns="0" lIns="0" bIns="0" rIns="0">
              <a:spAutoFit/>
            </a:bodyPr>
            <a:lstStyle/>
            <a:p>
              <a:pPr algn="ctr">
                <a:lnSpc>
                  <a:spcPts val="4978"/>
                </a:lnSpc>
                <a:spcBef>
                  <a:spcPct val="0"/>
                </a:spcBef>
              </a:pPr>
              <a:r>
                <a:rPr lang="en-US" sz="3687" spc="354">
                  <a:solidFill>
                    <a:srgbClr val="004AAD"/>
                  </a:solidFill>
                  <a:latin typeface="Great Vibes"/>
                  <a:ea typeface="Great Vibes"/>
                  <a:cs typeface="Great Vibes"/>
                  <a:sym typeface="Great Vibes"/>
                </a:rPr>
                <a:t>Manu</a:t>
              </a:r>
            </a:p>
          </p:txBody>
        </p:sp>
        <p:sp>
          <p:nvSpPr>
            <p:cNvPr name="TextBox 35" id="35"/>
            <p:cNvSpPr txBox="true"/>
            <p:nvPr/>
          </p:nvSpPr>
          <p:spPr>
            <a:xfrm rot="0">
              <a:off x="1803084" y="519100"/>
              <a:ext cx="2626985" cy="613612"/>
            </a:xfrm>
            <a:prstGeom prst="rect">
              <a:avLst/>
            </a:prstGeom>
          </p:spPr>
          <p:txBody>
            <a:bodyPr anchor="t" rtlCol="false" tIns="0" lIns="0" bIns="0" rIns="0">
              <a:spAutoFit/>
            </a:bodyPr>
            <a:lstStyle/>
            <a:p>
              <a:pPr algn="ctr">
                <a:lnSpc>
                  <a:spcPts val="3813"/>
                </a:lnSpc>
                <a:spcBef>
                  <a:spcPct val="0"/>
                </a:spcBef>
              </a:pPr>
              <a:r>
                <a:rPr lang="en-US" sz="2824" spc="669">
                  <a:solidFill>
                    <a:srgbClr val="004AAD"/>
                  </a:solidFill>
                  <a:latin typeface="Cheque Bold"/>
                  <a:ea typeface="Cheque Bold"/>
                  <a:cs typeface="Cheque Bold"/>
                  <a:sym typeface="Cheque Bold"/>
                </a:rPr>
                <a:t>FAKTUR</a:t>
              </a:r>
            </a:p>
          </p:txBody>
        </p:sp>
      </p:gr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show="false">
  <p:cSld>
    <p:spTree>
      <p:nvGrpSpPr>
        <p:cNvPr id="1" name=""/>
        <p:cNvGrpSpPr/>
        <p:nvPr/>
      </p:nvGrpSpPr>
      <p:grpSpPr>
        <a:xfrm>
          <a:off x="0" y="0"/>
          <a:ext cx="0" cy="0"/>
          <a:chOff x="0" y="0"/>
          <a:chExt cx="0" cy="0"/>
        </a:xfrm>
      </p:grpSpPr>
      <p:sp>
        <p:nvSpPr>
          <p:cNvPr name="AutoShape 2" id="2"/>
          <p:cNvSpPr/>
          <p:nvPr/>
        </p:nvSpPr>
        <p:spPr>
          <a:xfrm flipH="true">
            <a:off x="233024" y="7049251"/>
            <a:ext cx="3056632" cy="0"/>
          </a:xfrm>
          <a:prstGeom prst="line">
            <a:avLst/>
          </a:prstGeom>
          <a:ln cap="flat" w="47625">
            <a:solidFill>
              <a:srgbClr val="484540"/>
            </a:solidFill>
            <a:prstDash val="solid"/>
            <a:headEnd type="none" len="sm" w="sm"/>
            <a:tailEnd type="none" len="sm" w="sm"/>
          </a:ln>
        </p:spPr>
      </p:sp>
      <p:sp>
        <p:nvSpPr>
          <p:cNvPr name="Freeform 3" id="3"/>
          <p:cNvSpPr/>
          <p:nvPr/>
        </p:nvSpPr>
        <p:spPr>
          <a:xfrm flipH="false" flipV="false" rot="0">
            <a:off x="3817742" y="859666"/>
            <a:ext cx="3056400" cy="2056870"/>
          </a:xfrm>
          <a:custGeom>
            <a:avLst/>
            <a:gdLst/>
            <a:ahLst/>
            <a:cxnLst/>
            <a:rect r="r" b="b" t="t" l="l"/>
            <a:pathLst>
              <a:path h="2056870" w="3056400">
                <a:moveTo>
                  <a:pt x="0" y="0"/>
                </a:moveTo>
                <a:lnTo>
                  <a:pt x="3056400" y="0"/>
                </a:lnTo>
                <a:lnTo>
                  <a:pt x="3056400" y="2056870"/>
                </a:lnTo>
                <a:lnTo>
                  <a:pt x="0" y="2056870"/>
                </a:lnTo>
                <a:lnTo>
                  <a:pt x="0" y="0"/>
                </a:lnTo>
                <a:close/>
              </a:path>
            </a:pathLst>
          </a:custGeom>
          <a:blipFill>
            <a:blip r:embed="rId2"/>
            <a:stretch>
              <a:fillRect l="-7956" t="-23132" r="-22865" b="-136375"/>
            </a:stretch>
          </a:blipFill>
          <a:ln w="4762" cap="sq">
            <a:solidFill>
              <a:srgbClr val="484540"/>
            </a:solidFill>
            <a:prstDash val="solid"/>
            <a:miter/>
          </a:ln>
        </p:spPr>
      </p:sp>
      <p:sp>
        <p:nvSpPr>
          <p:cNvPr name="TextBox 4" id="4"/>
          <p:cNvSpPr txBox="true"/>
          <p:nvPr/>
        </p:nvSpPr>
        <p:spPr>
          <a:xfrm rot="0">
            <a:off x="3817742" y="5516247"/>
            <a:ext cx="3056400" cy="324186"/>
          </a:xfrm>
          <a:prstGeom prst="rect">
            <a:avLst/>
          </a:prstGeom>
        </p:spPr>
        <p:txBody>
          <a:bodyPr anchor="t" rtlCol="false" tIns="0" lIns="0" bIns="0" rIns="0">
            <a:spAutoFit/>
          </a:bodyPr>
          <a:lstStyle/>
          <a:p>
            <a:pPr algn="l">
              <a:lnSpc>
                <a:spcPts val="2676"/>
              </a:lnSpc>
            </a:pPr>
            <a:r>
              <a:rPr lang="en-US" sz="1982" spc="164" b="true">
                <a:solidFill>
                  <a:srgbClr val="484540"/>
                </a:solidFill>
                <a:latin typeface="Now Medium"/>
                <a:ea typeface="Now Medium"/>
                <a:cs typeface="Now Medium"/>
                <a:sym typeface="Now Medium"/>
              </a:rPr>
              <a:t>Dein Weg zu mir</a:t>
            </a:r>
          </a:p>
        </p:txBody>
      </p:sp>
      <p:grpSp>
        <p:nvGrpSpPr>
          <p:cNvPr name="Group 5" id="5"/>
          <p:cNvGrpSpPr/>
          <p:nvPr/>
        </p:nvGrpSpPr>
        <p:grpSpPr>
          <a:xfrm rot="0">
            <a:off x="3817742" y="6036696"/>
            <a:ext cx="3056632" cy="792479"/>
            <a:chOff x="0" y="0"/>
            <a:chExt cx="4075509" cy="1056639"/>
          </a:xfrm>
        </p:grpSpPr>
        <p:sp>
          <p:nvSpPr>
            <p:cNvPr name="TextBox 6" id="6"/>
            <p:cNvSpPr txBox="true"/>
            <p:nvPr/>
          </p:nvSpPr>
          <p:spPr>
            <a:xfrm rot="0">
              <a:off x="0" y="-19050"/>
              <a:ext cx="3218691" cy="1075689"/>
            </a:xfrm>
            <a:prstGeom prst="rect">
              <a:avLst/>
            </a:prstGeom>
          </p:spPr>
          <p:txBody>
            <a:bodyPr anchor="t" rtlCol="false" tIns="0" lIns="0" bIns="0" rIns="0">
              <a:spAutoFit/>
            </a:bodyPr>
            <a:lstStyle/>
            <a:p>
              <a:pPr algn="l" marL="172720" indent="-86360" lvl="1">
                <a:lnSpc>
                  <a:spcPts val="1119"/>
                </a:lnSpc>
                <a:buFont typeface="Arial"/>
                <a:buChar char="•"/>
              </a:pPr>
              <a:r>
                <a:rPr lang="en-US" sz="799" spc="39">
                  <a:solidFill>
                    <a:srgbClr val="484540"/>
                  </a:solidFill>
                  <a:latin typeface="Now Light"/>
                  <a:ea typeface="Now Light"/>
                  <a:cs typeface="Now Light"/>
                  <a:sym typeface="Now Light"/>
                </a:rPr>
                <a:t>Am liebsten male ich Tiere &amp; Natur nach Fotovorlagen.</a:t>
              </a:r>
            </a:p>
            <a:p>
              <a:pPr algn="l" marL="172720" indent="-86360" lvl="1">
                <a:lnSpc>
                  <a:spcPts val="1119"/>
                </a:lnSpc>
                <a:buFont typeface="Arial"/>
                <a:buChar char="•"/>
              </a:pPr>
              <a:r>
                <a:rPr lang="en-US" sz="799" spc="39">
                  <a:solidFill>
                    <a:srgbClr val="484540"/>
                  </a:solidFill>
                  <a:latin typeface="Now Light"/>
                  <a:ea typeface="Now Light"/>
                  <a:cs typeface="Now Light"/>
                  <a:sym typeface="Now Light"/>
                </a:rPr>
                <a:t>Ich freue mich, Dich in einem Beratungs-gespräch näher kennenzulernen.</a:t>
              </a:r>
            </a:p>
            <a:p>
              <a:pPr algn="l" marL="172720" indent="-86360" lvl="1">
                <a:lnSpc>
                  <a:spcPts val="1119"/>
                </a:lnSpc>
                <a:buFont typeface="Arial"/>
                <a:buChar char="•"/>
              </a:pPr>
              <a:r>
                <a:rPr lang="en-US" sz="799" spc="39">
                  <a:solidFill>
                    <a:srgbClr val="484540"/>
                  </a:solidFill>
                  <a:latin typeface="Now Light"/>
                  <a:ea typeface="Now Light"/>
                  <a:cs typeface="Now Light"/>
                  <a:sym typeface="Now Light"/>
                </a:rPr>
                <a:t>Tel.: 0163 2662435</a:t>
              </a:r>
            </a:p>
            <a:p>
              <a:pPr algn="l" marL="172720" indent="-86360" lvl="1">
                <a:lnSpc>
                  <a:spcPts val="1119"/>
                </a:lnSpc>
                <a:buFont typeface="Arial"/>
                <a:buChar char="•"/>
              </a:pPr>
              <a:r>
                <a:rPr lang="en-US" sz="799" spc="39">
                  <a:solidFill>
                    <a:srgbClr val="484540"/>
                  </a:solidFill>
                  <a:latin typeface="Now Light"/>
                  <a:ea typeface="Now Light"/>
                  <a:cs typeface="Now Light"/>
                  <a:sym typeface="Now Light"/>
                </a:rPr>
                <a:t>E-Mail: manufaktur-malerei@web.de</a:t>
              </a:r>
            </a:p>
          </p:txBody>
        </p:sp>
        <p:sp>
          <p:nvSpPr>
            <p:cNvPr name="Freeform 7" id="7"/>
            <p:cNvSpPr/>
            <p:nvPr/>
          </p:nvSpPr>
          <p:spPr>
            <a:xfrm flipH="false" flipV="false" rot="0">
              <a:off x="3304293" y="15316"/>
              <a:ext cx="771216" cy="1026007"/>
            </a:xfrm>
            <a:custGeom>
              <a:avLst/>
              <a:gdLst/>
              <a:ahLst/>
              <a:cxnLst/>
              <a:rect r="r" b="b" t="t" l="l"/>
              <a:pathLst>
                <a:path h="1026007" w="771216">
                  <a:moveTo>
                    <a:pt x="0" y="0"/>
                  </a:moveTo>
                  <a:lnTo>
                    <a:pt x="771216" y="0"/>
                  </a:lnTo>
                  <a:lnTo>
                    <a:pt x="771216" y="1026007"/>
                  </a:lnTo>
                  <a:lnTo>
                    <a:pt x="0" y="1026007"/>
                  </a:lnTo>
                  <a:lnTo>
                    <a:pt x="0" y="0"/>
                  </a:lnTo>
                  <a:close/>
                </a:path>
              </a:pathLst>
            </a:custGeom>
            <a:blipFill>
              <a:blip r:embed="rId3"/>
              <a:stretch>
                <a:fillRect l="0" t="0" r="0" b="0"/>
              </a:stretch>
            </a:blipFill>
            <a:ln w="4762" cap="sq">
              <a:solidFill>
                <a:srgbClr val="484540"/>
              </a:solidFill>
              <a:prstDash val="solid"/>
              <a:miter/>
            </a:ln>
          </p:spPr>
        </p:sp>
      </p:grpSp>
      <p:grpSp>
        <p:nvGrpSpPr>
          <p:cNvPr name="Group 8" id="8"/>
          <p:cNvGrpSpPr/>
          <p:nvPr/>
        </p:nvGrpSpPr>
        <p:grpSpPr>
          <a:xfrm rot="0">
            <a:off x="0" y="0"/>
            <a:ext cx="3564000" cy="7560000"/>
            <a:chOff x="0" y="0"/>
            <a:chExt cx="4752000" cy="10080000"/>
          </a:xfrm>
        </p:grpSpPr>
        <p:grpSp>
          <p:nvGrpSpPr>
            <p:cNvPr name="Group 9" id="9"/>
            <p:cNvGrpSpPr/>
            <p:nvPr/>
          </p:nvGrpSpPr>
          <p:grpSpPr>
            <a:xfrm rot="0">
              <a:off x="0" y="0"/>
              <a:ext cx="4752000" cy="10080000"/>
              <a:chOff x="0" y="0"/>
              <a:chExt cx="751328" cy="1593725"/>
            </a:xfrm>
          </p:grpSpPr>
          <p:sp>
            <p:nvSpPr>
              <p:cNvPr name="Freeform 10" id="10"/>
              <p:cNvSpPr/>
              <p:nvPr/>
            </p:nvSpPr>
            <p:spPr>
              <a:xfrm flipH="false" flipV="false" rot="0">
                <a:off x="0" y="0"/>
                <a:ext cx="751328" cy="1593725"/>
              </a:xfrm>
              <a:custGeom>
                <a:avLst/>
                <a:gdLst/>
                <a:ahLst/>
                <a:cxnLst/>
                <a:rect r="r" b="b" t="t" l="l"/>
                <a:pathLst>
                  <a:path h="1593725" w="751328">
                    <a:moveTo>
                      <a:pt x="0" y="0"/>
                    </a:moveTo>
                    <a:lnTo>
                      <a:pt x="751328" y="0"/>
                    </a:lnTo>
                    <a:lnTo>
                      <a:pt x="751328" y="1593725"/>
                    </a:lnTo>
                    <a:lnTo>
                      <a:pt x="0" y="1593725"/>
                    </a:lnTo>
                    <a:close/>
                  </a:path>
                </a:pathLst>
              </a:custGeom>
              <a:blipFill>
                <a:blip r:embed="rId4"/>
                <a:stretch>
                  <a:fillRect l="-141374" t="-13201" r="-112345" b="-11864"/>
                </a:stretch>
              </a:blipFill>
            </p:spPr>
          </p:sp>
        </p:grpSp>
        <p:grpSp>
          <p:nvGrpSpPr>
            <p:cNvPr name="Group 11" id="11"/>
            <p:cNvGrpSpPr/>
            <p:nvPr/>
          </p:nvGrpSpPr>
          <p:grpSpPr>
            <a:xfrm rot="0">
              <a:off x="0" y="0"/>
              <a:ext cx="4752000" cy="10080000"/>
              <a:chOff x="0" y="0"/>
              <a:chExt cx="1277257" cy="2709333"/>
            </a:xfrm>
          </p:grpSpPr>
          <p:sp>
            <p:nvSpPr>
              <p:cNvPr name="Freeform 12" id="12"/>
              <p:cNvSpPr/>
              <p:nvPr/>
            </p:nvSpPr>
            <p:spPr>
              <a:xfrm flipH="false" flipV="false" rot="0">
                <a:off x="0" y="0"/>
                <a:ext cx="1277257" cy="2709333"/>
              </a:xfrm>
              <a:custGeom>
                <a:avLst/>
                <a:gdLst/>
                <a:ahLst/>
                <a:cxnLst/>
                <a:rect r="r" b="b" t="t" l="l"/>
                <a:pathLst>
                  <a:path h="2709333" w="1277257">
                    <a:moveTo>
                      <a:pt x="0" y="0"/>
                    </a:moveTo>
                    <a:lnTo>
                      <a:pt x="1277257" y="0"/>
                    </a:lnTo>
                    <a:lnTo>
                      <a:pt x="1277257" y="2709333"/>
                    </a:lnTo>
                    <a:lnTo>
                      <a:pt x="0" y="2709333"/>
                    </a:lnTo>
                    <a:close/>
                  </a:path>
                </a:pathLst>
              </a:custGeom>
              <a:solidFill>
                <a:srgbClr val="D9D9D9">
                  <a:alpha val="49804"/>
                </a:srgbClr>
              </a:solidFill>
            </p:spPr>
          </p:sp>
          <p:sp>
            <p:nvSpPr>
              <p:cNvPr name="TextBox 13" id="13"/>
              <p:cNvSpPr txBox="true"/>
              <p:nvPr/>
            </p:nvSpPr>
            <p:spPr>
              <a:xfrm>
                <a:off x="0" y="-19050"/>
                <a:ext cx="1277257" cy="2728383"/>
              </a:xfrm>
              <a:prstGeom prst="rect">
                <a:avLst/>
              </a:prstGeom>
            </p:spPr>
            <p:txBody>
              <a:bodyPr anchor="ctr" rtlCol="false" tIns="50800" lIns="50800" bIns="50800" rIns="50800"/>
              <a:lstStyle/>
              <a:p>
                <a:pPr algn="ctr">
                  <a:lnSpc>
                    <a:spcPts val="1889"/>
                  </a:lnSpc>
                </a:pPr>
              </a:p>
            </p:txBody>
          </p:sp>
        </p:grpSp>
      </p:grpSp>
      <p:grpSp>
        <p:nvGrpSpPr>
          <p:cNvPr name="Group 14" id="14"/>
          <p:cNvGrpSpPr/>
          <p:nvPr/>
        </p:nvGrpSpPr>
        <p:grpSpPr>
          <a:xfrm rot="0">
            <a:off x="7128000" y="0"/>
            <a:ext cx="3564000" cy="7560000"/>
            <a:chOff x="0" y="0"/>
            <a:chExt cx="4752000" cy="10080000"/>
          </a:xfrm>
        </p:grpSpPr>
        <p:grpSp>
          <p:nvGrpSpPr>
            <p:cNvPr name="Group 15" id="15"/>
            <p:cNvGrpSpPr/>
            <p:nvPr/>
          </p:nvGrpSpPr>
          <p:grpSpPr>
            <a:xfrm rot="0">
              <a:off x="0" y="0"/>
              <a:ext cx="4752000" cy="10080000"/>
              <a:chOff x="0" y="0"/>
              <a:chExt cx="751328" cy="1593725"/>
            </a:xfrm>
          </p:grpSpPr>
          <p:sp>
            <p:nvSpPr>
              <p:cNvPr name="Freeform 16" id="16"/>
              <p:cNvSpPr/>
              <p:nvPr/>
            </p:nvSpPr>
            <p:spPr>
              <a:xfrm flipH="false" flipV="false" rot="0">
                <a:off x="0" y="0"/>
                <a:ext cx="751328" cy="1593725"/>
              </a:xfrm>
              <a:custGeom>
                <a:avLst/>
                <a:gdLst/>
                <a:ahLst/>
                <a:cxnLst/>
                <a:rect r="r" b="b" t="t" l="l"/>
                <a:pathLst>
                  <a:path h="1593725" w="751328">
                    <a:moveTo>
                      <a:pt x="0" y="0"/>
                    </a:moveTo>
                    <a:lnTo>
                      <a:pt x="751328" y="0"/>
                    </a:lnTo>
                    <a:lnTo>
                      <a:pt x="751328" y="1593725"/>
                    </a:lnTo>
                    <a:lnTo>
                      <a:pt x="0" y="1593725"/>
                    </a:lnTo>
                    <a:close/>
                  </a:path>
                </a:pathLst>
              </a:custGeom>
              <a:blipFill>
                <a:blip r:embed="rId5"/>
                <a:stretch>
                  <a:fillRect l="-81276" t="-4801" r="-121533" b="-2203"/>
                </a:stretch>
              </a:blipFill>
            </p:spPr>
          </p:sp>
        </p:grpSp>
        <p:grpSp>
          <p:nvGrpSpPr>
            <p:cNvPr name="Group 17" id="17"/>
            <p:cNvGrpSpPr/>
            <p:nvPr/>
          </p:nvGrpSpPr>
          <p:grpSpPr>
            <a:xfrm rot="0">
              <a:off x="0" y="0"/>
              <a:ext cx="4752000" cy="10080000"/>
              <a:chOff x="0" y="0"/>
              <a:chExt cx="1277257" cy="2709333"/>
            </a:xfrm>
          </p:grpSpPr>
          <p:sp>
            <p:nvSpPr>
              <p:cNvPr name="Freeform 18" id="18"/>
              <p:cNvSpPr/>
              <p:nvPr/>
            </p:nvSpPr>
            <p:spPr>
              <a:xfrm flipH="false" flipV="false" rot="0">
                <a:off x="0" y="0"/>
                <a:ext cx="1277257" cy="2709333"/>
              </a:xfrm>
              <a:custGeom>
                <a:avLst/>
                <a:gdLst/>
                <a:ahLst/>
                <a:cxnLst/>
                <a:rect r="r" b="b" t="t" l="l"/>
                <a:pathLst>
                  <a:path h="2709333" w="1277257">
                    <a:moveTo>
                      <a:pt x="0" y="0"/>
                    </a:moveTo>
                    <a:lnTo>
                      <a:pt x="1277257" y="0"/>
                    </a:lnTo>
                    <a:lnTo>
                      <a:pt x="1277257" y="2709333"/>
                    </a:lnTo>
                    <a:lnTo>
                      <a:pt x="0" y="2709333"/>
                    </a:lnTo>
                    <a:close/>
                  </a:path>
                </a:pathLst>
              </a:custGeom>
              <a:solidFill>
                <a:srgbClr val="D9D9D9">
                  <a:alpha val="27843"/>
                </a:srgbClr>
              </a:solidFill>
            </p:spPr>
          </p:sp>
          <p:sp>
            <p:nvSpPr>
              <p:cNvPr name="TextBox 19" id="19"/>
              <p:cNvSpPr txBox="true"/>
              <p:nvPr/>
            </p:nvSpPr>
            <p:spPr>
              <a:xfrm>
                <a:off x="0" y="-19050"/>
                <a:ext cx="1277257" cy="2728383"/>
              </a:xfrm>
              <a:prstGeom prst="rect">
                <a:avLst/>
              </a:prstGeom>
            </p:spPr>
            <p:txBody>
              <a:bodyPr anchor="ctr" rtlCol="false" tIns="50800" lIns="50800" bIns="50800" rIns="50800"/>
              <a:lstStyle/>
              <a:p>
                <a:pPr algn="ctr">
                  <a:lnSpc>
                    <a:spcPts val="1889"/>
                  </a:lnSpc>
                </a:pPr>
              </a:p>
            </p:txBody>
          </p:sp>
        </p:grpSp>
      </p:grpSp>
      <p:grpSp>
        <p:nvGrpSpPr>
          <p:cNvPr name="Group 20" id="20"/>
          <p:cNvGrpSpPr/>
          <p:nvPr/>
        </p:nvGrpSpPr>
        <p:grpSpPr>
          <a:xfrm rot="0">
            <a:off x="7171754" y="5133608"/>
            <a:ext cx="3476491" cy="2035100"/>
            <a:chOff x="0" y="0"/>
            <a:chExt cx="4635321" cy="2713467"/>
          </a:xfrm>
        </p:grpSpPr>
        <p:sp>
          <p:nvSpPr>
            <p:cNvPr name="Freeform 21" id="21"/>
            <p:cNvSpPr/>
            <p:nvPr/>
          </p:nvSpPr>
          <p:spPr>
            <a:xfrm flipH="false" flipV="false" rot="0">
              <a:off x="317115" y="0"/>
              <a:ext cx="4001091" cy="2713467"/>
            </a:xfrm>
            <a:custGeom>
              <a:avLst/>
              <a:gdLst/>
              <a:ahLst/>
              <a:cxnLst/>
              <a:rect r="r" b="b" t="t" l="l"/>
              <a:pathLst>
                <a:path h="2713467" w="4001091">
                  <a:moveTo>
                    <a:pt x="0" y="0"/>
                  </a:moveTo>
                  <a:lnTo>
                    <a:pt x="4001091" y="0"/>
                  </a:lnTo>
                  <a:lnTo>
                    <a:pt x="4001091" y="2713467"/>
                  </a:lnTo>
                  <a:lnTo>
                    <a:pt x="0" y="2713467"/>
                  </a:lnTo>
                  <a:lnTo>
                    <a:pt x="0" y="0"/>
                  </a:lnTo>
                  <a:close/>
                </a:path>
              </a:pathLst>
            </a:custGeom>
            <a:blipFill>
              <a:blip r:embed="rId6">
                <a:alphaModFix amt="77000"/>
                <a:extLst>
                  <a:ext uri="{96DAC541-7B7A-43D3-8B79-37D633B846F1}">
                    <asvg:svgBlip xmlns:asvg="http://schemas.microsoft.com/office/drawing/2016/SVG/main" r:embed="rId7"/>
                  </a:ext>
                </a:extLst>
              </a:blip>
              <a:stretch>
                <a:fillRect l="0" t="0" r="0" b="0"/>
              </a:stretch>
            </a:blipFill>
          </p:spPr>
        </p:sp>
        <p:sp>
          <p:nvSpPr>
            <p:cNvPr name="Freeform 22" id="22"/>
            <p:cNvSpPr/>
            <p:nvPr/>
          </p:nvSpPr>
          <p:spPr>
            <a:xfrm flipH="false" flipV="false" rot="0">
              <a:off x="0" y="12490"/>
              <a:ext cx="4635321" cy="2688486"/>
            </a:xfrm>
            <a:custGeom>
              <a:avLst/>
              <a:gdLst/>
              <a:ahLst/>
              <a:cxnLst/>
              <a:rect r="r" b="b" t="t" l="l"/>
              <a:pathLst>
                <a:path h="2688486" w="4635321">
                  <a:moveTo>
                    <a:pt x="0" y="0"/>
                  </a:moveTo>
                  <a:lnTo>
                    <a:pt x="4635321" y="0"/>
                  </a:lnTo>
                  <a:lnTo>
                    <a:pt x="4635321" y="2688487"/>
                  </a:lnTo>
                  <a:lnTo>
                    <a:pt x="0" y="2688487"/>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23" id="23"/>
            <p:cNvSpPr/>
            <p:nvPr/>
          </p:nvSpPr>
          <p:spPr>
            <a:xfrm flipH="false" flipV="false" rot="0">
              <a:off x="3375726" y="1468443"/>
              <a:ext cx="523870" cy="565581"/>
            </a:xfrm>
            <a:custGeom>
              <a:avLst/>
              <a:gdLst/>
              <a:ahLst/>
              <a:cxnLst/>
              <a:rect r="r" b="b" t="t" l="l"/>
              <a:pathLst>
                <a:path h="565581" w="523870">
                  <a:moveTo>
                    <a:pt x="0" y="0"/>
                  </a:moveTo>
                  <a:lnTo>
                    <a:pt x="523869" y="0"/>
                  </a:lnTo>
                  <a:lnTo>
                    <a:pt x="523869" y="565581"/>
                  </a:lnTo>
                  <a:lnTo>
                    <a:pt x="0" y="565581"/>
                  </a:lnTo>
                  <a:lnTo>
                    <a:pt x="0" y="0"/>
                  </a:lnTo>
                  <a:close/>
                </a:path>
              </a:pathLst>
            </a:custGeom>
            <a:blipFill>
              <a:blip r:embed="rId10"/>
              <a:stretch>
                <a:fillRect l="0" t="0" r="0" b="0"/>
              </a:stretch>
            </a:blipFill>
          </p:spPr>
        </p:sp>
        <p:sp>
          <p:nvSpPr>
            <p:cNvPr name="Freeform 24" id="24"/>
            <p:cNvSpPr/>
            <p:nvPr/>
          </p:nvSpPr>
          <p:spPr>
            <a:xfrm flipH="false" flipV="false" rot="0">
              <a:off x="521254" y="526522"/>
              <a:ext cx="1571884" cy="1398265"/>
            </a:xfrm>
            <a:custGeom>
              <a:avLst/>
              <a:gdLst/>
              <a:ahLst/>
              <a:cxnLst/>
              <a:rect r="r" b="b" t="t" l="l"/>
              <a:pathLst>
                <a:path h="1398265" w="1571884">
                  <a:moveTo>
                    <a:pt x="0" y="0"/>
                  </a:moveTo>
                  <a:lnTo>
                    <a:pt x="1571885" y="0"/>
                  </a:lnTo>
                  <a:lnTo>
                    <a:pt x="1571885" y="1398265"/>
                  </a:lnTo>
                  <a:lnTo>
                    <a:pt x="0" y="1398265"/>
                  </a:lnTo>
                  <a:lnTo>
                    <a:pt x="0" y="0"/>
                  </a:lnTo>
                  <a:close/>
                </a:path>
              </a:pathLst>
            </a:custGeom>
            <a:blipFill>
              <a:blip r:embed="rId11"/>
              <a:stretch>
                <a:fillRect l="0" t="-4100" r="0" b="-4100"/>
              </a:stretch>
            </a:blipFill>
          </p:spPr>
        </p:sp>
        <p:sp>
          <p:nvSpPr>
            <p:cNvPr name="TextBox 25" id="25"/>
            <p:cNvSpPr txBox="true"/>
            <p:nvPr/>
          </p:nvSpPr>
          <p:spPr>
            <a:xfrm rot="0">
              <a:off x="560521" y="881162"/>
              <a:ext cx="1532617" cy="648813"/>
            </a:xfrm>
            <a:prstGeom prst="rect">
              <a:avLst/>
            </a:prstGeom>
          </p:spPr>
          <p:txBody>
            <a:bodyPr anchor="t" rtlCol="false" tIns="0" lIns="0" bIns="0" rIns="0">
              <a:spAutoFit/>
            </a:bodyPr>
            <a:lstStyle/>
            <a:p>
              <a:pPr algn="ctr">
                <a:lnSpc>
                  <a:spcPts val="4089"/>
                </a:lnSpc>
                <a:spcBef>
                  <a:spcPct val="0"/>
                </a:spcBef>
              </a:pPr>
              <a:r>
                <a:rPr lang="en-US" sz="3029" spc="290">
                  <a:solidFill>
                    <a:srgbClr val="004AAD"/>
                  </a:solidFill>
                  <a:latin typeface="Great Vibes"/>
                  <a:ea typeface="Great Vibes"/>
                  <a:cs typeface="Great Vibes"/>
                  <a:sym typeface="Great Vibes"/>
                </a:rPr>
                <a:t>Manu</a:t>
              </a:r>
            </a:p>
          </p:txBody>
        </p:sp>
        <p:sp>
          <p:nvSpPr>
            <p:cNvPr name="TextBox 26" id="26"/>
            <p:cNvSpPr txBox="true"/>
            <p:nvPr/>
          </p:nvSpPr>
          <p:spPr>
            <a:xfrm rot="0">
              <a:off x="2002600" y="954022"/>
              <a:ext cx="2158232" cy="503093"/>
            </a:xfrm>
            <a:prstGeom prst="rect">
              <a:avLst/>
            </a:prstGeom>
          </p:spPr>
          <p:txBody>
            <a:bodyPr anchor="t" rtlCol="false" tIns="0" lIns="0" bIns="0" rIns="0">
              <a:spAutoFit/>
            </a:bodyPr>
            <a:lstStyle/>
            <a:p>
              <a:pPr algn="ctr">
                <a:lnSpc>
                  <a:spcPts val="3132"/>
                </a:lnSpc>
                <a:spcBef>
                  <a:spcPct val="0"/>
                </a:spcBef>
              </a:pPr>
              <a:r>
                <a:rPr lang="en-US" sz="2320" spc="549">
                  <a:solidFill>
                    <a:srgbClr val="004AAD"/>
                  </a:solidFill>
                  <a:latin typeface="Cheque Bold"/>
                  <a:ea typeface="Cheque Bold"/>
                  <a:cs typeface="Cheque Bold"/>
                  <a:sym typeface="Cheque Bold"/>
                </a:rPr>
                <a:t>FAKTUR</a:t>
              </a:r>
            </a:p>
          </p:txBody>
        </p:sp>
        <p:sp>
          <p:nvSpPr>
            <p:cNvPr name="TextBox 27" id="27"/>
            <p:cNvSpPr txBox="true"/>
            <p:nvPr/>
          </p:nvSpPr>
          <p:spPr>
            <a:xfrm rot="0">
              <a:off x="1539688" y="1764930"/>
              <a:ext cx="1555945" cy="139767"/>
            </a:xfrm>
            <a:prstGeom prst="rect">
              <a:avLst/>
            </a:prstGeom>
          </p:spPr>
          <p:txBody>
            <a:bodyPr anchor="t" rtlCol="false" tIns="0" lIns="0" bIns="0" rIns="0">
              <a:spAutoFit/>
            </a:bodyPr>
            <a:lstStyle/>
            <a:p>
              <a:pPr algn="ctr">
                <a:lnSpc>
                  <a:spcPts val="813"/>
                </a:lnSpc>
                <a:spcBef>
                  <a:spcPct val="0"/>
                </a:spcBef>
              </a:pPr>
              <a:r>
                <a:rPr lang="en-US" sz="602" spc="142">
                  <a:solidFill>
                    <a:srgbClr val="000000"/>
                  </a:solidFill>
                  <a:latin typeface="Now"/>
                  <a:ea typeface="Now"/>
                  <a:cs typeface="Now"/>
                  <a:sym typeface="Now"/>
                </a:rPr>
                <a:t>Individuelle Malerei</a:t>
              </a:r>
            </a:p>
          </p:txBody>
        </p:sp>
        <p:sp>
          <p:nvSpPr>
            <p:cNvPr name="Freeform 28" id="28"/>
            <p:cNvSpPr/>
            <p:nvPr/>
          </p:nvSpPr>
          <p:spPr>
            <a:xfrm flipH="false" flipV="false" rot="0">
              <a:off x="1693371" y="1924787"/>
              <a:ext cx="152922" cy="152922"/>
            </a:xfrm>
            <a:custGeom>
              <a:avLst/>
              <a:gdLst/>
              <a:ahLst/>
              <a:cxnLst/>
              <a:rect r="r" b="b" t="t" l="l"/>
              <a:pathLst>
                <a:path h="152922" w="152922">
                  <a:moveTo>
                    <a:pt x="0" y="0"/>
                  </a:moveTo>
                  <a:lnTo>
                    <a:pt x="152922" y="0"/>
                  </a:lnTo>
                  <a:lnTo>
                    <a:pt x="152922" y="152921"/>
                  </a:lnTo>
                  <a:lnTo>
                    <a:pt x="0" y="152921"/>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TextBox 29" id="29"/>
            <p:cNvSpPr txBox="true"/>
            <p:nvPr/>
          </p:nvSpPr>
          <p:spPr>
            <a:xfrm rot="0">
              <a:off x="1922258" y="1922084"/>
              <a:ext cx="1019693" cy="139277"/>
            </a:xfrm>
            <a:prstGeom prst="rect">
              <a:avLst/>
            </a:prstGeom>
          </p:spPr>
          <p:txBody>
            <a:bodyPr anchor="t" rtlCol="false" tIns="0" lIns="0" bIns="0" rIns="0">
              <a:spAutoFit/>
            </a:bodyPr>
            <a:lstStyle/>
            <a:p>
              <a:pPr algn="l">
                <a:lnSpc>
                  <a:spcPts val="810"/>
                </a:lnSpc>
                <a:spcBef>
                  <a:spcPct val="0"/>
                </a:spcBef>
              </a:pPr>
              <a:r>
                <a:rPr lang="en-US" sz="600" spc="142">
                  <a:solidFill>
                    <a:srgbClr val="000000"/>
                  </a:solidFill>
                  <a:latin typeface="Now"/>
                  <a:ea typeface="Now"/>
                  <a:cs typeface="Now"/>
                  <a:sym typeface="Now"/>
                </a:rPr>
                <a:t>0163 2662435</a:t>
              </a:r>
            </a:p>
          </p:txBody>
        </p:sp>
        <p:sp>
          <p:nvSpPr>
            <p:cNvPr name="TextBox 30" id="30"/>
            <p:cNvSpPr txBox="true"/>
            <p:nvPr/>
          </p:nvSpPr>
          <p:spPr>
            <a:xfrm rot="0">
              <a:off x="1222207" y="1497422"/>
              <a:ext cx="2190908" cy="200790"/>
            </a:xfrm>
            <a:prstGeom prst="rect">
              <a:avLst/>
            </a:prstGeom>
          </p:spPr>
          <p:txBody>
            <a:bodyPr anchor="t" rtlCol="false" tIns="0" lIns="0" bIns="0" rIns="0">
              <a:spAutoFit/>
            </a:bodyPr>
            <a:lstStyle/>
            <a:p>
              <a:pPr algn="ctr">
                <a:lnSpc>
                  <a:spcPts val="1218"/>
                </a:lnSpc>
                <a:spcBef>
                  <a:spcPct val="0"/>
                </a:spcBef>
              </a:pPr>
              <a:r>
                <a:rPr lang="en-US" sz="902" spc="213">
                  <a:solidFill>
                    <a:srgbClr val="000000"/>
                  </a:solidFill>
                  <a:latin typeface="Now"/>
                  <a:ea typeface="Now"/>
                  <a:cs typeface="Now"/>
                  <a:sym typeface="Now"/>
                </a:rPr>
                <a:t>Manuela Schenk</a:t>
              </a:r>
            </a:p>
          </p:txBody>
        </p:sp>
      </p:grpSp>
      <p:grpSp>
        <p:nvGrpSpPr>
          <p:cNvPr name="Group 31" id="31"/>
          <p:cNvGrpSpPr/>
          <p:nvPr/>
        </p:nvGrpSpPr>
        <p:grpSpPr>
          <a:xfrm rot="0">
            <a:off x="3817742" y="3112800"/>
            <a:ext cx="3056400" cy="919655"/>
            <a:chOff x="0" y="0"/>
            <a:chExt cx="4075200" cy="1226206"/>
          </a:xfrm>
        </p:grpSpPr>
        <p:sp>
          <p:nvSpPr>
            <p:cNvPr name="TextBox 32" id="32"/>
            <p:cNvSpPr txBox="true"/>
            <p:nvPr/>
          </p:nvSpPr>
          <p:spPr>
            <a:xfrm rot="0">
              <a:off x="0" y="511762"/>
              <a:ext cx="4075200" cy="714445"/>
            </a:xfrm>
            <a:prstGeom prst="rect">
              <a:avLst/>
            </a:prstGeom>
          </p:spPr>
          <p:txBody>
            <a:bodyPr anchor="t" rtlCol="false" tIns="0" lIns="0" bIns="0" rIns="0">
              <a:spAutoFit/>
            </a:bodyPr>
            <a:lstStyle/>
            <a:p>
              <a:pPr algn="l" marL="172720" indent="-86360" lvl="1">
                <a:lnSpc>
                  <a:spcPts val="1119"/>
                </a:lnSpc>
                <a:buFont typeface="Arial"/>
                <a:buChar char="•"/>
              </a:pPr>
              <a:r>
                <a:rPr lang="en-US" sz="799" spc="39">
                  <a:solidFill>
                    <a:srgbClr val="484540"/>
                  </a:solidFill>
                  <a:latin typeface="Now Light"/>
                  <a:ea typeface="Now Light"/>
                  <a:cs typeface="Now Light"/>
                  <a:sym typeface="Now Light"/>
                </a:rPr>
                <a:t>Frauchen von Balou :)</a:t>
              </a:r>
            </a:p>
            <a:p>
              <a:pPr algn="l" marL="172720" indent="-86360" lvl="1">
                <a:lnSpc>
                  <a:spcPts val="1119"/>
                </a:lnSpc>
                <a:buFont typeface="Arial"/>
                <a:buChar char="•"/>
              </a:pPr>
              <a:r>
                <a:rPr lang="en-US" sz="799" spc="39">
                  <a:solidFill>
                    <a:srgbClr val="484540"/>
                  </a:solidFill>
                  <a:latin typeface="Now"/>
                  <a:ea typeface="Now"/>
                  <a:cs typeface="Now"/>
                  <a:sym typeface="Now"/>
                </a:rPr>
                <a:t>L</a:t>
              </a:r>
              <a:r>
                <a:rPr lang="en-US" sz="799" spc="39">
                  <a:solidFill>
                    <a:srgbClr val="484540"/>
                  </a:solidFill>
                  <a:latin typeface="Now Light"/>
                  <a:ea typeface="Now Light"/>
                  <a:cs typeface="Now Light"/>
                  <a:sym typeface="Now Light"/>
                </a:rPr>
                <a:t>eidenschaftliche Hobbymalerin, Hundeliebhaberin und Naturfreundin – besonders im Wald finde ich oft die Inspiration für meine Arbeiten.</a:t>
              </a:r>
            </a:p>
          </p:txBody>
        </p:sp>
        <p:sp>
          <p:nvSpPr>
            <p:cNvPr name="TextBox 33" id="33"/>
            <p:cNvSpPr txBox="true"/>
            <p:nvPr/>
          </p:nvSpPr>
          <p:spPr>
            <a:xfrm rot="0">
              <a:off x="0" y="-28575"/>
              <a:ext cx="4075200" cy="422723"/>
            </a:xfrm>
            <a:prstGeom prst="rect">
              <a:avLst/>
            </a:prstGeom>
          </p:spPr>
          <p:txBody>
            <a:bodyPr anchor="t" rtlCol="false" tIns="0" lIns="0" bIns="0" rIns="0">
              <a:spAutoFit/>
            </a:bodyPr>
            <a:lstStyle/>
            <a:p>
              <a:pPr algn="l">
                <a:lnSpc>
                  <a:spcPts val="2676"/>
                </a:lnSpc>
              </a:pPr>
              <a:r>
                <a:rPr lang="en-US" sz="1982" spc="164" b="true">
                  <a:solidFill>
                    <a:srgbClr val="484540"/>
                  </a:solidFill>
                  <a:latin typeface="Now Medium"/>
                  <a:ea typeface="Now Medium"/>
                  <a:cs typeface="Now Medium"/>
                  <a:sym typeface="Now Medium"/>
                </a:rPr>
                <a:t>Wer bin ich?</a:t>
              </a:r>
            </a:p>
          </p:txBody>
        </p:sp>
      </p:grpSp>
      <p:grpSp>
        <p:nvGrpSpPr>
          <p:cNvPr name="Group 34" id="34"/>
          <p:cNvGrpSpPr/>
          <p:nvPr/>
        </p:nvGrpSpPr>
        <p:grpSpPr>
          <a:xfrm rot="0">
            <a:off x="3817742" y="4228718"/>
            <a:ext cx="3056400" cy="1119840"/>
            <a:chOff x="0" y="0"/>
            <a:chExt cx="4075200" cy="1493120"/>
          </a:xfrm>
        </p:grpSpPr>
        <p:sp>
          <p:nvSpPr>
            <p:cNvPr name="TextBox 35" id="35"/>
            <p:cNvSpPr txBox="true"/>
            <p:nvPr/>
          </p:nvSpPr>
          <p:spPr>
            <a:xfrm rot="0">
              <a:off x="0" y="-28575"/>
              <a:ext cx="4075200" cy="867223"/>
            </a:xfrm>
            <a:prstGeom prst="rect">
              <a:avLst/>
            </a:prstGeom>
          </p:spPr>
          <p:txBody>
            <a:bodyPr anchor="t" rtlCol="false" tIns="0" lIns="0" bIns="0" rIns="0">
              <a:spAutoFit/>
            </a:bodyPr>
            <a:lstStyle/>
            <a:p>
              <a:pPr algn="l">
                <a:lnSpc>
                  <a:spcPts val="2676"/>
                </a:lnSpc>
              </a:pPr>
              <a:r>
                <a:rPr lang="en-US" sz="1982" spc="164" b="true">
                  <a:solidFill>
                    <a:srgbClr val="484540"/>
                  </a:solidFill>
                  <a:latin typeface="Now Medium"/>
                  <a:ea typeface="Now Medium"/>
                  <a:cs typeface="Now Medium"/>
                  <a:sym typeface="Now Medium"/>
                </a:rPr>
                <a:t>Mein Weg zur Malerei</a:t>
              </a:r>
            </a:p>
          </p:txBody>
        </p:sp>
        <p:sp>
          <p:nvSpPr>
            <p:cNvPr name="TextBox 36" id="36"/>
            <p:cNvSpPr txBox="true"/>
            <p:nvPr/>
          </p:nvSpPr>
          <p:spPr>
            <a:xfrm rot="0">
              <a:off x="0" y="959298"/>
              <a:ext cx="4075200" cy="533823"/>
            </a:xfrm>
            <a:prstGeom prst="rect">
              <a:avLst/>
            </a:prstGeom>
          </p:spPr>
          <p:txBody>
            <a:bodyPr anchor="t" rtlCol="false" tIns="0" lIns="0" bIns="0" rIns="0">
              <a:spAutoFit/>
            </a:bodyPr>
            <a:lstStyle/>
            <a:p>
              <a:pPr algn="l" marL="172720" indent="-86360" lvl="1">
                <a:lnSpc>
                  <a:spcPts val="1119"/>
                </a:lnSpc>
                <a:buFont typeface="Arial"/>
                <a:buChar char="•"/>
              </a:pPr>
              <a:r>
                <a:rPr lang="en-US" sz="799" spc="39">
                  <a:solidFill>
                    <a:srgbClr val="484540"/>
                  </a:solidFill>
                  <a:latin typeface="Now Light"/>
                  <a:ea typeface="Now Light"/>
                  <a:cs typeface="Now Light"/>
                  <a:sym typeface="Now Light"/>
                </a:rPr>
                <a:t>Zahlreiche Kunst-/Mal-Lehrgänge im Alanus Werkhaus Alfter</a:t>
              </a:r>
            </a:p>
            <a:p>
              <a:pPr algn="l" marL="172720" indent="-86360" lvl="1">
                <a:lnSpc>
                  <a:spcPts val="1119"/>
                </a:lnSpc>
                <a:buFont typeface="Arial"/>
                <a:buChar char="•"/>
              </a:pPr>
              <a:r>
                <a:rPr lang="en-US" sz="799" spc="39">
                  <a:solidFill>
                    <a:srgbClr val="484540"/>
                  </a:solidFill>
                  <a:latin typeface="Now Light"/>
                  <a:ea typeface="Now Light"/>
                  <a:cs typeface="Now Light"/>
                  <a:sym typeface="Now Light"/>
                </a:rPr>
                <a:t>Private Malkurse bei promovierter Dozentin </a:t>
              </a:r>
            </a:p>
          </p:txBody>
        </p:sp>
      </p:grpSp>
      <p:sp>
        <p:nvSpPr>
          <p:cNvPr name="AutoShape 37" id="37"/>
          <p:cNvSpPr/>
          <p:nvPr/>
        </p:nvSpPr>
        <p:spPr>
          <a:xfrm flipH="true">
            <a:off x="3817742" y="639590"/>
            <a:ext cx="3056632" cy="0"/>
          </a:xfrm>
          <a:prstGeom prst="line">
            <a:avLst/>
          </a:prstGeom>
          <a:ln cap="flat" w="47625">
            <a:solidFill>
              <a:srgbClr val="484540"/>
            </a:solidFill>
            <a:prstDash val="solid"/>
            <a:headEnd type="none" len="sm" w="sm"/>
            <a:tailEnd type="none" len="sm" w="sm"/>
          </a:ln>
        </p:spPr>
      </p:sp>
      <p:sp>
        <p:nvSpPr>
          <p:cNvPr name="AutoShape 38" id="38"/>
          <p:cNvSpPr/>
          <p:nvPr/>
        </p:nvSpPr>
        <p:spPr>
          <a:xfrm flipH="true">
            <a:off x="3817742" y="7049251"/>
            <a:ext cx="3056632" cy="0"/>
          </a:xfrm>
          <a:prstGeom prst="line">
            <a:avLst/>
          </a:prstGeom>
          <a:ln cap="flat" w="47625">
            <a:solidFill>
              <a:srgbClr val="484540"/>
            </a:solidFill>
            <a:prstDash val="solid"/>
            <a:headEnd type="none" len="sm" w="sm"/>
            <a:tailEnd type="none" len="sm" w="sm"/>
          </a:ln>
        </p:spPr>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show="false">
  <p:cSld>
    <p:spTree>
      <p:nvGrpSpPr>
        <p:cNvPr id="1" name=""/>
        <p:cNvGrpSpPr/>
        <p:nvPr/>
      </p:nvGrpSpPr>
      <p:grpSpPr>
        <a:xfrm>
          <a:off x="0" y="0"/>
          <a:ext cx="0" cy="0"/>
          <a:chOff x="0" y="0"/>
          <a:chExt cx="0" cy="0"/>
        </a:xfrm>
      </p:grpSpPr>
      <p:sp>
        <p:nvSpPr>
          <p:cNvPr name="AutoShape 2" id="2"/>
          <p:cNvSpPr/>
          <p:nvPr/>
        </p:nvSpPr>
        <p:spPr>
          <a:xfrm>
            <a:off x="4340660" y="756000"/>
            <a:ext cx="6554255" cy="0"/>
          </a:xfrm>
          <a:prstGeom prst="line">
            <a:avLst/>
          </a:prstGeom>
          <a:ln cap="flat" w="47625">
            <a:solidFill>
              <a:srgbClr val="484540"/>
            </a:solidFill>
            <a:prstDash val="solid"/>
            <a:headEnd type="none" len="sm" w="sm"/>
            <a:tailEnd type="none" len="sm" w="sm"/>
          </a:ln>
        </p:spPr>
      </p:sp>
      <p:sp>
        <p:nvSpPr>
          <p:cNvPr name="AutoShape 3" id="3"/>
          <p:cNvSpPr/>
          <p:nvPr/>
        </p:nvSpPr>
        <p:spPr>
          <a:xfrm flipH="true">
            <a:off x="233024" y="7049251"/>
            <a:ext cx="3056632" cy="0"/>
          </a:xfrm>
          <a:prstGeom prst="line">
            <a:avLst/>
          </a:prstGeom>
          <a:ln cap="flat" w="47625">
            <a:solidFill>
              <a:srgbClr val="484540"/>
            </a:solidFill>
            <a:prstDash val="solid"/>
            <a:headEnd type="none" len="sm" w="sm"/>
            <a:tailEnd type="none" len="sm" w="sm"/>
          </a:ln>
        </p:spPr>
      </p:sp>
      <p:sp>
        <p:nvSpPr>
          <p:cNvPr name="AutoShape 4" id="4"/>
          <p:cNvSpPr/>
          <p:nvPr/>
        </p:nvSpPr>
        <p:spPr>
          <a:xfrm flipH="true">
            <a:off x="7331178" y="7059436"/>
            <a:ext cx="3056632" cy="0"/>
          </a:xfrm>
          <a:prstGeom prst="line">
            <a:avLst/>
          </a:prstGeom>
          <a:ln cap="flat" w="47625">
            <a:solidFill>
              <a:srgbClr val="484540"/>
            </a:solidFill>
            <a:prstDash val="solid"/>
            <a:headEnd type="none" len="sm" w="sm"/>
            <a:tailEnd type="none" len="sm" w="sm"/>
          </a:ln>
        </p:spPr>
      </p:sp>
      <p:sp>
        <p:nvSpPr>
          <p:cNvPr name="AutoShape 5" id="5"/>
          <p:cNvSpPr/>
          <p:nvPr/>
        </p:nvSpPr>
        <p:spPr>
          <a:xfrm flipH="true">
            <a:off x="3864638" y="7049251"/>
            <a:ext cx="3056632" cy="0"/>
          </a:xfrm>
          <a:prstGeom prst="line">
            <a:avLst/>
          </a:prstGeom>
          <a:ln cap="flat" w="47625">
            <a:solidFill>
              <a:srgbClr val="484540"/>
            </a:solidFill>
            <a:prstDash val="solid"/>
            <a:headEnd type="none" len="sm" w="sm"/>
            <a:tailEnd type="none" len="sm" w="sm"/>
          </a:ln>
        </p:spPr>
      </p:sp>
      <p:sp>
        <p:nvSpPr>
          <p:cNvPr name="Freeform 6" id="6"/>
          <p:cNvSpPr/>
          <p:nvPr/>
        </p:nvSpPr>
        <p:spPr>
          <a:xfrm flipH="false" flipV="false" rot="0">
            <a:off x="233024" y="1399007"/>
            <a:ext cx="1480812" cy="1974416"/>
          </a:xfrm>
          <a:custGeom>
            <a:avLst/>
            <a:gdLst/>
            <a:ahLst/>
            <a:cxnLst/>
            <a:rect r="r" b="b" t="t" l="l"/>
            <a:pathLst>
              <a:path h="1974416" w="1480812">
                <a:moveTo>
                  <a:pt x="0" y="0"/>
                </a:moveTo>
                <a:lnTo>
                  <a:pt x="1480812" y="0"/>
                </a:lnTo>
                <a:lnTo>
                  <a:pt x="1480812" y="1974416"/>
                </a:lnTo>
                <a:lnTo>
                  <a:pt x="0" y="1974416"/>
                </a:lnTo>
                <a:lnTo>
                  <a:pt x="0" y="0"/>
                </a:lnTo>
                <a:close/>
              </a:path>
            </a:pathLst>
          </a:custGeom>
          <a:blipFill>
            <a:blip r:embed="rId2"/>
            <a:stretch>
              <a:fillRect l="0" t="0" r="0" b="0"/>
            </a:stretch>
          </a:blipFill>
        </p:spPr>
      </p:sp>
      <p:sp>
        <p:nvSpPr>
          <p:cNvPr name="Freeform 7" id="7"/>
          <p:cNvSpPr/>
          <p:nvPr/>
        </p:nvSpPr>
        <p:spPr>
          <a:xfrm flipH="false" flipV="false" rot="0">
            <a:off x="233024" y="5452175"/>
            <a:ext cx="1804755" cy="1353566"/>
          </a:xfrm>
          <a:custGeom>
            <a:avLst/>
            <a:gdLst/>
            <a:ahLst/>
            <a:cxnLst/>
            <a:rect r="r" b="b" t="t" l="l"/>
            <a:pathLst>
              <a:path h="1353566" w="1804755">
                <a:moveTo>
                  <a:pt x="0" y="0"/>
                </a:moveTo>
                <a:lnTo>
                  <a:pt x="1804755" y="0"/>
                </a:lnTo>
                <a:lnTo>
                  <a:pt x="1804755" y="1353566"/>
                </a:lnTo>
                <a:lnTo>
                  <a:pt x="0" y="1353566"/>
                </a:lnTo>
                <a:lnTo>
                  <a:pt x="0" y="0"/>
                </a:lnTo>
                <a:close/>
              </a:path>
            </a:pathLst>
          </a:custGeom>
          <a:blipFill>
            <a:blip r:embed="rId3"/>
            <a:stretch>
              <a:fillRect l="0" t="0" r="0" b="0"/>
            </a:stretch>
          </a:blipFill>
        </p:spPr>
      </p:sp>
      <p:grpSp>
        <p:nvGrpSpPr>
          <p:cNvPr name="Group 8" id="8"/>
          <p:cNvGrpSpPr/>
          <p:nvPr/>
        </p:nvGrpSpPr>
        <p:grpSpPr>
          <a:xfrm rot="0">
            <a:off x="1817038" y="1399007"/>
            <a:ext cx="1472618" cy="1974416"/>
            <a:chOff x="0" y="0"/>
            <a:chExt cx="812800" cy="1089764"/>
          </a:xfrm>
        </p:grpSpPr>
        <p:sp>
          <p:nvSpPr>
            <p:cNvPr name="Freeform 9" id="9"/>
            <p:cNvSpPr/>
            <p:nvPr/>
          </p:nvSpPr>
          <p:spPr>
            <a:xfrm flipH="false" flipV="false" rot="0">
              <a:off x="0" y="0"/>
              <a:ext cx="812800" cy="1089764"/>
            </a:xfrm>
            <a:custGeom>
              <a:avLst/>
              <a:gdLst/>
              <a:ahLst/>
              <a:cxnLst/>
              <a:rect r="r" b="b" t="t" l="l"/>
              <a:pathLst>
                <a:path h="1089764" w="812800">
                  <a:moveTo>
                    <a:pt x="0" y="0"/>
                  </a:moveTo>
                  <a:lnTo>
                    <a:pt x="812800" y="0"/>
                  </a:lnTo>
                  <a:lnTo>
                    <a:pt x="812800" y="1089764"/>
                  </a:lnTo>
                  <a:lnTo>
                    <a:pt x="0" y="1089764"/>
                  </a:lnTo>
                  <a:close/>
                </a:path>
              </a:pathLst>
            </a:custGeom>
            <a:blipFill>
              <a:blip r:embed="rId4"/>
              <a:stretch>
                <a:fillRect l="-217" t="0" r="-217" b="0"/>
              </a:stretch>
            </a:blipFill>
          </p:spPr>
        </p:sp>
      </p:grpSp>
      <p:grpSp>
        <p:nvGrpSpPr>
          <p:cNvPr name="Group 10" id="10"/>
          <p:cNvGrpSpPr/>
          <p:nvPr/>
        </p:nvGrpSpPr>
        <p:grpSpPr>
          <a:xfrm rot="0">
            <a:off x="2166535" y="5452175"/>
            <a:ext cx="1123121" cy="1353566"/>
            <a:chOff x="0" y="0"/>
            <a:chExt cx="812800" cy="979572"/>
          </a:xfrm>
        </p:grpSpPr>
        <p:sp>
          <p:nvSpPr>
            <p:cNvPr name="Freeform 11" id="11"/>
            <p:cNvSpPr/>
            <p:nvPr/>
          </p:nvSpPr>
          <p:spPr>
            <a:xfrm flipH="false" flipV="false" rot="0">
              <a:off x="0" y="0"/>
              <a:ext cx="812800" cy="979572"/>
            </a:xfrm>
            <a:custGeom>
              <a:avLst/>
              <a:gdLst/>
              <a:ahLst/>
              <a:cxnLst/>
              <a:rect r="r" b="b" t="t" l="l"/>
              <a:pathLst>
                <a:path h="979572" w="812800">
                  <a:moveTo>
                    <a:pt x="0" y="0"/>
                  </a:moveTo>
                  <a:lnTo>
                    <a:pt x="812800" y="0"/>
                  </a:lnTo>
                  <a:lnTo>
                    <a:pt x="812800" y="979572"/>
                  </a:lnTo>
                  <a:lnTo>
                    <a:pt x="0" y="979572"/>
                  </a:lnTo>
                  <a:close/>
                </a:path>
              </a:pathLst>
            </a:custGeom>
            <a:blipFill>
              <a:blip r:embed="rId5"/>
              <a:stretch>
                <a:fillRect l="0" t="-5258" r="0" b="-5374"/>
              </a:stretch>
            </a:blipFill>
          </p:spPr>
        </p:sp>
      </p:grpSp>
      <p:grpSp>
        <p:nvGrpSpPr>
          <p:cNvPr name="Group 12" id="12"/>
          <p:cNvGrpSpPr/>
          <p:nvPr/>
        </p:nvGrpSpPr>
        <p:grpSpPr>
          <a:xfrm rot="0">
            <a:off x="3864870" y="2585983"/>
            <a:ext cx="3056400" cy="2057492"/>
            <a:chOff x="0" y="0"/>
            <a:chExt cx="644320" cy="433740"/>
          </a:xfrm>
        </p:grpSpPr>
        <p:sp>
          <p:nvSpPr>
            <p:cNvPr name="Freeform 13" id="13"/>
            <p:cNvSpPr/>
            <p:nvPr/>
          </p:nvSpPr>
          <p:spPr>
            <a:xfrm flipH="false" flipV="false" rot="-5400000">
              <a:off x="105290" y="-105290"/>
              <a:ext cx="433740" cy="644320"/>
            </a:xfrm>
            <a:custGeom>
              <a:avLst/>
              <a:gdLst/>
              <a:ahLst/>
              <a:cxnLst/>
              <a:rect r="r" b="b" t="t" l="l"/>
              <a:pathLst>
                <a:path h="644320" w="433740">
                  <a:moveTo>
                    <a:pt x="433740" y="0"/>
                  </a:moveTo>
                  <a:lnTo>
                    <a:pt x="433740" y="644320"/>
                  </a:lnTo>
                  <a:lnTo>
                    <a:pt x="0" y="644320"/>
                  </a:lnTo>
                  <a:lnTo>
                    <a:pt x="0" y="0"/>
                  </a:lnTo>
                  <a:close/>
                </a:path>
              </a:pathLst>
            </a:custGeom>
            <a:blipFill>
              <a:blip r:embed="rId6"/>
              <a:stretch>
                <a:fillRect l="-27143" t="-3356" r="-5327" b="-15545"/>
              </a:stretch>
            </a:blipFill>
          </p:spPr>
        </p:sp>
      </p:grpSp>
      <p:sp>
        <p:nvSpPr>
          <p:cNvPr name="TextBox 14" id="14"/>
          <p:cNvSpPr txBox="true"/>
          <p:nvPr/>
        </p:nvSpPr>
        <p:spPr>
          <a:xfrm rot="0">
            <a:off x="756000" y="7162014"/>
            <a:ext cx="2010680" cy="154305"/>
          </a:xfrm>
          <a:prstGeom prst="rect">
            <a:avLst/>
          </a:prstGeom>
        </p:spPr>
        <p:txBody>
          <a:bodyPr anchor="t" rtlCol="false" tIns="0" lIns="0" bIns="0" rIns="0">
            <a:spAutoFit/>
          </a:bodyPr>
          <a:lstStyle/>
          <a:p>
            <a:pPr algn="ctr">
              <a:lnSpc>
                <a:spcPts val="1215"/>
              </a:lnSpc>
              <a:spcBef>
                <a:spcPct val="0"/>
              </a:spcBef>
            </a:pPr>
            <a:r>
              <a:rPr lang="en-US" b="true" sz="900" spc="213">
                <a:solidFill>
                  <a:srgbClr val="484540"/>
                </a:solidFill>
                <a:latin typeface="Now Medium"/>
                <a:ea typeface="Now Medium"/>
                <a:cs typeface="Now Medium"/>
                <a:sym typeface="Now Medium"/>
              </a:rPr>
              <a:t>Manuela Schenk</a:t>
            </a:r>
          </a:p>
        </p:txBody>
      </p:sp>
      <p:sp>
        <p:nvSpPr>
          <p:cNvPr name="TextBox 15" id="15"/>
          <p:cNvSpPr txBox="true"/>
          <p:nvPr/>
        </p:nvSpPr>
        <p:spPr>
          <a:xfrm rot="0">
            <a:off x="7854154" y="7172199"/>
            <a:ext cx="2010680" cy="154305"/>
          </a:xfrm>
          <a:prstGeom prst="rect">
            <a:avLst/>
          </a:prstGeom>
        </p:spPr>
        <p:txBody>
          <a:bodyPr anchor="t" rtlCol="false" tIns="0" lIns="0" bIns="0" rIns="0">
            <a:spAutoFit/>
          </a:bodyPr>
          <a:lstStyle/>
          <a:p>
            <a:pPr algn="ctr">
              <a:lnSpc>
                <a:spcPts val="1215"/>
              </a:lnSpc>
              <a:spcBef>
                <a:spcPct val="0"/>
              </a:spcBef>
            </a:pPr>
            <a:r>
              <a:rPr lang="en-US" b="true" sz="900" spc="213">
                <a:solidFill>
                  <a:srgbClr val="484540"/>
                </a:solidFill>
                <a:latin typeface="Now Medium"/>
                <a:ea typeface="Now Medium"/>
                <a:cs typeface="Now Medium"/>
                <a:sym typeface="Now Medium"/>
              </a:rPr>
              <a:t>amschenk@web.de</a:t>
            </a:r>
          </a:p>
        </p:txBody>
      </p:sp>
      <p:sp>
        <p:nvSpPr>
          <p:cNvPr name="TextBox 16" id="16"/>
          <p:cNvSpPr txBox="true"/>
          <p:nvPr/>
        </p:nvSpPr>
        <p:spPr>
          <a:xfrm rot="0">
            <a:off x="4340660" y="7162014"/>
            <a:ext cx="2010680" cy="154305"/>
          </a:xfrm>
          <a:prstGeom prst="rect">
            <a:avLst/>
          </a:prstGeom>
        </p:spPr>
        <p:txBody>
          <a:bodyPr anchor="t" rtlCol="false" tIns="0" lIns="0" bIns="0" rIns="0">
            <a:spAutoFit/>
          </a:bodyPr>
          <a:lstStyle/>
          <a:p>
            <a:pPr algn="ctr">
              <a:lnSpc>
                <a:spcPts val="1215"/>
              </a:lnSpc>
              <a:spcBef>
                <a:spcPct val="0"/>
              </a:spcBef>
            </a:pPr>
            <a:r>
              <a:rPr lang="en-US" b="true" sz="900" spc="213">
                <a:solidFill>
                  <a:srgbClr val="484540"/>
                </a:solidFill>
                <a:latin typeface="Now Medium"/>
                <a:ea typeface="Now Medium"/>
                <a:cs typeface="Now Medium"/>
                <a:sym typeface="Now Medium"/>
              </a:rPr>
              <a:t>+49 163 2662435</a:t>
            </a:r>
          </a:p>
        </p:txBody>
      </p:sp>
      <p:grpSp>
        <p:nvGrpSpPr>
          <p:cNvPr name="Group 17" id="17"/>
          <p:cNvGrpSpPr/>
          <p:nvPr/>
        </p:nvGrpSpPr>
        <p:grpSpPr>
          <a:xfrm rot="0">
            <a:off x="7331409" y="6025625"/>
            <a:ext cx="3056400" cy="780116"/>
            <a:chOff x="0" y="0"/>
            <a:chExt cx="4075200" cy="1040155"/>
          </a:xfrm>
        </p:grpSpPr>
        <p:sp>
          <p:nvSpPr>
            <p:cNvPr name="TextBox 18" id="18"/>
            <p:cNvSpPr txBox="true"/>
            <p:nvPr/>
          </p:nvSpPr>
          <p:spPr>
            <a:xfrm rot="0">
              <a:off x="0" y="506332"/>
              <a:ext cx="4075200" cy="533823"/>
            </a:xfrm>
            <a:prstGeom prst="rect">
              <a:avLst/>
            </a:prstGeom>
          </p:spPr>
          <p:txBody>
            <a:bodyPr anchor="t" rtlCol="false" tIns="0" lIns="0" bIns="0" rIns="0">
              <a:spAutoFit/>
            </a:bodyPr>
            <a:lstStyle/>
            <a:p>
              <a:pPr algn="l">
                <a:lnSpc>
                  <a:spcPts val="1119"/>
                </a:lnSpc>
              </a:pPr>
              <a:r>
                <a:rPr lang="en-US" sz="799" spc="39">
                  <a:solidFill>
                    <a:srgbClr val="484540"/>
                  </a:solidFill>
                  <a:latin typeface="Now Light"/>
                  <a:ea typeface="Now Light"/>
                  <a:cs typeface="Now Light"/>
                  <a:sym typeface="Now Light"/>
                </a:rPr>
                <a:t>Auch besondere Landschaften und Orte faszinieren mich. Wenn Du auch solche Lieblingsorte hast, kann ich sie Dir auf Leinwand zaubern.</a:t>
              </a:r>
            </a:p>
          </p:txBody>
        </p:sp>
        <p:sp>
          <p:nvSpPr>
            <p:cNvPr name="TextBox 19" id="19"/>
            <p:cNvSpPr txBox="true"/>
            <p:nvPr/>
          </p:nvSpPr>
          <p:spPr>
            <a:xfrm rot="0">
              <a:off x="0" y="-28575"/>
              <a:ext cx="4075200" cy="422723"/>
            </a:xfrm>
            <a:prstGeom prst="rect">
              <a:avLst/>
            </a:prstGeom>
          </p:spPr>
          <p:txBody>
            <a:bodyPr anchor="t" rtlCol="false" tIns="0" lIns="0" bIns="0" rIns="0">
              <a:spAutoFit/>
            </a:bodyPr>
            <a:lstStyle/>
            <a:p>
              <a:pPr algn="l">
                <a:lnSpc>
                  <a:spcPts val="2676"/>
                </a:lnSpc>
              </a:pPr>
              <a:r>
                <a:rPr lang="en-US" sz="1982" spc="164" b="true">
                  <a:solidFill>
                    <a:srgbClr val="484540"/>
                  </a:solidFill>
                  <a:latin typeface="Now Medium"/>
                  <a:ea typeface="Now Medium"/>
                  <a:cs typeface="Now Medium"/>
                  <a:sym typeface="Now Medium"/>
                </a:rPr>
                <a:t>Dein Lieblingsort</a:t>
              </a:r>
            </a:p>
          </p:txBody>
        </p:sp>
      </p:grpSp>
      <p:grpSp>
        <p:nvGrpSpPr>
          <p:cNvPr name="Group 20" id="20"/>
          <p:cNvGrpSpPr/>
          <p:nvPr/>
        </p:nvGrpSpPr>
        <p:grpSpPr>
          <a:xfrm rot="0">
            <a:off x="3865152" y="4805711"/>
            <a:ext cx="3056400" cy="2057492"/>
            <a:chOff x="0" y="0"/>
            <a:chExt cx="644320" cy="433740"/>
          </a:xfrm>
        </p:grpSpPr>
        <p:sp>
          <p:nvSpPr>
            <p:cNvPr name="Freeform 21" id="21"/>
            <p:cNvSpPr/>
            <p:nvPr/>
          </p:nvSpPr>
          <p:spPr>
            <a:xfrm flipH="false" flipV="false" rot="0">
              <a:off x="0" y="0"/>
              <a:ext cx="644320" cy="433740"/>
            </a:xfrm>
            <a:custGeom>
              <a:avLst/>
              <a:gdLst/>
              <a:ahLst/>
              <a:cxnLst/>
              <a:rect r="r" b="b" t="t" l="l"/>
              <a:pathLst>
                <a:path h="433740" w="644320">
                  <a:moveTo>
                    <a:pt x="0" y="0"/>
                  </a:moveTo>
                  <a:lnTo>
                    <a:pt x="644320" y="0"/>
                  </a:lnTo>
                  <a:lnTo>
                    <a:pt x="644320" y="433740"/>
                  </a:lnTo>
                  <a:lnTo>
                    <a:pt x="0" y="433740"/>
                  </a:lnTo>
                  <a:close/>
                </a:path>
              </a:pathLst>
            </a:custGeom>
            <a:blipFill>
              <a:blip r:embed="rId7"/>
              <a:stretch>
                <a:fillRect l="0" t="-3140" r="0" b="-8272"/>
              </a:stretch>
            </a:blipFill>
          </p:spPr>
        </p:sp>
      </p:grpSp>
      <p:grpSp>
        <p:nvGrpSpPr>
          <p:cNvPr name="Group 22" id="22"/>
          <p:cNvGrpSpPr/>
          <p:nvPr/>
        </p:nvGrpSpPr>
        <p:grpSpPr>
          <a:xfrm rot="0">
            <a:off x="7331409" y="1399007"/>
            <a:ext cx="3056400" cy="2057492"/>
            <a:chOff x="0" y="0"/>
            <a:chExt cx="644320" cy="433740"/>
          </a:xfrm>
        </p:grpSpPr>
        <p:sp>
          <p:nvSpPr>
            <p:cNvPr name="Freeform 23" id="23"/>
            <p:cNvSpPr/>
            <p:nvPr/>
          </p:nvSpPr>
          <p:spPr>
            <a:xfrm flipH="false" flipV="false" rot="0">
              <a:off x="0" y="0"/>
              <a:ext cx="644320" cy="433740"/>
            </a:xfrm>
            <a:custGeom>
              <a:avLst/>
              <a:gdLst/>
              <a:ahLst/>
              <a:cxnLst/>
              <a:rect r="r" b="b" t="t" l="l"/>
              <a:pathLst>
                <a:path h="433740" w="644320">
                  <a:moveTo>
                    <a:pt x="0" y="0"/>
                  </a:moveTo>
                  <a:lnTo>
                    <a:pt x="644320" y="0"/>
                  </a:lnTo>
                  <a:lnTo>
                    <a:pt x="644320" y="433740"/>
                  </a:lnTo>
                  <a:lnTo>
                    <a:pt x="0" y="433740"/>
                  </a:lnTo>
                  <a:close/>
                </a:path>
              </a:pathLst>
            </a:custGeom>
            <a:blipFill>
              <a:blip r:embed="rId8"/>
              <a:stretch>
                <a:fillRect l="-2000" t="-8279" r="-1006" b="-6482"/>
              </a:stretch>
            </a:blipFill>
          </p:spPr>
        </p:sp>
      </p:grpSp>
      <p:grpSp>
        <p:nvGrpSpPr>
          <p:cNvPr name="Group 24" id="24"/>
          <p:cNvGrpSpPr/>
          <p:nvPr/>
        </p:nvGrpSpPr>
        <p:grpSpPr>
          <a:xfrm rot="0">
            <a:off x="7331409" y="3614729"/>
            <a:ext cx="3056400" cy="2057492"/>
            <a:chOff x="0" y="0"/>
            <a:chExt cx="644320" cy="433740"/>
          </a:xfrm>
        </p:grpSpPr>
        <p:sp>
          <p:nvSpPr>
            <p:cNvPr name="Freeform 25" id="25"/>
            <p:cNvSpPr/>
            <p:nvPr/>
          </p:nvSpPr>
          <p:spPr>
            <a:xfrm flipH="false" flipV="false" rot="0">
              <a:off x="0" y="0"/>
              <a:ext cx="644320" cy="433740"/>
            </a:xfrm>
            <a:custGeom>
              <a:avLst/>
              <a:gdLst/>
              <a:ahLst/>
              <a:cxnLst/>
              <a:rect r="r" b="b" t="t" l="l"/>
              <a:pathLst>
                <a:path h="433740" w="644320">
                  <a:moveTo>
                    <a:pt x="0" y="0"/>
                  </a:moveTo>
                  <a:lnTo>
                    <a:pt x="644320" y="0"/>
                  </a:lnTo>
                  <a:lnTo>
                    <a:pt x="644320" y="433740"/>
                  </a:lnTo>
                  <a:lnTo>
                    <a:pt x="0" y="433740"/>
                  </a:lnTo>
                  <a:close/>
                </a:path>
              </a:pathLst>
            </a:custGeom>
            <a:blipFill>
              <a:blip r:embed="rId9"/>
              <a:stretch>
                <a:fillRect l="-1906" t="-13563" r="-4698" b="-5207"/>
              </a:stretch>
            </a:blipFill>
          </p:spPr>
        </p:sp>
      </p:grpSp>
      <p:grpSp>
        <p:nvGrpSpPr>
          <p:cNvPr name="Group 26" id="26"/>
          <p:cNvGrpSpPr/>
          <p:nvPr/>
        </p:nvGrpSpPr>
        <p:grpSpPr>
          <a:xfrm rot="0">
            <a:off x="3864870" y="1399007"/>
            <a:ext cx="3056400" cy="978025"/>
            <a:chOff x="0" y="0"/>
            <a:chExt cx="4075200" cy="1304033"/>
          </a:xfrm>
        </p:grpSpPr>
        <p:sp>
          <p:nvSpPr>
            <p:cNvPr name="TextBox 27" id="27"/>
            <p:cNvSpPr txBox="true"/>
            <p:nvPr/>
          </p:nvSpPr>
          <p:spPr>
            <a:xfrm rot="0">
              <a:off x="0" y="950832"/>
              <a:ext cx="4075200" cy="353201"/>
            </a:xfrm>
            <a:prstGeom prst="rect">
              <a:avLst/>
            </a:prstGeom>
          </p:spPr>
          <p:txBody>
            <a:bodyPr anchor="t" rtlCol="false" tIns="0" lIns="0" bIns="0" rIns="0">
              <a:spAutoFit/>
            </a:bodyPr>
            <a:lstStyle/>
            <a:p>
              <a:pPr algn="l">
                <a:lnSpc>
                  <a:spcPts val="1119"/>
                </a:lnSpc>
              </a:pPr>
              <a:r>
                <a:rPr lang="en-US" sz="799" spc="39">
                  <a:solidFill>
                    <a:srgbClr val="484540"/>
                  </a:solidFill>
                  <a:latin typeface="Now Light"/>
                  <a:ea typeface="Now Light"/>
                  <a:cs typeface="Now Light"/>
                  <a:sym typeface="Now Light"/>
                </a:rPr>
                <a:t>Neben Hunden male ich auch andere tierische Familienmitglieder, z.B. Papageien.</a:t>
              </a:r>
            </a:p>
          </p:txBody>
        </p:sp>
        <p:sp>
          <p:nvSpPr>
            <p:cNvPr name="TextBox 28" id="28"/>
            <p:cNvSpPr txBox="true"/>
            <p:nvPr/>
          </p:nvSpPr>
          <p:spPr>
            <a:xfrm rot="0">
              <a:off x="0" y="-28575"/>
              <a:ext cx="4075200" cy="867223"/>
            </a:xfrm>
            <a:prstGeom prst="rect">
              <a:avLst/>
            </a:prstGeom>
          </p:spPr>
          <p:txBody>
            <a:bodyPr anchor="t" rtlCol="false" tIns="0" lIns="0" bIns="0" rIns="0">
              <a:spAutoFit/>
            </a:bodyPr>
            <a:lstStyle/>
            <a:p>
              <a:pPr algn="l">
                <a:lnSpc>
                  <a:spcPts val="2676"/>
                </a:lnSpc>
              </a:pPr>
              <a:r>
                <a:rPr lang="en-US" sz="1982" spc="164" b="true">
                  <a:solidFill>
                    <a:srgbClr val="484540"/>
                  </a:solidFill>
                  <a:latin typeface="Now Medium"/>
                  <a:ea typeface="Now Medium"/>
                  <a:cs typeface="Now Medium"/>
                  <a:sym typeface="Now Medium"/>
                </a:rPr>
                <a:t>Weitere tierische Freunde</a:t>
              </a:r>
            </a:p>
          </p:txBody>
        </p:sp>
      </p:grpSp>
      <p:grpSp>
        <p:nvGrpSpPr>
          <p:cNvPr name="Group 29" id="29"/>
          <p:cNvGrpSpPr/>
          <p:nvPr/>
        </p:nvGrpSpPr>
        <p:grpSpPr>
          <a:xfrm rot="0">
            <a:off x="233024" y="3525885"/>
            <a:ext cx="3222271" cy="1926290"/>
            <a:chOff x="0" y="0"/>
            <a:chExt cx="4296362" cy="2568387"/>
          </a:xfrm>
        </p:grpSpPr>
        <p:sp>
          <p:nvSpPr>
            <p:cNvPr name="TextBox 30" id="30"/>
            <p:cNvSpPr txBox="true"/>
            <p:nvPr/>
          </p:nvSpPr>
          <p:spPr>
            <a:xfrm rot="0">
              <a:off x="0" y="950832"/>
              <a:ext cx="4296362" cy="1617555"/>
            </a:xfrm>
            <a:prstGeom prst="rect">
              <a:avLst/>
            </a:prstGeom>
          </p:spPr>
          <p:txBody>
            <a:bodyPr anchor="t" rtlCol="false" tIns="0" lIns="0" bIns="0" rIns="0">
              <a:spAutoFit/>
            </a:bodyPr>
            <a:lstStyle/>
            <a:p>
              <a:pPr algn="l">
                <a:lnSpc>
                  <a:spcPts val="1119"/>
                </a:lnSpc>
              </a:pPr>
              <a:r>
                <a:rPr lang="en-US" sz="799" spc="39">
                  <a:solidFill>
                    <a:srgbClr val="484540"/>
                  </a:solidFill>
                  <a:latin typeface="Now Light"/>
                  <a:ea typeface="Now Light"/>
                  <a:cs typeface="Now Light"/>
                  <a:sym typeface="Now Light"/>
                </a:rPr>
                <a:t>Du hast Dir schon immer mal ein einzigartiges Portrait Deines treuen Begleiters gewünscht?</a:t>
              </a:r>
            </a:p>
            <a:p>
              <a:pPr algn="l">
                <a:lnSpc>
                  <a:spcPts val="1119"/>
                </a:lnSpc>
              </a:pPr>
              <a:r>
                <a:rPr lang="en-US" sz="799" spc="39">
                  <a:solidFill>
                    <a:srgbClr val="484540"/>
                  </a:solidFill>
                  <a:latin typeface="Now Light"/>
                  <a:ea typeface="Now Light"/>
                  <a:cs typeface="Now Light"/>
                  <a:sym typeface="Now Light"/>
                </a:rPr>
                <a:t>Dann bist Du hier richtig! Ich habe schon so einige Vierbeiner malen dürfen - vom weißen Maltheser bis zum schwarzen Labrador, ob kurz- oder langhaarig. Jeder Hund ist ein ganz besonderes Motiv, und ich freue mich, auch Deinen Liebling in liebevollen Details auf Leinwand zu verewigen.</a:t>
              </a:r>
            </a:p>
            <a:p>
              <a:pPr algn="l">
                <a:lnSpc>
                  <a:spcPts val="1119"/>
                </a:lnSpc>
              </a:pPr>
            </a:p>
          </p:txBody>
        </p:sp>
        <p:sp>
          <p:nvSpPr>
            <p:cNvPr name="TextBox 31" id="31"/>
            <p:cNvSpPr txBox="true"/>
            <p:nvPr/>
          </p:nvSpPr>
          <p:spPr>
            <a:xfrm rot="0">
              <a:off x="0" y="-28575"/>
              <a:ext cx="4296362" cy="867223"/>
            </a:xfrm>
            <a:prstGeom prst="rect">
              <a:avLst/>
            </a:prstGeom>
          </p:spPr>
          <p:txBody>
            <a:bodyPr anchor="t" rtlCol="false" tIns="0" lIns="0" bIns="0" rIns="0">
              <a:spAutoFit/>
            </a:bodyPr>
            <a:lstStyle/>
            <a:p>
              <a:pPr algn="l">
                <a:lnSpc>
                  <a:spcPts val="2676"/>
                </a:lnSpc>
              </a:pPr>
              <a:r>
                <a:rPr lang="en-US" sz="1982" spc="164" b="true">
                  <a:solidFill>
                    <a:srgbClr val="484540"/>
                  </a:solidFill>
                  <a:latin typeface="Now Medium"/>
                  <a:ea typeface="Now Medium"/>
                  <a:cs typeface="Now Medium"/>
                  <a:sym typeface="Now Medium"/>
                </a:rPr>
                <a:t>Dein vierbeiniger Liebling auf Leinwand</a:t>
              </a:r>
            </a:p>
          </p:txBody>
        </p:sp>
      </p:grpSp>
      <p:grpSp>
        <p:nvGrpSpPr>
          <p:cNvPr name="Group 32" id="32"/>
          <p:cNvGrpSpPr/>
          <p:nvPr/>
        </p:nvGrpSpPr>
        <p:grpSpPr>
          <a:xfrm rot="0">
            <a:off x="233024" y="67150"/>
            <a:ext cx="3632128" cy="1377701"/>
            <a:chOff x="0" y="0"/>
            <a:chExt cx="4842838" cy="1836934"/>
          </a:xfrm>
        </p:grpSpPr>
        <p:sp>
          <p:nvSpPr>
            <p:cNvPr name="Freeform 33" id="33"/>
            <p:cNvSpPr/>
            <p:nvPr/>
          </p:nvSpPr>
          <p:spPr>
            <a:xfrm flipH="false" flipV="false" rot="0">
              <a:off x="0" y="0"/>
              <a:ext cx="1908503" cy="1836934"/>
            </a:xfrm>
            <a:custGeom>
              <a:avLst/>
              <a:gdLst/>
              <a:ahLst/>
              <a:cxnLst/>
              <a:rect r="r" b="b" t="t" l="l"/>
              <a:pathLst>
                <a:path h="1836934" w="1908503">
                  <a:moveTo>
                    <a:pt x="0" y="0"/>
                  </a:moveTo>
                  <a:lnTo>
                    <a:pt x="1908503" y="0"/>
                  </a:lnTo>
                  <a:lnTo>
                    <a:pt x="1908503" y="1836934"/>
                  </a:lnTo>
                  <a:lnTo>
                    <a:pt x="0" y="1836934"/>
                  </a:lnTo>
                  <a:lnTo>
                    <a:pt x="0" y="0"/>
                  </a:lnTo>
                  <a:close/>
                </a:path>
              </a:pathLst>
            </a:custGeom>
            <a:blipFill>
              <a:blip r:embed="rId10"/>
              <a:stretch>
                <a:fillRect l="0" t="0" r="0" b="0"/>
              </a:stretch>
            </a:blipFill>
          </p:spPr>
        </p:sp>
        <p:sp>
          <p:nvSpPr>
            <p:cNvPr name="TextBox 34" id="34"/>
            <p:cNvSpPr txBox="true"/>
            <p:nvPr/>
          </p:nvSpPr>
          <p:spPr>
            <a:xfrm rot="0">
              <a:off x="113023" y="449277"/>
              <a:ext cx="2013436" cy="868984"/>
            </a:xfrm>
            <a:prstGeom prst="rect">
              <a:avLst/>
            </a:prstGeom>
          </p:spPr>
          <p:txBody>
            <a:bodyPr anchor="t" rtlCol="false" tIns="0" lIns="0" bIns="0" rIns="0">
              <a:spAutoFit/>
            </a:bodyPr>
            <a:lstStyle/>
            <a:p>
              <a:pPr algn="ctr">
                <a:lnSpc>
                  <a:spcPts val="5373"/>
                </a:lnSpc>
                <a:spcBef>
                  <a:spcPct val="0"/>
                </a:spcBef>
              </a:pPr>
              <a:r>
                <a:rPr lang="en-US" sz="3980" spc="382">
                  <a:solidFill>
                    <a:srgbClr val="004AAD"/>
                  </a:solidFill>
                  <a:latin typeface="Great Vibes"/>
                  <a:ea typeface="Great Vibes"/>
                  <a:cs typeface="Great Vibes"/>
                  <a:sym typeface="Great Vibes"/>
                </a:rPr>
                <a:t>Manu</a:t>
              </a:r>
            </a:p>
          </p:txBody>
        </p:sp>
        <p:sp>
          <p:nvSpPr>
            <p:cNvPr name="TextBox 35" id="35"/>
            <p:cNvSpPr txBox="true"/>
            <p:nvPr/>
          </p:nvSpPr>
          <p:spPr>
            <a:xfrm rot="0">
              <a:off x="2007517" y="564045"/>
              <a:ext cx="2835321" cy="658498"/>
            </a:xfrm>
            <a:prstGeom prst="rect">
              <a:avLst/>
            </a:prstGeom>
          </p:spPr>
          <p:txBody>
            <a:bodyPr anchor="t" rtlCol="false" tIns="0" lIns="0" bIns="0" rIns="0">
              <a:spAutoFit/>
            </a:bodyPr>
            <a:lstStyle/>
            <a:p>
              <a:pPr algn="ctr">
                <a:lnSpc>
                  <a:spcPts val="4115"/>
                </a:lnSpc>
                <a:spcBef>
                  <a:spcPct val="0"/>
                </a:spcBef>
              </a:pPr>
              <a:r>
                <a:rPr lang="en-US" sz="3048" spc="722">
                  <a:solidFill>
                    <a:srgbClr val="004AAD"/>
                  </a:solidFill>
                  <a:latin typeface="Cheque Bold"/>
                  <a:ea typeface="Cheque Bold"/>
                  <a:cs typeface="Cheque Bold"/>
                  <a:sym typeface="Cheque Bold"/>
                </a:rPr>
                <a:t>FAKTUR</a:t>
              </a:r>
            </a:p>
          </p:txBody>
        </p:sp>
      </p:gr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3817684" y="92384"/>
            <a:ext cx="3564000" cy="7560000"/>
            <a:chOff x="0" y="0"/>
            <a:chExt cx="751328" cy="1593725"/>
          </a:xfrm>
        </p:grpSpPr>
        <p:sp>
          <p:nvSpPr>
            <p:cNvPr name="Freeform 3" id="3"/>
            <p:cNvSpPr/>
            <p:nvPr/>
          </p:nvSpPr>
          <p:spPr>
            <a:xfrm flipH="false" flipV="false" rot="0">
              <a:off x="0" y="0"/>
              <a:ext cx="751328" cy="1593725"/>
            </a:xfrm>
            <a:custGeom>
              <a:avLst/>
              <a:gdLst/>
              <a:ahLst/>
              <a:cxnLst/>
              <a:rect r="r" b="b" t="t" l="l"/>
              <a:pathLst>
                <a:path h="1593725" w="751328">
                  <a:moveTo>
                    <a:pt x="0" y="0"/>
                  </a:moveTo>
                  <a:lnTo>
                    <a:pt x="751328" y="0"/>
                  </a:lnTo>
                  <a:lnTo>
                    <a:pt x="751328" y="1593725"/>
                  </a:lnTo>
                  <a:lnTo>
                    <a:pt x="0" y="1593725"/>
                  </a:lnTo>
                  <a:close/>
                </a:path>
              </a:pathLst>
            </a:custGeom>
            <a:blipFill>
              <a:blip r:embed="rId2"/>
              <a:stretch>
                <a:fillRect l="-81276" t="-4801" r="-121533" b="-2203"/>
              </a:stretch>
            </a:blipFill>
          </p:spPr>
        </p:sp>
      </p:grpSp>
      <p:sp>
        <p:nvSpPr>
          <p:cNvPr name="AutoShape 4" id="4"/>
          <p:cNvSpPr/>
          <p:nvPr/>
        </p:nvSpPr>
        <p:spPr>
          <a:xfrm flipH="true">
            <a:off x="4020862" y="7151820"/>
            <a:ext cx="3056632" cy="0"/>
          </a:xfrm>
          <a:prstGeom prst="line">
            <a:avLst/>
          </a:prstGeom>
          <a:ln cap="flat" w="47625">
            <a:solidFill>
              <a:srgbClr val="484540"/>
            </a:solidFill>
            <a:prstDash val="solid"/>
            <a:headEnd type="none" len="sm" w="sm"/>
            <a:tailEnd type="none" len="sm" w="sm"/>
          </a:ln>
        </p:spPr>
      </p:sp>
      <p:sp>
        <p:nvSpPr>
          <p:cNvPr name="Freeform 5" id="5"/>
          <p:cNvSpPr/>
          <p:nvPr/>
        </p:nvSpPr>
        <p:spPr>
          <a:xfrm flipH="false" flipV="false" rot="0">
            <a:off x="3905193" y="5050924"/>
            <a:ext cx="3388982" cy="2298346"/>
          </a:xfrm>
          <a:custGeom>
            <a:avLst/>
            <a:gdLst/>
            <a:ahLst/>
            <a:cxnLst/>
            <a:rect r="r" b="b" t="t" l="l"/>
            <a:pathLst>
              <a:path h="2298346" w="3388982">
                <a:moveTo>
                  <a:pt x="0" y="0"/>
                </a:moveTo>
                <a:lnTo>
                  <a:pt x="3388982" y="0"/>
                </a:lnTo>
                <a:lnTo>
                  <a:pt x="3388982" y="2298346"/>
                </a:lnTo>
                <a:lnTo>
                  <a:pt x="0" y="2298346"/>
                </a:lnTo>
                <a:lnTo>
                  <a:pt x="0" y="0"/>
                </a:lnTo>
                <a:close/>
              </a:path>
            </a:pathLst>
          </a:custGeom>
          <a:blipFill>
            <a:blip r:embed="rId3">
              <a:alphaModFix amt="77000"/>
              <a:extLst>
                <a:ext uri="{96DAC541-7B7A-43D3-8B79-37D633B846F1}">
                  <asvg:svgBlip xmlns:asvg="http://schemas.microsoft.com/office/drawing/2016/SVG/main" r:embed="rId4"/>
                </a:ext>
              </a:extLst>
            </a:blip>
            <a:stretch>
              <a:fillRect l="0" t="0" r="0" b="0"/>
            </a:stretch>
          </a:blipFill>
        </p:spPr>
      </p:sp>
      <p:sp>
        <p:nvSpPr>
          <p:cNvPr name="Freeform 6" id="6"/>
          <p:cNvSpPr/>
          <p:nvPr/>
        </p:nvSpPr>
        <p:spPr>
          <a:xfrm flipH="false" flipV="false" rot="0">
            <a:off x="3833853" y="5086529"/>
            <a:ext cx="3560847" cy="2065291"/>
          </a:xfrm>
          <a:custGeom>
            <a:avLst/>
            <a:gdLst/>
            <a:ahLst/>
            <a:cxnLst/>
            <a:rect r="r" b="b" t="t" l="l"/>
            <a:pathLst>
              <a:path h="2065291" w="3560847">
                <a:moveTo>
                  <a:pt x="0" y="0"/>
                </a:moveTo>
                <a:lnTo>
                  <a:pt x="3560847" y="0"/>
                </a:lnTo>
                <a:lnTo>
                  <a:pt x="3560847" y="2065291"/>
                </a:lnTo>
                <a:lnTo>
                  <a:pt x="0" y="2065291"/>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7" id="7"/>
          <p:cNvSpPr/>
          <p:nvPr/>
        </p:nvSpPr>
        <p:spPr>
          <a:xfrm flipH="false" flipV="false" rot="0">
            <a:off x="6598402" y="6209229"/>
            <a:ext cx="422317" cy="455943"/>
          </a:xfrm>
          <a:custGeom>
            <a:avLst/>
            <a:gdLst/>
            <a:ahLst/>
            <a:cxnLst/>
            <a:rect r="r" b="b" t="t" l="l"/>
            <a:pathLst>
              <a:path h="455943" w="422317">
                <a:moveTo>
                  <a:pt x="0" y="0"/>
                </a:moveTo>
                <a:lnTo>
                  <a:pt x="422318" y="0"/>
                </a:lnTo>
                <a:lnTo>
                  <a:pt x="422318" y="455943"/>
                </a:lnTo>
                <a:lnTo>
                  <a:pt x="0" y="455943"/>
                </a:lnTo>
                <a:lnTo>
                  <a:pt x="0" y="0"/>
                </a:lnTo>
                <a:close/>
              </a:path>
            </a:pathLst>
          </a:custGeom>
          <a:blipFill>
            <a:blip r:embed="rId7"/>
            <a:stretch>
              <a:fillRect l="0" t="0" r="0" b="0"/>
            </a:stretch>
          </a:blipFill>
        </p:spPr>
      </p:sp>
      <p:sp>
        <p:nvSpPr>
          <p:cNvPr name="Freeform 8" id="8"/>
          <p:cNvSpPr/>
          <p:nvPr/>
        </p:nvSpPr>
        <p:spPr>
          <a:xfrm flipH="false" flipV="false" rot="0">
            <a:off x="4128404" y="5449899"/>
            <a:ext cx="1171128" cy="1127211"/>
          </a:xfrm>
          <a:custGeom>
            <a:avLst/>
            <a:gdLst/>
            <a:ahLst/>
            <a:cxnLst/>
            <a:rect r="r" b="b" t="t" l="l"/>
            <a:pathLst>
              <a:path h="1127211" w="1171128">
                <a:moveTo>
                  <a:pt x="0" y="0"/>
                </a:moveTo>
                <a:lnTo>
                  <a:pt x="1171129" y="0"/>
                </a:lnTo>
                <a:lnTo>
                  <a:pt x="1171129" y="1127211"/>
                </a:lnTo>
                <a:lnTo>
                  <a:pt x="0" y="1127211"/>
                </a:lnTo>
                <a:lnTo>
                  <a:pt x="0" y="0"/>
                </a:lnTo>
                <a:close/>
              </a:path>
            </a:pathLst>
          </a:custGeom>
          <a:blipFill>
            <a:blip r:embed="rId8"/>
            <a:stretch>
              <a:fillRect l="0" t="0" r="0" b="0"/>
            </a:stretch>
          </a:blipFill>
        </p:spPr>
      </p:sp>
      <p:sp>
        <p:nvSpPr>
          <p:cNvPr name="TextBox 9" id="9"/>
          <p:cNvSpPr txBox="true"/>
          <p:nvPr/>
        </p:nvSpPr>
        <p:spPr>
          <a:xfrm rot="0">
            <a:off x="4197759" y="5728407"/>
            <a:ext cx="1235519" cy="530426"/>
          </a:xfrm>
          <a:prstGeom prst="rect">
            <a:avLst/>
          </a:prstGeom>
        </p:spPr>
        <p:txBody>
          <a:bodyPr anchor="t" rtlCol="false" tIns="0" lIns="0" bIns="0" rIns="0">
            <a:spAutoFit/>
          </a:bodyPr>
          <a:lstStyle/>
          <a:p>
            <a:pPr algn="ctr">
              <a:lnSpc>
                <a:spcPts val="4396"/>
              </a:lnSpc>
              <a:spcBef>
                <a:spcPct val="0"/>
              </a:spcBef>
            </a:pPr>
            <a:r>
              <a:rPr lang="en-US" sz="3256" spc="312">
                <a:solidFill>
                  <a:srgbClr val="004AAD"/>
                </a:solidFill>
                <a:latin typeface="Great Vibes"/>
                <a:ea typeface="Great Vibes"/>
                <a:cs typeface="Great Vibes"/>
                <a:sym typeface="Great Vibes"/>
              </a:rPr>
              <a:t>Manu</a:t>
            </a:r>
          </a:p>
        </p:txBody>
      </p:sp>
      <p:sp>
        <p:nvSpPr>
          <p:cNvPr name="TextBox 10" id="10"/>
          <p:cNvSpPr txBox="true"/>
          <p:nvPr/>
        </p:nvSpPr>
        <p:spPr>
          <a:xfrm rot="0">
            <a:off x="5360291" y="5777618"/>
            <a:ext cx="1739858" cy="422479"/>
          </a:xfrm>
          <a:prstGeom prst="rect">
            <a:avLst/>
          </a:prstGeom>
        </p:spPr>
        <p:txBody>
          <a:bodyPr anchor="t" rtlCol="false" tIns="0" lIns="0" bIns="0" rIns="0">
            <a:spAutoFit/>
          </a:bodyPr>
          <a:lstStyle/>
          <a:p>
            <a:pPr algn="ctr">
              <a:lnSpc>
                <a:spcPts val="3367"/>
              </a:lnSpc>
              <a:spcBef>
                <a:spcPct val="0"/>
              </a:spcBef>
            </a:pPr>
            <a:r>
              <a:rPr lang="en-US" sz="2494" spc="591">
                <a:solidFill>
                  <a:srgbClr val="004AAD"/>
                </a:solidFill>
                <a:latin typeface="Cheque Bold"/>
                <a:ea typeface="Cheque Bold"/>
                <a:cs typeface="Cheque Bold"/>
                <a:sym typeface="Cheque Bold"/>
              </a:rPr>
              <a:t>FAKTUR</a:t>
            </a:r>
          </a:p>
        </p:txBody>
      </p:sp>
      <p:sp>
        <p:nvSpPr>
          <p:cNvPr name="TextBox 11" id="11"/>
          <p:cNvSpPr txBox="true"/>
          <p:nvPr/>
        </p:nvSpPr>
        <p:spPr>
          <a:xfrm rot="0">
            <a:off x="4731177" y="6335370"/>
            <a:ext cx="1766200" cy="175085"/>
          </a:xfrm>
          <a:prstGeom prst="rect">
            <a:avLst/>
          </a:prstGeom>
        </p:spPr>
        <p:txBody>
          <a:bodyPr anchor="t" rtlCol="false" tIns="0" lIns="0" bIns="0" rIns="0">
            <a:spAutoFit/>
          </a:bodyPr>
          <a:lstStyle/>
          <a:p>
            <a:pPr algn="ctr">
              <a:lnSpc>
                <a:spcPts val="1309"/>
              </a:lnSpc>
              <a:spcBef>
                <a:spcPct val="0"/>
              </a:spcBef>
            </a:pPr>
            <a:r>
              <a:rPr lang="en-US" sz="970" spc="229">
                <a:solidFill>
                  <a:srgbClr val="000000"/>
                </a:solidFill>
                <a:latin typeface="Now"/>
                <a:ea typeface="Now"/>
                <a:cs typeface="Now"/>
                <a:sym typeface="Now"/>
              </a:rPr>
              <a:t>Individuelle Malerei</a:t>
            </a:r>
          </a:p>
        </p:txBody>
      </p:sp>
      <p:sp>
        <p:nvSpPr>
          <p:cNvPr name="Freeform 12" id="12"/>
          <p:cNvSpPr/>
          <p:nvPr/>
        </p:nvSpPr>
        <p:spPr>
          <a:xfrm flipH="false" flipV="false" rot="0">
            <a:off x="4946769" y="6556652"/>
            <a:ext cx="231798" cy="231798"/>
          </a:xfrm>
          <a:custGeom>
            <a:avLst/>
            <a:gdLst/>
            <a:ahLst/>
            <a:cxnLst/>
            <a:rect r="r" b="b" t="t" l="l"/>
            <a:pathLst>
              <a:path h="231798" w="231798">
                <a:moveTo>
                  <a:pt x="0" y="0"/>
                </a:moveTo>
                <a:lnTo>
                  <a:pt x="231798" y="0"/>
                </a:lnTo>
                <a:lnTo>
                  <a:pt x="231798" y="231797"/>
                </a:lnTo>
                <a:lnTo>
                  <a:pt x="0" y="231797"/>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
        <p:nvSpPr>
          <p:cNvPr name="TextBox 13" id="13"/>
          <p:cNvSpPr txBox="true"/>
          <p:nvPr/>
        </p:nvSpPr>
        <p:spPr>
          <a:xfrm rot="0">
            <a:off x="5234521" y="6592125"/>
            <a:ext cx="1047263" cy="141801"/>
          </a:xfrm>
          <a:prstGeom prst="rect">
            <a:avLst/>
          </a:prstGeom>
        </p:spPr>
        <p:txBody>
          <a:bodyPr anchor="t" rtlCol="false" tIns="0" lIns="0" bIns="0" rIns="0">
            <a:spAutoFit/>
          </a:bodyPr>
          <a:lstStyle/>
          <a:p>
            <a:pPr algn="l">
              <a:lnSpc>
                <a:spcPts val="1122"/>
              </a:lnSpc>
              <a:spcBef>
                <a:spcPct val="0"/>
              </a:spcBef>
            </a:pPr>
            <a:r>
              <a:rPr lang="en-US" sz="831" spc="197">
                <a:solidFill>
                  <a:srgbClr val="000000"/>
                </a:solidFill>
                <a:latin typeface="Now"/>
                <a:ea typeface="Now"/>
                <a:cs typeface="Now"/>
                <a:sym typeface="Now"/>
              </a:rPr>
              <a:t>0163 2662435</a:t>
            </a:r>
          </a:p>
        </p:txBody>
      </p:sp>
      <p:grpSp>
        <p:nvGrpSpPr>
          <p:cNvPr name="Group 14" id="14"/>
          <p:cNvGrpSpPr/>
          <p:nvPr/>
        </p:nvGrpSpPr>
        <p:grpSpPr>
          <a:xfrm rot="0">
            <a:off x="245032" y="920523"/>
            <a:ext cx="3476491" cy="2035100"/>
            <a:chOff x="0" y="0"/>
            <a:chExt cx="4635321" cy="2713467"/>
          </a:xfrm>
        </p:grpSpPr>
        <p:sp>
          <p:nvSpPr>
            <p:cNvPr name="Freeform 15" id="15"/>
            <p:cNvSpPr/>
            <p:nvPr/>
          </p:nvSpPr>
          <p:spPr>
            <a:xfrm flipH="false" flipV="false" rot="0">
              <a:off x="317115" y="0"/>
              <a:ext cx="4001091" cy="2713467"/>
            </a:xfrm>
            <a:custGeom>
              <a:avLst/>
              <a:gdLst/>
              <a:ahLst/>
              <a:cxnLst/>
              <a:rect r="r" b="b" t="t" l="l"/>
              <a:pathLst>
                <a:path h="2713467" w="4001091">
                  <a:moveTo>
                    <a:pt x="0" y="0"/>
                  </a:moveTo>
                  <a:lnTo>
                    <a:pt x="4001091" y="0"/>
                  </a:lnTo>
                  <a:lnTo>
                    <a:pt x="4001091" y="2713467"/>
                  </a:lnTo>
                  <a:lnTo>
                    <a:pt x="0" y="2713467"/>
                  </a:lnTo>
                  <a:lnTo>
                    <a:pt x="0" y="0"/>
                  </a:lnTo>
                  <a:close/>
                </a:path>
              </a:pathLst>
            </a:custGeom>
            <a:blipFill>
              <a:blip r:embed="rId3">
                <a:alphaModFix amt="77000"/>
                <a:extLst>
                  <a:ext uri="{96DAC541-7B7A-43D3-8B79-37D633B846F1}">
                    <asvg:svgBlip xmlns:asvg="http://schemas.microsoft.com/office/drawing/2016/SVG/main" r:embed="rId4"/>
                  </a:ext>
                </a:extLst>
              </a:blip>
              <a:stretch>
                <a:fillRect l="0" t="0" r="0" b="0"/>
              </a:stretch>
            </a:blipFill>
          </p:spPr>
        </p:sp>
        <p:sp>
          <p:nvSpPr>
            <p:cNvPr name="Freeform 16" id="16"/>
            <p:cNvSpPr/>
            <p:nvPr/>
          </p:nvSpPr>
          <p:spPr>
            <a:xfrm flipH="false" flipV="false" rot="0">
              <a:off x="0" y="12490"/>
              <a:ext cx="4635321" cy="2688486"/>
            </a:xfrm>
            <a:custGeom>
              <a:avLst/>
              <a:gdLst/>
              <a:ahLst/>
              <a:cxnLst/>
              <a:rect r="r" b="b" t="t" l="l"/>
              <a:pathLst>
                <a:path h="2688486" w="4635321">
                  <a:moveTo>
                    <a:pt x="0" y="0"/>
                  </a:moveTo>
                  <a:lnTo>
                    <a:pt x="4635321" y="0"/>
                  </a:lnTo>
                  <a:lnTo>
                    <a:pt x="4635321" y="2688487"/>
                  </a:lnTo>
                  <a:lnTo>
                    <a:pt x="0" y="2688487"/>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17" id="17"/>
            <p:cNvSpPr/>
            <p:nvPr/>
          </p:nvSpPr>
          <p:spPr>
            <a:xfrm flipH="false" flipV="false" rot="0">
              <a:off x="3375726" y="1468443"/>
              <a:ext cx="523870" cy="565581"/>
            </a:xfrm>
            <a:custGeom>
              <a:avLst/>
              <a:gdLst/>
              <a:ahLst/>
              <a:cxnLst/>
              <a:rect r="r" b="b" t="t" l="l"/>
              <a:pathLst>
                <a:path h="565581" w="523870">
                  <a:moveTo>
                    <a:pt x="0" y="0"/>
                  </a:moveTo>
                  <a:lnTo>
                    <a:pt x="523869" y="0"/>
                  </a:lnTo>
                  <a:lnTo>
                    <a:pt x="523869" y="565581"/>
                  </a:lnTo>
                  <a:lnTo>
                    <a:pt x="0" y="565581"/>
                  </a:lnTo>
                  <a:lnTo>
                    <a:pt x="0" y="0"/>
                  </a:lnTo>
                  <a:close/>
                </a:path>
              </a:pathLst>
            </a:custGeom>
            <a:blipFill>
              <a:blip r:embed="rId7"/>
              <a:stretch>
                <a:fillRect l="0" t="0" r="0" b="0"/>
              </a:stretch>
            </a:blipFill>
          </p:spPr>
        </p:sp>
        <p:sp>
          <p:nvSpPr>
            <p:cNvPr name="Freeform 18" id="18"/>
            <p:cNvSpPr/>
            <p:nvPr/>
          </p:nvSpPr>
          <p:spPr>
            <a:xfrm flipH="false" flipV="false" rot="0">
              <a:off x="521254" y="526522"/>
              <a:ext cx="1571884" cy="1398265"/>
            </a:xfrm>
            <a:custGeom>
              <a:avLst/>
              <a:gdLst/>
              <a:ahLst/>
              <a:cxnLst/>
              <a:rect r="r" b="b" t="t" l="l"/>
              <a:pathLst>
                <a:path h="1398265" w="1571884">
                  <a:moveTo>
                    <a:pt x="0" y="0"/>
                  </a:moveTo>
                  <a:lnTo>
                    <a:pt x="1571885" y="0"/>
                  </a:lnTo>
                  <a:lnTo>
                    <a:pt x="1571885" y="1398265"/>
                  </a:lnTo>
                  <a:lnTo>
                    <a:pt x="0" y="1398265"/>
                  </a:lnTo>
                  <a:lnTo>
                    <a:pt x="0" y="0"/>
                  </a:lnTo>
                  <a:close/>
                </a:path>
              </a:pathLst>
            </a:custGeom>
            <a:blipFill>
              <a:blip r:embed="rId8"/>
              <a:stretch>
                <a:fillRect l="0" t="-4100" r="0" b="-4100"/>
              </a:stretch>
            </a:blipFill>
          </p:spPr>
        </p:sp>
        <p:sp>
          <p:nvSpPr>
            <p:cNvPr name="TextBox 19" id="19"/>
            <p:cNvSpPr txBox="true"/>
            <p:nvPr/>
          </p:nvSpPr>
          <p:spPr>
            <a:xfrm rot="0">
              <a:off x="560521" y="881162"/>
              <a:ext cx="1532617" cy="648813"/>
            </a:xfrm>
            <a:prstGeom prst="rect">
              <a:avLst/>
            </a:prstGeom>
          </p:spPr>
          <p:txBody>
            <a:bodyPr anchor="t" rtlCol="false" tIns="0" lIns="0" bIns="0" rIns="0">
              <a:spAutoFit/>
            </a:bodyPr>
            <a:lstStyle/>
            <a:p>
              <a:pPr algn="ctr">
                <a:lnSpc>
                  <a:spcPts val="4089"/>
                </a:lnSpc>
                <a:spcBef>
                  <a:spcPct val="0"/>
                </a:spcBef>
              </a:pPr>
              <a:r>
                <a:rPr lang="en-US" sz="3029" spc="290">
                  <a:solidFill>
                    <a:srgbClr val="004AAD"/>
                  </a:solidFill>
                  <a:latin typeface="Great Vibes"/>
                  <a:ea typeface="Great Vibes"/>
                  <a:cs typeface="Great Vibes"/>
                  <a:sym typeface="Great Vibes"/>
                </a:rPr>
                <a:t>Manu</a:t>
              </a:r>
            </a:p>
          </p:txBody>
        </p:sp>
        <p:sp>
          <p:nvSpPr>
            <p:cNvPr name="TextBox 20" id="20"/>
            <p:cNvSpPr txBox="true"/>
            <p:nvPr/>
          </p:nvSpPr>
          <p:spPr>
            <a:xfrm rot="0">
              <a:off x="2002600" y="954022"/>
              <a:ext cx="2158232" cy="503093"/>
            </a:xfrm>
            <a:prstGeom prst="rect">
              <a:avLst/>
            </a:prstGeom>
          </p:spPr>
          <p:txBody>
            <a:bodyPr anchor="t" rtlCol="false" tIns="0" lIns="0" bIns="0" rIns="0">
              <a:spAutoFit/>
            </a:bodyPr>
            <a:lstStyle/>
            <a:p>
              <a:pPr algn="ctr">
                <a:lnSpc>
                  <a:spcPts val="3132"/>
                </a:lnSpc>
                <a:spcBef>
                  <a:spcPct val="0"/>
                </a:spcBef>
              </a:pPr>
              <a:r>
                <a:rPr lang="en-US" sz="2320" spc="549">
                  <a:solidFill>
                    <a:srgbClr val="004AAD"/>
                  </a:solidFill>
                  <a:latin typeface="Cheque Bold"/>
                  <a:ea typeface="Cheque Bold"/>
                  <a:cs typeface="Cheque Bold"/>
                  <a:sym typeface="Cheque Bold"/>
                </a:rPr>
                <a:t>FAKTUR</a:t>
              </a:r>
            </a:p>
          </p:txBody>
        </p:sp>
        <p:sp>
          <p:nvSpPr>
            <p:cNvPr name="TextBox 21" id="21"/>
            <p:cNvSpPr txBox="true"/>
            <p:nvPr/>
          </p:nvSpPr>
          <p:spPr>
            <a:xfrm rot="0">
              <a:off x="1539688" y="1764930"/>
              <a:ext cx="1555945" cy="139767"/>
            </a:xfrm>
            <a:prstGeom prst="rect">
              <a:avLst/>
            </a:prstGeom>
          </p:spPr>
          <p:txBody>
            <a:bodyPr anchor="t" rtlCol="false" tIns="0" lIns="0" bIns="0" rIns="0">
              <a:spAutoFit/>
            </a:bodyPr>
            <a:lstStyle/>
            <a:p>
              <a:pPr algn="ctr">
                <a:lnSpc>
                  <a:spcPts val="813"/>
                </a:lnSpc>
                <a:spcBef>
                  <a:spcPct val="0"/>
                </a:spcBef>
              </a:pPr>
              <a:r>
                <a:rPr lang="en-US" sz="602" spc="142">
                  <a:solidFill>
                    <a:srgbClr val="000000"/>
                  </a:solidFill>
                  <a:latin typeface="Now"/>
                  <a:ea typeface="Now"/>
                  <a:cs typeface="Now"/>
                  <a:sym typeface="Now"/>
                </a:rPr>
                <a:t>Individuelle Malerei</a:t>
              </a:r>
            </a:p>
          </p:txBody>
        </p:sp>
        <p:sp>
          <p:nvSpPr>
            <p:cNvPr name="Freeform 22" id="22"/>
            <p:cNvSpPr/>
            <p:nvPr/>
          </p:nvSpPr>
          <p:spPr>
            <a:xfrm flipH="false" flipV="false" rot="0">
              <a:off x="1693371" y="1924787"/>
              <a:ext cx="152922" cy="152922"/>
            </a:xfrm>
            <a:custGeom>
              <a:avLst/>
              <a:gdLst/>
              <a:ahLst/>
              <a:cxnLst/>
              <a:rect r="r" b="b" t="t" l="l"/>
              <a:pathLst>
                <a:path h="152922" w="152922">
                  <a:moveTo>
                    <a:pt x="0" y="0"/>
                  </a:moveTo>
                  <a:lnTo>
                    <a:pt x="152922" y="0"/>
                  </a:lnTo>
                  <a:lnTo>
                    <a:pt x="152922" y="152921"/>
                  </a:lnTo>
                  <a:lnTo>
                    <a:pt x="0" y="152921"/>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
          <p:nvSpPr>
            <p:cNvPr name="TextBox 23" id="23"/>
            <p:cNvSpPr txBox="true"/>
            <p:nvPr/>
          </p:nvSpPr>
          <p:spPr>
            <a:xfrm rot="0">
              <a:off x="1922258" y="1922084"/>
              <a:ext cx="1019693" cy="139277"/>
            </a:xfrm>
            <a:prstGeom prst="rect">
              <a:avLst/>
            </a:prstGeom>
          </p:spPr>
          <p:txBody>
            <a:bodyPr anchor="t" rtlCol="false" tIns="0" lIns="0" bIns="0" rIns="0">
              <a:spAutoFit/>
            </a:bodyPr>
            <a:lstStyle/>
            <a:p>
              <a:pPr algn="l">
                <a:lnSpc>
                  <a:spcPts val="810"/>
                </a:lnSpc>
                <a:spcBef>
                  <a:spcPct val="0"/>
                </a:spcBef>
              </a:pPr>
              <a:r>
                <a:rPr lang="en-US" sz="600" spc="142">
                  <a:solidFill>
                    <a:srgbClr val="000000"/>
                  </a:solidFill>
                  <a:latin typeface="Now"/>
                  <a:ea typeface="Now"/>
                  <a:cs typeface="Now"/>
                  <a:sym typeface="Now"/>
                </a:rPr>
                <a:t>0163 2662435</a:t>
              </a:r>
            </a:p>
          </p:txBody>
        </p:sp>
        <p:sp>
          <p:nvSpPr>
            <p:cNvPr name="TextBox 24" id="24"/>
            <p:cNvSpPr txBox="true"/>
            <p:nvPr/>
          </p:nvSpPr>
          <p:spPr>
            <a:xfrm rot="0">
              <a:off x="1222207" y="1497422"/>
              <a:ext cx="2190908" cy="200790"/>
            </a:xfrm>
            <a:prstGeom prst="rect">
              <a:avLst/>
            </a:prstGeom>
          </p:spPr>
          <p:txBody>
            <a:bodyPr anchor="t" rtlCol="false" tIns="0" lIns="0" bIns="0" rIns="0">
              <a:spAutoFit/>
            </a:bodyPr>
            <a:lstStyle/>
            <a:p>
              <a:pPr algn="ctr">
                <a:lnSpc>
                  <a:spcPts val="1218"/>
                </a:lnSpc>
                <a:spcBef>
                  <a:spcPct val="0"/>
                </a:spcBef>
              </a:pPr>
              <a:r>
                <a:rPr lang="en-US" sz="902" spc="213">
                  <a:solidFill>
                    <a:srgbClr val="000000"/>
                  </a:solidFill>
                  <a:latin typeface="Now"/>
                  <a:ea typeface="Now"/>
                  <a:cs typeface="Now"/>
                  <a:sym typeface="Now"/>
                </a:rPr>
                <a:t>Manuela Schenk</a:t>
              </a:r>
            </a:p>
          </p:txBody>
        </p:sp>
      </p:grpSp>
      <p:sp>
        <p:nvSpPr>
          <p:cNvPr name="Freeform 25" id="25"/>
          <p:cNvSpPr/>
          <p:nvPr/>
        </p:nvSpPr>
        <p:spPr>
          <a:xfrm flipH="false" flipV="false" rot="0">
            <a:off x="245032" y="3291685"/>
            <a:ext cx="3476491" cy="2016365"/>
          </a:xfrm>
          <a:custGeom>
            <a:avLst/>
            <a:gdLst/>
            <a:ahLst/>
            <a:cxnLst/>
            <a:rect r="r" b="b" t="t" l="l"/>
            <a:pathLst>
              <a:path h="2016365" w="3476491">
                <a:moveTo>
                  <a:pt x="0" y="0"/>
                </a:moveTo>
                <a:lnTo>
                  <a:pt x="3476491" y="0"/>
                </a:lnTo>
                <a:lnTo>
                  <a:pt x="3476491" y="2016365"/>
                </a:lnTo>
                <a:lnTo>
                  <a:pt x="0" y="2016365"/>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26" id="26"/>
          <p:cNvSpPr/>
          <p:nvPr/>
        </p:nvSpPr>
        <p:spPr>
          <a:xfrm flipH="false" flipV="false" rot="0">
            <a:off x="2776826" y="4383649"/>
            <a:ext cx="392902" cy="424186"/>
          </a:xfrm>
          <a:custGeom>
            <a:avLst/>
            <a:gdLst/>
            <a:ahLst/>
            <a:cxnLst/>
            <a:rect r="r" b="b" t="t" l="l"/>
            <a:pathLst>
              <a:path h="424186" w="392902">
                <a:moveTo>
                  <a:pt x="0" y="0"/>
                </a:moveTo>
                <a:lnTo>
                  <a:pt x="392902" y="0"/>
                </a:lnTo>
                <a:lnTo>
                  <a:pt x="392902" y="424186"/>
                </a:lnTo>
                <a:lnTo>
                  <a:pt x="0" y="424186"/>
                </a:lnTo>
                <a:lnTo>
                  <a:pt x="0" y="0"/>
                </a:lnTo>
                <a:close/>
              </a:path>
            </a:pathLst>
          </a:custGeom>
          <a:blipFill>
            <a:blip r:embed="rId7"/>
            <a:stretch>
              <a:fillRect l="0" t="0" r="0" b="0"/>
            </a:stretch>
          </a:blipFill>
        </p:spPr>
      </p:sp>
      <p:sp>
        <p:nvSpPr>
          <p:cNvPr name="TextBox 27" id="27"/>
          <p:cNvSpPr txBox="true"/>
          <p:nvPr/>
        </p:nvSpPr>
        <p:spPr>
          <a:xfrm rot="0">
            <a:off x="1399798" y="4601253"/>
            <a:ext cx="1166959" cy="109588"/>
          </a:xfrm>
          <a:prstGeom prst="rect">
            <a:avLst/>
          </a:prstGeom>
        </p:spPr>
        <p:txBody>
          <a:bodyPr anchor="t" rtlCol="false" tIns="0" lIns="0" bIns="0" rIns="0">
            <a:spAutoFit/>
          </a:bodyPr>
          <a:lstStyle/>
          <a:p>
            <a:pPr algn="ctr">
              <a:lnSpc>
                <a:spcPts val="813"/>
              </a:lnSpc>
              <a:spcBef>
                <a:spcPct val="0"/>
              </a:spcBef>
            </a:pPr>
            <a:r>
              <a:rPr lang="en-US" sz="602" spc="142">
                <a:solidFill>
                  <a:srgbClr val="000000"/>
                </a:solidFill>
                <a:latin typeface="Now"/>
                <a:ea typeface="Now"/>
                <a:cs typeface="Now"/>
                <a:sym typeface="Now"/>
              </a:rPr>
              <a:t>Individuelle Malerei</a:t>
            </a:r>
          </a:p>
        </p:txBody>
      </p:sp>
      <p:sp>
        <p:nvSpPr>
          <p:cNvPr name="Freeform 28" id="28"/>
          <p:cNvSpPr/>
          <p:nvPr/>
        </p:nvSpPr>
        <p:spPr>
          <a:xfrm flipH="false" flipV="false" rot="0">
            <a:off x="1515060" y="4725907"/>
            <a:ext cx="114691" cy="114691"/>
          </a:xfrm>
          <a:custGeom>
            <a:avLst/>
            <a:gdLst/>
            <a:ahLst/>
            <a:cxnLst/>
            <a:rect r="r" b="b" t="t" l="l"/>
            <a:pathLst>
              <a:path h="114691" w="114691">
                <a:moveTo>
                  <a:pt x="0" y="0"/>
                </a:moveTo>
                <a:lnTo>
                  <a:pt x="114691" y="0"/>
                </a:lnTo>
                <a:lnTo>
                  <a:pt x="114691" y="114692"/>
                </a:lnTo>
                <a:lnTo>
                  <a:pt x="0" y="114692"/>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
        <p:nvSpPr>
          <p:cNvPr name="TextBox 29" id="29"/>
          <p:cNvSpPr txBox="true"/>
          <p:nvPr/>
        </p:nvSpPr>
        <p:spPr>
          <a:xfrm rot="0">
            <a:off x="1686725" y="4719118"/>
            <a:ext cx="764769" cy="109220"/>
          </a:xfrm>
          <a:prstGeom prst="rect">
            <a:avLst/>
          </a:prstGeom>
        </p:spPr>
        <p:txBody>
          <a:bodyPr anchor="t" rtlCol="false" tIns="0" lIns="0" bIns="0" rIns="0">
            <a:spAutoFit/>
          </a:bodyPr>
          <a:lstStyle/>
          <a:p>
            <a:pPr algn="l">
              <a:lnSpc>
                <a:spcPts val="810"/>
              </a:lnSpc>
              <a:spcBef>
                <a:spcPct val="0"/>
              </a:spcBef>
            </a:pPr>
            <a:r>
              <a:rPr lang="en-US" sz="600" spc="142">
                <a:solidFill>
                  <a:srgbClr val="000000"/>
                </a:solidFill>
                <a:latin typeface="Now"/>
                <a:ea typeface="Now"/>
                <a:cs typeface="Now"/>
                <a:sym typeface="Now"/>
              </a:rPr>
              <a:t>0163 2662435</a:t>
            </a:r>
          </a:p>
        </p:txBody>
      </p:sp>
      <p:sp>
        <p:nvSpPr>
          <p:cNvPr name="TextBox 30" id="30"/>
          <p:cNvSpPr txBox="true"/>
          <p:nvPr/>
        </p:nvSpPr>
        <p:spPr>
          <a:xfrm rot="0">
            <a:off x="1161687" y="4400622"/>
            <a:ext cx="1643181" cy="155355"/>
          </a:xfrm>
          <a:prstGeom prst="rect">
            <a:avLst/>
          </a:prstGeom>
        </p:spPr>
        <p:txBody>
          <a:bodyPr anchor="t" rtlCol="false" tIns="0" lIns="0" bIns="0" rIns="0">
            <a:spAutoFit/>
          </a:bodyPr>
          <a:lstStyle/>
          <a:p>
            <a:pPr algn="ctr">
              <a:lnSpc>
                <a:spcPts val="1218"/>
              </a:lnSpc>
              <a:spcBef>
                <a:spcPct val="0"/>
              </a:spcBef>
            </a:pPr>
            <a:r>
              <a:rPr lang="en-US" sz="902" spc="213">
                <a:solidFill>
                  <a:srgbClr val="000000"/>
                </a:solidFill>
                <a:latin typeface="Now"/>
                <a:ea typeface="Now"/>
                <a:cs typeface="Now"/>
                <a:sym typeface="Now"/>
              </a:rPr>
              <a:t>Manuela Schenk</a:t>
            </a:r>
          </a:p>
        </p:txBody>
      </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161271" y="5565978"/>
            <a:ext cx="1369109" cy="1209950"/>
          </a:xfrm>
          <a:custGeom>
            <a:avLst/>
            <a:gdLst/>
            <a:ahLst/>
            <a:cxnLst/>
            <a:rect r="r" b="b" t="t" l="l"/>
            <a:pathLst>
              <a:path h="1209950" w="1369109">
                <a:moveTo>
                  <a:pt x="0" y="0"/>
                </a:moveTo>
                <a:lnTo>
                  <a:pt x="1369108" y="0"/>
                </a:lnTo>
                <a:lnTo>
                  <a:pt x="1369108" y="1209950"/>
                </a:lnTo>
                <a:lnTo>
                  <a:pt x="0" y="1209950"/>
                </a:lnTo>
                <a:lnTo>
                  <a:pt x="0" y="0"/>
                </a:lnTo>
                <a:close/>
              </a:path>
            </a:pathLst>
          </a:custGeom>
          <a:blipFill>
            <a:blip r:embed="rId2"/>
            <a:stretch>
              <a:fillRect l="0" t="0" r="0" b="0"/>
            </a:stretch>
          </a:blipFill>
        </p:spPr>
      </p:sp>
      <p:sp>
        <p:nvSpPr>
          <p:cNvPr name="Freeform 3" id="3"/>
          <p:cNvSpPr/>
          <p:nvPr/>
        </p:nvSpPr>
        <p:spPr>
          <a:xfrm flipH="false" flipV="false" rot="0">
            <a:off x="2960301" y="6182032"/>
            <a:ext cx="1190552" cy="1033953"/>
          </a:xfrm>
          <a:custGeom>
            <a:avLst/>
            <a:gdLst/>
            <a:ahLst/>
            <a:cxnLst/>
            <a:rect r="r" b="b" t="t" l="l"/>
            <a:pathLst>
              <a:path h="1033953" w="1190552">
                <a:moveTo>
                  <a:pt x="0" y="0"/>
                </a:moveTo>
                <a:lnTo>
                  <a:pt x="1190551" y="0"/>
                </a:lnTo>
                <a:lnTo>
                  <a:pt x="1190551" y="1033953"/>
                </a:lnTo>
                <a:lnTo>
                  <a:pt x="0" y="1033953"/>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4" id="4"/>
          <p:cNvSpPr txBox="true"/>
          <p:nvPr/>
        </p:nvSpPr>
        <p:spPr>
          <a:xfrm rot="0">
            <a:off x="6317661" y="5177427"/>
            <a:ext cx="1659434" cy="588646"/>
          </a:xfrm>
          <a:prstGeom prst="rect">
            <a:avLst/>
          </a:prstGeom>
        </p:spPr>
        <p:txBody>
          <a:bodyPr anchor="t" rtlCol="false" tIns="0" lIns="0" bIns="0" rIns="0">
            <a:spAutoFit/>
          </a:bodyPr>
          <a:lstStyle/>
          <a:p>
            <a:pPr algn="ctr">
              <a:lnSpc>
                <a:spcPts val="4859"/>
              </a:lnSpc>
              <a:spcBef>
                <a:spcPct val="0"/>
              </a:spcBef>
            </a:pPr>
            <a:r>
              <a:rPr lang="en-US" sz="3599" spc="853">
                <a:solidFill>
                  <a:srgbClr val="000000"/>
                </a:solidFill>
                <a:latin typeface="Breathing"/>
                <a:ea typeface="Breathing"/>
                <a:cs typeface="Breathing"/>
                <a:sym typeface="Breathing"/>
              </a:rPr>
              <a:t>Manu</a:t>
            </a:r>
          </a:p>
        </p:txBody>
      </p:sp>
      <p:sp>
        <p:nvSpPr>
          <p:cNvPr name="TextBox 5" id="5"/>
          <p:cNvSpPr txBox="true"/>
          <p:nvPr/>
        </p:nvSpPr>
        <p:spPr>
          <a:xfrm rot="0">
            <a:off x="8059634" y="5167902"/>
            <a:ext cx="2451646" cy="598171"/>
          </a:xfrm>
          <a:prstGeom prst="rect">
            <a:avLst/>
          </a:prstGeom>
        </p:spPr>
        <p:txBody>
          <a:bodyPr anchor="t" rtlCol="false" tIns="0" lIns="0" bIns="0" rIns="0">
            <a:spAutoFit/>
          </a:bodyPr>
          <a:lstStyle/>
          <a:p>
            <a:pPr algn="ctr">
              <a:lnSpc>
                <a:spcPts val="4859"/>
              </a:lnSpc>
              <a:spcBef>
                <a:spcPct val="0"/>
              </a:spcBef>
            </a:pPr>
            <a:r>
              <a:rPr lang="en-US" sz="3599" spc="853">
                <a:solidFill>
                  <a:srgbClr val="000000"/>
                </a:solidFill>
                <a:latin typeface="Cheque"/>
                <a:ea typeface="Cheque"/>
                <a:cs typeface="Cheque"/>
                <a:sym typeface="Cheque"/>
              </a:rPr>
              <a:t>FAKTUR</a:t>
            </a:r>
          </a:p>
        </p:txBody>
      </p:sp>
      <p:sp>
        <p:nvSpPr>
          <p:cNvPr name="TextBox 6" id="6"/>
          <p:cNvSpPr txBox="true"/>
          <p:nvPr/>
        </p:nvSpPr>
        <p:spPr>
          <a:xfrm rot="0">
            <a:off x="6380392" y="6429218"/>
            <a:ext cx="1533971" cy="786767"/>
          </a:xfrm>
          <a:prstGeom prst="rect">
            <a:avLst/>
          </a:prstGeom>
        </p:spPr>
        <p:txBody>
          <a:bodyPr anchor="t" rtlCol="false" tIns="0" lIns="0" bIns="0" rIns="0">
            <a:spAutoFit/>
          </a:bodyPr>
          <a:lstStyle/>
          <a:p>
            <a:pPr algn="ctr">
              <a:lnSpc>
                <a:spcPts val="6344"/>
              </a:lnSpc>
              <a:spcBef>
                <a:spcPct val="0"/>
              </a:spcBef>
            </a:pPr>
            <a:r>
              <a:rPr lang="en-US" sz="4699" spc="1113">
                <a:solidFill>
                  <a:srgbClr val="000000"/>
                </a:solidFill>
                <a:latin typeface="Moontime"/>
                <a:ea typeface="Moontime"/>
                <a:cs typeface="Moontime"/>
                <a:sym typeface="Moontime"/>
              </a:rPr>
              <a:t>Manu</a:t>
            </a:r>
          </a:p>
        </p:txBody>
      </p:sp>
      <p:sp>
        <p:nvSpPr>
          <p:cNvPr name="TextBox 7" id="7"/>
          <p:cNvSpPr txBox="true"/>
          <p:nvPr/>
        </p:nvSpPr>
        <p:spPr>
          <a:xfrm rot="0">
            <a:off x="8059634" y="6448268"/>
            <a:ext cx="2451646" cy="598171"/>
          </a:xfrm>
          <a:prstGeom prst="rect">
            <a:avLst/>
          </a:prstGeom>
        </p:spPr>
        <p:txBody>
          <a:bodyPr anchor="t" rtlCol="false" tIns="0" lIns="0" bIns="0" rIns="0">
            <a:spAutoFit/>
          </a:bodyPr>
          <a:lstStyle/>
          <a:p>
            <a:pPr algn="ctr">
              <a:lnSpc>
                <a:spcPts val="4859"/>
              </a:lnSpc>
              <a:spcBef>
                <a:spcPct val="0"/>
              </a:spcBef>
            </a:pPr>
            <a:r>
              <a:rPr lang="en-US" sz="3599" spc="853">
                <a:solidFill>
                  <a:srgbClr val="000000"/>
                </a:solidFill>
                <a:latin typeface="Cheque"/>
                <a:ea typeface="Cheque"/>
                <a:cs typeface="Cheque"/>
                <a:sym typeface="Cheque"/>
              </a:rPr>
              <a:t>FAKTUR</a:t>
            </a:r>
          </a:p>
        </p:txBody>
      </p:sp>
      <p:grpSp>
        <p:nvGrpSpPr>
          <p:cNvPr name="Group 8" id="8"/>
          <p:cNvGrpSpPr/>
          <p:nvPr/>
        </p:nvGrpSpPr>
        <p:grpSpPr>
          <a:xfrm rot="0">
            <a:off x="149122" y="207996"/>
            <a:ext cx="4289072" cy="1931908"/>
            <a:chOff x="0" y="0"/>
            <a:chExt cx="5718762" cy="2575878"/>
          </a:xfrm>
        </p:grpSpPr>
        <p:sp>
          <p:nvSpPr>
            <p:cNvPr name="Freeform 9" id="9"/>
            <p:cNvSpPr/>
            <p:nvPr/>
          </p:nvSpPr>
          <p:spPr>
            <a:xfrm flipH="false" flipV="false" rot="0">
              <a:off x="4753212" y="1698470"/>
              <a:ext cx="812698" cy="877407"/>
            </a:xfrm>
            <a:custGeom>
              <a:avLst/>
              <a:gdLst/>
              <a:ahLst/>
              <a:cxnLst/>
              <a:rect r="r" b="b" t="t" l="l"/>
              <a:pathLst>
                <a:path h="877407" w="812698">
                  <a:moveTo>
                    <a:pt x="0" y="0"/>
                  </a:moveTo>
                  <a:lnTo>
                    <a:pt x="812699" y="0"/>
                  </a:lnTo>
                  <a:lnTo>
                    <a:pt x="812699" y="877408"/>
                  </a:lnTo>
                  <a:lnTo>
                    <a:pt x="0" y="877408"/>
                  </a:lnTo>
                  <a:lnTo>
                    <a:pt x="0" y="0"/>
                  </a:lnTo>
                  <a:close/>
                </a:path>
              </a:pathLst>
            </a:custGeom>
            <a:blipFill>
              <a:blip r:embed="rId5"/>
              <a:stretch>
                <a:fillRect l="0" t="0" r="0" b="0"/>
              </a:stretch>
            </a:blipFill>
          </p:spPr>
        </p:sp>
        <p:sp>
          <p:nvSpPr>
            <p:cNvPr name="Freeform 10" id="10"/>
            <p:cNvSpPr/>
            <p:nvPr/>
          </p:nvSpPr>
          <p:spPr>
            <a:xfrm flipH="false" flipV="false" rot="0">
              <a:off x="0" y="0"/>
              <a:ext cx="2253695" cy="2169181"/>
            </a:xfrm>
            <a:custGeom>
              <a:avLst/>
              <a:gdLst/>
              <a:ahLst/>
              <a:cxnLst/>
              <a:rect r="r" b="b" t="t" l="l"/>
              <a:pathLst>
                <a:path h="2169181" w="2253695">
                  <a:moveTo>
                    <a:pt x="0" y="0"/>
                  </a:moveTo>
                  <a:lnTo>
                    <a:pt x="2253695" y="0"/>
                  </a:lnTo>
                  <a:lnTo>
                    <a:pt x="2253695" y="2169181"/>
                  </a:lnTo>
                  <a:lnTo>
                    <a:pt x="0" y="2169181"/>
                  </a:lnTo>
                  <a:lnTo>
                    <a:pt x="0" y="0"/>
                  </a:lnTo>
                  <a:close/>
                </a:path>
              </a:pathLst>
            </a:custGeom>
            <a:blipFill>
              <a:blip r:embed="rId6"/>
              <a:stretch>
                <a:fillRect l="0" t="0" r="0" b="0"/>
              </a:stretch>
            </a:blipFill>
          </p:spPr>
        </p:sp>
        <p:sp>
          <p:nvSpPr>
            <p:cNvPr name="TextBox 11" id="11"/>
            <p:cNvSpPr txBox="true"/>
            <p:nvPr/>
          </p:nvSpPr>
          <p:spPr>
            <a:xfrm rot="0">
              <a:off x="133465" y="533073"/>
              <a:ext cx="2377607" cy="1023622"/>
            </a:xfrm>
            <a:prstGeom prst="rect">
              <a:avLst/>
            </a:prstGeom>
          </p:spPr>
          <p:txBody>
            <a:bodyPr anchor="t" rtlCol="false" tIns="0" lIns="0" bIns="0" rIns="0">
              <a:spAutoFit/>
            </a:bodyPr>
            <a:lstStyle/>
            <a:p>
              <a:pPr algn="ctr">
                <a:lnSpc>
                  <a:spcPts val="6344"/>
                </a:lnSpc>
                <a:spcBef>
                  <a:spcPct val="0"/>
                </a:spcBef>
              </a:pPr>
              <a:r>
                <a:rPr lang="en-US" sz="4699" spc="451">
                  <a:solidFill>
                    <a:srgbClr val="004AAD"/>
                  </a:solidFill>
                  <a:latin typeface="Great Vibes"/>
                  <a:ea typeface="Great Vibes"/>
                  <a:cs typeface="Great Vibes"/>
                  <a:sym typeface="Great Vibes"/>
                </a:rPr>
                <a:t>Manu</a:t>
              </a:r>
            </a:p>
          </p:txBody>
        </p:sp>
        <p:sp>
          <p:nvSpPr>
            <p:cNvPr name="TextBox 12" id="12"/>
            <p:cNvSpPr txBox="true"/>
            <p:nvPr/>
          </p:nvSpPr>
          <p:spPr>
            <a:xfrm rot="0">
              <a:off x="2370616" y="665153"/>
              <a:ext cx="3348146" cy="778512"/>
            </a:xfrm>
            <a:prstGeom prst="rect">
              <a:avLst/>
            </a:prstGeom>
          </p:spPr>
          <p:txBody>
            <a:bodyPr anchor="t" rtlCol="false" tIns="0" lIns="0" bIns="0" rIns="0">
              <a:spAutoFit/>
            </a:bodyPr>
            <a:lstStyle/>
            <a:p>
              <a:pPr algn="ctr">
                <a:lnSpc>
                  <a:spcPts val="4859"/>
                </a:lnSpc>
                <a:spcBef>
                  <a:spcPct val="0"/>
                </a:spcBef>
              </a:pPr>
              <a:r>
                <a:rPr lang="en-US" sz="3599" spc="853">
                  <a:solidFill>
                    <a:srgbClr val="004AAD"/>
                  </a:solidFill>
                  <a:latin typeface="Cheque Bold"/>
                  <a:ea typeface="Cheque Bold"/>
                  <a:cs typeface="Cheque Bold"/>
                  <a:sym typeface="Cheque Bold"/>
                </a:rPr>
                <a:t>FAKTUR</a:t>
              </a:r>
            </a:p>
          </p:txBody>
        </p:sp>
        <p:sp>
          <p:nvSpPr>
            <p:cNvPr name="TextBox 13" id="13"/>
            <p:cNvSpPr txBox="true"/>
            <p:nvPr/>
          </p:nvSpPr>
          <p:spPr>
            <a:xfrm rot="0">
              <a:off x="1159962" y="1739921"/>
              <a:ext cx="3398838" cy="300990"/>
            </a:xfrm>
            <a:prstGeom prst="rect">
              <a:avLst/>
            </a:prstGeom>
          </p:spPr>
          <p:txBody>
            <a:bodyPr anchor="t" rtlCol="false" tIns="0" lIns="0" bIns="0" rIns="0">
              <a:spAutoFit/>
            </a:bodyPr>
            <a:lstStyle/>
            <a:p>
              <a:pPr algn="ctr">
                <a:lnSpc>
                  <a:spcPts val="1889"/>
                </a:lnSpc>
                <a:spcBef>
                  <a:spcPct val="0"/>
                </a:spcBef>
              </a:pPr>
              <a:r>
                <a:rPr lang="en-US" sz="1399" spc="331">
                  <a:solidFill>
                    <a:srgbClr val="000000"/>
                  </a:solidFill>
                  <a:latin typeface="Now"/>
                  <a:ea typeface="Now"/>
                  <a:cs typeface="Now"/>
                  <a:sym typeface="Now"/>
                </a:rPr>
                <a:t>Individuelle Malerei</a:t>
              </a:r>
            </a:p>
          </p:txBody>
        </p:sp>
        <p:sp>
          <p:nvSpPr>
            <p:cNvPr name="Freeform 14" id="14"/>
            <p:cNvSpPr/>
            <p:nvPr/>
          </p:nvSpPr>
          <p:spPr>
            <a:xfrm flipH="false" flipV="false" rot="0">
              <a:off x="1574844" y="2129811"/>
              <a:ext cx="446067" cy="446067"/>
            </a:xfrm>
            <a:custGeom>
              <a:avLst/>
              <a:gdLst/>
              <a:ahLst/>
              <a:cxnLst/>
              <a:rect r="r" b="b" t="t" l="l"/>
              <a:pathLst>
                <a:path h="446067" w="446067">
                  <a:moveTo>
                    <a:pt x="0" y="0"/>
                  </a:moveTo>
                  <a:lnTo>
                    <a:pt x="446066" y="0"/>
                  </a:lnTo>
                  <a:lnTo>
                    <a:pt x="446066" y="446067"/>
                  </a:lnTo>
                  <a:lnTo>
                    <a:pt x="0" y="446067"/>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TextBox 15" id="15"/>
            <p:cNvSpPr txBox="true"/>
            <p:nvPr/>
          </p:nvSpPr>
          <p:spPr>
            <a:xfrm rot="0">
              <a:off x="2128587" y="2215684"/>
              <a:ext cx="2015331" cy="255270"/>
            </a:xfrm>
            <a:prstGeom prst="rect">
              <a:avLst/>
            </a:prstGeom>
          </p:spPr>
          <p:txBody>
            <a:bodyPr anchor="t" rtlCol="false" tIns="0" lIns="0" bIns="0" rIns="0">
              <a:spAutoFit/>
            </a:bodyPr>
            <a:lstStyle/>
            <a:p>
              <a:pPr algn="l">
                <a:lnSpc>
                  <a:spcPts val="1620"/>
                </a:lnSpc>
                <a:spcBef>
                  <a:spcPct val="0"/>
                </a:spcBef>
              </a:pPr>
              <a:r>
                <a:rPr lang="en-US" sz="1200" spc="284">
                  <a:solidFill>
                    <a:srgbClr val="000000"/>
                  </a:solidFill>
                  <a:latin typeface="Now"/>
                  <a:ea typeface="Now"/>
                  <a:cs typeface="Now"/>
                  <a:sym typeface="Now"/>
                </a:rPr>
                <a:t>0163 2662435</a:t>
              </a:r>
            </a:p>
          </p:txBody>
        </p:sp>
      </p:grpSp>
      <p:sp>
        <p:nvSpPr>
          <p:cNvPr name="TextBox 16" id="16"/>
          <p:cNvSpPr txBox="true"/>
          <p:nvPr/>
        </p:nvSpPr>
        <p:spPr>
          <a:xfrm rot="0">
            <a:off x="6498488" y="4061271"/>
            <a:ext cx="1236762" cy="796292"/>
          </a:xfrm>
          <a:prstGeom prst="rect">
            <a:avLst/>
          </a:prstGeom>
        </p:spPr>
        <p:txBody>
          <a:bodyPr anchor="t" rtlCol="false" tIns="0" lIns="0" bIns="0" rIns="0">
            <a:spAutoFit/>
          </a:bodyPr>
          <a:lstStyle/>
          <a:p>
            <a:pPr algn="ctr">
              <a:lnSpc>
                <a:spcPts val="6344"/>
              </a:lnSpc>
              <a:spcBef>
                <a:spcPct val="0"/>
              </a:spcBef>
            </a:pPr>
            <a:r>
              <a:rPr lang="en-US" sz="4699" spc="1113">
                <a:solidFill>
                  <a:srgbClr val="000000"/>
                </a:solidFill>
                <a:latin typeface="Virtual"/>
                <a:ea typeface="Virtual"/>
                <a:cs typeface="Virtual"/>
                <a:sym typeface="Virtual"/>
              </a:rPr>
              <a:t>Manu</a:t>
            </a:r>
          </a:p>
        </p:txBody>
      </p:sp>
      <p:sp>
        <p:nvSpPr>
          <p:cNvPr name="TextBox 17" id="17"/>
          <p:cNvSpPr txBox="true"/>
          <p:nvPr/>
        </p:nvSpPr>
        <p:spPr>
          <a:xfrm rot="0">
            <a:off x="8029124" y="4089846"/>
            <a:ext cx="2451646" cy="598171"/>
          </a:xfrm>
          <a:prstGeom prst="rect">
            <a:avLst/>
          </a:prstGeom>
        </p:spPr>
        <p:txBody>
          <a:bodyPr anchor="t" rtlCol="false" tIns="0" lIns="0" bIns="0" rIns="0">
            <a:spAutoFit/>
          </a:bodyPr>
          <a:lstStyle/>
          <a:p>
            <a:pPr algn="ctr">
              <a:lnSpc>
                <a:spcPts val="4859"/>
              </a:lnSpc>
              <a:spcBef>
                <a:spcPct val="0"/>
              </a:spcBef>
            </a:pPr>
            <a:r>
              <a:rPr lang="en-US" sz="3599" spc="853">
                <a:solidFill>
                  <a:srgbClr val="000000"/>
                </a:solidFill>
                <a:latin typeface="Cheque"/>
                <a:ea typeface="Cheque"/>
                <a:cs typeface="Cheque"/>
                <a:sym typeface="Cheque"/>
              </a:rPr>
              <a:t>FAKTUR</a:t>
            </a:r>
          </a:p>
        </p:txBody>
      </p:sp>
      <p:sp>
        <p:nvSpPr>
          <p:cNvPr name="Freeform 18" id="18"/>
          <p:cNvSpPr/>
          <p:nvPr/>
        </p:nvSpPr>
        <p:spPr>
          <a:xfrm flipH="false" flipV="false" rot="0">
            <a:off x="3714031" y="3736879"/>
            <a:ext cx="609524" cy="658055"/>
          </a:xfrm>
          <a:custGeom>
            <a:avLst/>
            <a:gdLst/>
            <a:ahLst/>
            <a:cxnLst/>
            <a:rect r="r" b="b" t="t" l="l"/>
            <a:pathLst>
              <a:path h="658055" w="609524">
                <a:moveTo>
                  <a:pt x="0" y="0"/>
                </a:moveTo>
                <a:lnTo>
                  <a:pt x="609524" y="0"/>
                </a:lnTo>
                <a:lnTo>
                  <a:pt x="609524" y="658056"/>
                </a:lnTo>
                <a:lnTo>
                  <a:pt x="0" y="658056"/>
                </a:lnTo>
                <a:lnTo>
                  <a:pt x="0" y="0"/>
                </a:lnTo>
                <a:close/>
              </a:path>
            </a:pathLst>
          </a:custGeom>
          <a:blipFill>
            <a:blip r:embed="rId5"/>
            <a:stretch>
              <a:fillRect l="0" t="0" r="0" b="0"/>
            </a:stretch>
          </a:blipFill>
        </p:spPr>
      </p:sp>
      <p:grpSp>
        <p:nvGrpSpPr>
          <p:cNvPr name="Group 19" id="19"/>
          <p:cNvGrpSpPr/>
          <p:nvPr/>
        </p:nvGrpSpPr>
        <p:grpSpPr>
          <a:xfrm rot="0">
            <a:off x="149122" y="2463027"/>
            <a:ext cx="4289072" cy="1626886"/>
            <a:chOff x="0" y="0"/>
            <a:chExt cx="5718762" cy="2169181"/>
          </a:xfrm>
        </p:grpSpPr>
        <p:sp>
          <p:nvSpPr>
            <p:cNvPr name="Freeform 20" id="20"/>
            <p:cNvSpPr/>
            <p:nvPr/>
          </p:nvSpPr>
          <p:spPr>
            <a:xfrm flipH="false" flipV="false" rot="0">
              <a:off x="0" y="0"/>
              <a:ext cx="2253695" cy="2169181"/>
            </a:xfrm>
            <a:custGeom>
              <a:avLst/>
              <a:gdLst/>
              <a:ahLst/>
              <a:cxnLst/>
              <a:rect r="r" b="b" t="t" l="l"/>
              <a:pathLst>
                <a:path h="2169181" w="2253695">
                  <a:moveTo>
                    <a:pt x="0" y="0"/>
                  </a:moveTo>
                  <a:lnTo>
                    <a:pt x="2253695" y="0"/>
                  </a:lnTo>
                  <a:lnTo>
                    <a:pt x="2253695" y="2169181"/>
                  </a:lnTo>
                  <a:lnTo>
                    <a:pt x="0" y="2169181"/>
                  </a:lnTo>
                  <a:lnTo>
                    <a:pt x="0" y="0"/>
                  </a:lnTo>
                  <a:close/>
                </a:path>
              </a:pathLst>
            </a:custGeom>
            <a:blipFill>
              <a:blip r:embed="rId6"/>
              <a:stretch>
                <a:fillRect l="0" t="0" r="0" b="0"/>
              </a:stretch>
            </a:blipFill>
          </p:spPr>
        </p:sp>
        <p:sp>
          <p:nvSpPr>
            <p:cNvPr name="TextBox 21" id="21"/>
            <p:cNvSpPr txBox="true"/>
            <p:nvPr/>
          </p:nvSpPr>
          <p:spPr>
            <a:xfrm rot="0">
              <a:off x="133465" y="533073"/>
              <a:ext cx="2377607" cy="1023622"/>
            </a:xfrm>
            <a:prstGeom prst="rect">
              <a:avLst/>
            </a:prstGeom>
          </p:spPr>
          <p:txBody>
            <a:bodyPr anchor="t" rtlCol="false" tIns="0" lIns="0" bIns="0" rIns="0">
              <a:spAutoFit/>
            </a:bodyPr>
            <a:lstStyle/>
            <a:p>
              <a:pPr algn="ctr">
                <a:lnSpc>
                  <a:spcPts val="6344"/>
                </a:lnSpc>
                <a:spcBef>
                  <a:spcPct val="0"/>
                </a:spcBef>
              </a:pPr>
              <a:r>
                <a:rPr lang="en-US" sz="4699" spc="451">
                  <a:solidFill>
                    <a:srgbClr val="004AAD"/>
                  </a:solidFill>
                  <a:latin typeface="Great Vibes"/>
                  <a:ea typeface="Great Vibes"/>
                  <a:cs typeface="Great Vibes"/>
                  <a:sym typeface="Great Vibes"/>
                </a:rPr>
                <a:t>Manu</a:t>
              </a:r>
            </a:p>
          </p:txBody>
        </p:sp>
        <p:sp>
          <p:nvSpPr>
            <p:cNvPr name="TextBox 22" id="22"/>
            <p:cNvSpPr txBox="true"/>
            <p:nvPr/>
          </p:nvSpPr>
          <p:spPr>
            <a:xfrm rot="0">
              <a:off x="2370616" y="665153"/>
              <a:ext cx="3348146" cy="778512"/>
            </a:xfrm>
            <a:prstGeom prst="rect">
              <a:avLst/>
            </a:prstGeom>
          </p:spPr>
          <p:txBody>
            <a:bodyPr anchor="t" rtlCol="false" tIns="0" lIns="0" bIns="0" rIns="0">
              <a:spAutoFit/>
            </a:bodyPr>
            <a:lstStyle/>
            <a:p>
              <a:pPr algn="ctr">
                <a:lnSpc>
                  <a:spcPts val="4859"/>
                </a:lnSpc>
                <a:spcBef>
                  <a:spcPct val="0"/>
                </a:spcBef>
              </a:pPr>
              <a:r>
                <a:rPr lang="en-US" sz="3599" spc="853">
                  <a:solidFill>
                    <a:srgbClr val="004AAD"/>
                  </a:solidFill>
                  <a:latin typeface="Cheque Bold"/>
                  <a:ea typeface="Cheque Bold"/>
                  <a:cs typeface="Cheque Bold"/>
                  <a:sym typeface="Cheque Bold"/>
                </a:rPr>
                <a:t>FAKTUR</a:t>
              </a:r>
            </a:p>
          </p:txBody>
        </p:sp>
      </p:grpSp>
      <p:sp>
        <p:nvSpPr>
          <p:cNvPr name="TextBox 23" id="23"/>
          <p:cNvSpPr txBox="true"/>
          <p:nvPr/>
        </p:nvSpPr>
        <p:spPr>
          <a:xfrm rot="0">
            <a:off x="1019094" y="3763205"/>
            <a:ext cx="2549128" cy="230505"/>
          </a:xfrm>
          <a:prstGeom prst="rect">
            <a:avLst/>
          </a:prstGeom>
        </p:spPr>
        <p:txBody>
          <a:bodyPr anchor="t" rtlCol="false" tIns="0" lIns="0" bIns="0" rIns="0">
            <a:spAutoFit/>
          </a:bodyPr>
          <a:lstStyle/>
          <a:p>
            <a:pPr algn="ctr">
              <a:lnSpc>
                <a:spcPts val="1889"/>
              </a:lnSpc>
              <a:spcBef>
                <a:spcPct val="0"/>
              </a:spcBef>
            </a:pPr>
            <a:r>
              <a:rPr lang="en-US" sz="1399" spc="331">
                <a:solidFill>
                  <a:srgbClr val="000000"/>
                </a:solidFill>
                <a:latin typeface="Now"/>
                <a:ea typeface="Now"/>
                <a:cs typeface="Now"/>
                <a:sym typeface="Now"/>
              </a:rPr>
              <a:t>Individuelle Malerei</a:t>
            </a:r>
          </a:p>
        </p:txBody>
      </p:sp>
      <p:sp>
        <p:nvSpPr>
          <p:cNvPr name="Freeform 24" id="24"/>
          <p:cNvSpPr/>
          <p:nvPr/>
        </p:nvSpPr>
        <p:spPr>
          <a:xfrm flipH="false" flipV="false" rot="0">
            <a:off x="1330255" y="4060385"/>
            <a:ext cx="334550" cy="334550"/>
          </a:xfrm>
          <a:custGeom>
            <a:avLst/>
            <a:gdLst/>
            <a:ahLst/>
            <a:cxnLst/>
            <a:rect r="r" b="b" t="t" l="l"/>
            <a:pathLst>
              <a:path h="334550" w="334550">
                <a:moveTo>
                  <a:pt x="0" y="0"/>
                </a:moveTo>
                <a:lnTo>
                  <a:pt x="334550" y="0"/>
                </a:lnTo>
                <a:lnTo>
                  <a:pt x="334550" y="334550"/>
                </a:lnTo>
                <a:lnTo>
                  <a:pt x="0" y="334550"/>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TextBox 25" id="25"/>
          <p:cNvSpPr txBox="true"/>
          <p:nvPr/>
        </p:nvSpPr>
        <p:spPr>
          <a:xfrm rot="0">
            <a:off x="1745563" y="4120027"/>
            <a:ext cx="1511498" cy="196215"/>
          </a:xfrm>
          <a:prstGeom prst="rect">
            <a:avLst/>
          </a:prstGeom>
        </p:spPr>
        <p:txBody>
          <a:bodyPr anchor="t" rtlCol="false" tIns="0" lIns="0" bIns="0" rIns="0">
            <a:spAutoFit/>
          </a:bodyPr>
          <a:lstStyle/>
          <a:p>
            <a:pPr algn="l">
              <a:lnSpc>
                <a:spcPts val="1620"/>
              </a:lnSpc>
              <a:spcBef>
                <a:spcPct val="0"/>
              </a:spcBef>
            </a:pPr>
            <a:r>
              <a:rPr lang="en-US" sz="1200" spc="284">
                <a:solidFill>
                  <a:srgbClr val="000000"/>
                </a:solidFill>
                <a:latin typeface="Now"/>
                <a:ea typeface="Now"/>
                <a:cs typeface="Now"/>
                <a:sym typeface="Now"/>
              </a:rPr>
              <a:t>0163 2662435</a:t>
            </a:r>
          </a:p>
        </p:txBody>
      </p:sp>
      <p:grpSp>
        <p:nvGrpSpPr>
          <p:cNvPr name="Group 26" id="26"/>
          <p:cNvGrpSpPr/>
          <p:nvPr/>
        </p:nvGrpSpPr>
        <p:grpSpPr>
          <a:xfrm rot="0">
            <a:off x="5330645" y="6609"/>
            <a:ext cx="3564000" cy="7560000"/>
            <a:chOff x="0" y="0"/>
            <a:chExt cx="1277257" cy="2709333"/>
          </a:xfrm>
        </p:grpSpPr>
        <p:sp>
          <p:nvSpPr>
            <p:cNvPr name="Freeform 27" id="27"/>
            <p:cNvSpPr/>
            <p:nvPr/>
          </p:nvSpPr>
          <p:spPr>
            <a:xfrm flipH="false" flipV="false" rot="0">
              <a:off x="0" y="0"/>
              <a:ext cx="1277257" cy="2709333"/>
            </a:xfrm>
            <a:custGeom>
              <a:avLst/>
              <a:gdLst/>
              <a:ahLst/>
              <a:cxnLst/>
              <a:rect r="r" b="b" t="t" l="l"/>
              <a:pathLst>
                <a:path h="2709333" w="1277257">
                  <a:moveTo>
                    <a:pt x="0" y="0"/>
                  </a:moveTo>
                  <a:lnTo>
                    <a:pt x="1277257" y="0"/>
                  </a:lnTo>
                  <a:lnTo>
                    <a:pt x="1277257" y="2709333"/>
                  </a:lnTo>
                  <a:lnTo>
                    <a:pt x="0" y="2709333"/>
                  </a:lnTo>
                  <a:close/>
                </a:path>
              </a:pathLst>
            </a:custGeom>
            <a:solidFill>
              <a:srgbClr val="A19C94"/>
            </a:solidFill>
          </p:spPr>
        </p:sp>
        <p:sp>
          <p:nvSpPr>
            <p:cNvPr name="TextBox 28" id="28"/>
            <p:cNvSpPr txBox="true"/>
            <p:nvPr/>
          </p:nvSpPr>
          <p:spPr>
            <a:xfrm>
              <a:off x="0" y="-19050"/>
              <a:ext cx="1277257" cy="2728383"/>
            </a:xfrm>
            <a:prstGeom prst="rect">
              <a:avLst/>
            </a:prstGeom>
          </p:spPr>
          <p:txBody>
            <a:bodyPr anchor="ctr" rtlCol="false" tIns="50800" lIns="50800" bIns="50800" rIns="50800"/>
            <a:lstStyle/>
            <a:p>
              <a:pPr algn="ctr">
                <a:lnSpc>
                  <a:spcPts val="1889"/>
                </a:lnSpc>
              </a:pPr>
            </a:p>
          </p:txBody>
        </p:sp>
      </p:grpSp>
      <p:sp>
        <p:nvSpPr>
          <p:cNvPr name="Freeform 29" id="29"/>
          <p:cNvSpPr/>
          <p:nvPr/>
        </p:nvSpPr>
        <p:spPr>
          <a:xfrm flipH="false" flipV="false" rot="0">
            <a:off x="7058424" y="3585737"/>
            <a:ext cx="1097968" cy="1022109"/>
          </a:xfrm>
          <a:custGeom>
            <a:avLst/>
            <a:gdLst/>
            <a:ahLst/>
            <a:cxnLst/>
            <a:rect r="r" b="b" t="t" l="l"/>
            <a:pathLst>
              <a:path h="1022109" w="1097968">
                <a:moveTo>
                  <a:pt x="0" y="0"/>
                </a:moveTo>
                <a:lnTo>
                  <a:pt x="1097968" y="0"/>
                </a:lnTo>
                <a:lnTo>
                  <a:pt x="1097968" y="1022108"/>
                </a:lnTo>
                <a:lnTo>
                  <a:pt x="0" y="1022108"/>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
        <p:nvSpPr>
          <p:cNvPr name="Freeform 30" id="30"/>
          <p:cNvSpPr/>
          <p:nvPr/>
        </p:nvSpPr>
        <p:spPr>
          <a:xfrm flipH="false" flipV="false" rot="0">
            <a:off x="8045539" y="2699083"/>
            <a:ext cx="1517397" cy="1337206"/>
          </a:xfrm>
          <a:custGeom>
            <a:avLst/>
            <a:gdLst/>
            <a:ahLst/>
            <a:cxnLst/>
            <a:rect r="r" b="b" t="t" l="l"/>
            <a:pathLst>
              <a:path h="1337206" w="1517397">
                <a:moveTo>
                  <a:pt x="0" y="0"/>
                </a:moveTo>
                <a:lnTo>
                  <a:pt x="1517397" y="0"/>
                </a:lnTo>
                <a:lnTo>
                  <a:pt x="1517397" y="1337206"/>
                </a:lnTo>
                <a:lnTo>
                  <a:pt x="0" y="1337206"/>
                </a:lnTo>
                <a:lnTo>
                  <a:pt x="0" y="0"/>
                </a:lnTo>
                <a:close/>
              </a:path>
            </a:pathLst>
          </a:custGeom>
          <a:blipFill>
            <a:blip r:embed="rId11"/>
            <a:stretch>
              <a:fillRect l="0" t="0" r="0" b="0"/>
            </a:stretch>
          </a:blipFill>
        </p:spPr>
      </p:sp>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238125" y="2951669"/>
            <a:ext cx="3056632" cy="1425155"/>
          </a:xfrm>
          <a:custGeom>
            <a:avLst/>
            <a:gdLst/>
            <a:ahLst/>
            <a:cxnLst/>
            <a:rect r="r" b="b" t="t" l="l"/>
            <a:pathLst>
              <a:path h="1425155" w="3056632">
                <a:moveTo>
                  <a:pt x="0" y="0"/>
                </a:moveTo>
                <a:lnTo>
                  <a:pt x="3056632" y="0"/>
                </a:lnTo>
                <a:lnTo>
                  <a:pt x="3056632" y="1425155"/>
                </a:lnTo>
                <a:lnTo>
                  <a:pt x="0" y="1425155"/>
                </a:lnTo>
                <a:lnTo>
                  <a:pt x="0" y="0"/>
                </a:lnTo>
                <a:close/>
              </a:path>
            </a:pathLst>
          </a:custGeom>
          <a:blipFill>
            <a:blip r:embed="rId2"/>
            <a:stretch>
              <a:fillRect l="0" t="0" r="0" b="0"/>
            </a:stretch>
          </a:blipFill>
        </p:spPr>
      </p:sp>
      <p:sp>
        <p:nvSpPr>
          <p:cNvPr name="TextBox 3" id="3"/>
          <p:cNvSpPr txBox="true"/>
          <p:nvPr/>
        </p:nvSpPr>
        <p:spPr>
          <a:xfrm rot="0">
            <a:off x="3770730" y="506445"/>
            <a:ext cx="2358463" cy="465773"/>
          </a:xfrm>
          <a:prstGeom prst="rect">
            <a:avLst/>
          </a:prstGeom>
        </p:spPr>
        <p:txBody>
          <a:bodyPr anchor="t" rtlCol="false" tIns="0" lIns="0" bIns="0" rIns="0">
            <a:spAutoFit/>
          </a:bodyPr>
          <a:lstStyle/>
          <a:p>
            <a:pPr algn="l">
              <a:lnSpc>
                <a:spcPts val="3779"/>
              </a:lnSpc>
            </a:pPr>
            <a:r>
              <a:rPr lang="en-US" b="true" sz="2799" spc="979">
                <a:solidFill>
                  <a:srgbClr val="484540"/>
                </a:solidFill>
                <a:latin typeface="Now Medium"/>
                <a:ea typeface="Now Medium"/>
                <a:cs typeface="Now Medium"/>
                <a:sym typeface="Now Medium"/>
              </a:rPr>
              <a:t>KUNST</a:t>
            </a:r>
          </a:p>
        </p:txBody>
      </p:sp>
      <p:sp>
        <p:nvSpPr>
          <p:cNvPr name="Freeform 4" id="4"/>
          <p:cNvSpPr/>
          <p:nvPr/>
        </p:nvSpPr>
        <p:spPr>
          <a:xfrm flipH="false" flipV="false" rot="0">
            <a:off x="7331178" y="1340921"/>
            <a:ext cx="3150540" cy="2056870"/>
          </a:xfrm>
          <a:custGeom>
            <a:avLst/>
            <a:gdLst/>
            <a:ahLst/>
            <a:cxnLst/>
            <a:rect r="r" b="b" t="t" l="l"/>
            <a:pathLst>
              <a:path h="2056870" w="3150540">
                <a:moveTo>
                  <a:pt x="0" y="0"/>
                </a:moveTo>
                <a:lnTo>
                  <a:pt x="3150540" y="0"/>
                </a:lnTo>
                <a:lnTo>
                  <a:pt x="3150540" y="2056870"/>
                </a:lnTo>
                <a:lnTo>
                  <a:pt x="0" y="2056870"/>
                </a:lnTo>
                <a:lnTo>
                  <a:pt x="0" y="0"/>
                </a:lnTo>
                <a:close/>
              </a:path>
            </a:pathLst>
          </a:custGeom>
          <a:blipFill>
            <a:blip r:embed="rId3"/>
            <a:stretch>
              <a:fillRect l="0" t="-1057" r="0" b="-1057"/>
            </a:stretch>
          </a:blipFill>
        </p:spPr>
      </p:sp>
      <p:sp>
        <p:nvSpPr>
          <p:cNvPr name="AutoShape 5" id="5"/>
          <p:cNvSpPr/>
          <p:nvPr/>
        </p:nvSpPr>
        <p:spPr>
          <a:xfrm flipV="true">
            <a:off x="6129193" y="756000"/>
            <a:ext cx="4765722" cy="2381"/>
          </a:xfrm>
          <a:prstGeom prst="line">
            <a:avLst/>
          </a:prstGeom>
          <a:ln cap="flat" w="47625">
            <a:solidFill>
              <a:srgbClr val="484540"/>
            </a:solidFill>
            <a:prstDash val="solid"/>
            <a:headEnd type="none" len="sm" w="sm"/>
            <a:tailEnd type="none" len="sm" w="sm"/>
          </a:ln>
        </p:spPr>
      </p:sp>
      <p:sp>
        <p:nvSpPr>
          <p:cNvPr name="AutoShape 6" id="6"/>
          <p:cNvSpPr/>
          <p:nvPr/>
        </p:nvSpPr>
        <p:spPr>
          <a:xfrm flipH="true">
            <a:off x="233024" y="7049251"/>
            <a:ext cx="3056632" cy="0"/>
          </a:xfrm>
          <a:prstGeom prst="line">
            <a:avLst/>
          </a:prstGeom>
          <a:ln cap="flat" w="47625">
            <a:solidFill>
              <a:srgbClr val="484540"/>
            </a:solidFill>
            <a:prstDash val="solid"/>
            <a:headEnd type="none" len="sm" w="sm"/>
            <a:tailEnd type="none" len="sm" w="sm"/>
          </a:ln>
        </p:spPr>
      </p:sp>
      <p:sp>
        <p:nvSpPr>
          <p:cNvPr name="AutoShape 7" id="7"/>
          <p:cNvSpPr/>
          <p:nvPr/>
        </p:nvSpPr>
        <p:spPr>
          <a:xfrm flipH="true">
            <a:off x="7331178" y="7059436"/>
            <a:ext cx="3056632" cy="0"/>
          </a:xfrm>
          <a:prstGeom prst="line">
            <a:avLst/>
          </a:prstGeom>
          <a:ln cap="flat" w="47625">
            <a:solidFill>
              <a:srgbClr val="484540"/>
            </a:solidFill>
            <a:prstDash val="solid"/>
            <a:headEnd type="none" len="sm" w="sm"/>
            <a:tailEnd type="none" len="sm" w="sm"/>
          </a:ln>
        </p:spPr>
      </p:sp>
      <p:sp>
        <p:nvSpPr>
          <p:cNvPr name="Freeform 8" id="8"/>
          <p:cNvSpPr/>
          <p:nvPr/>
        </p:nvSpPr>
        <p:spPr>
          <a:xfrm flipH="false" flipV="false" rot="0">
            <a:off x="3770730" y="1340921"/>
            <a:ext cx="3150540" cy="2056870"/>
          </a:xfrm>
          <a:custGeom>
            <a:avLst/>
            <a:gdLst/>
            <a:ahLst/>
            <a:cxnLst/>
            <a:rect r="r" b="b" t="t" l="l"/>
            <a:pathLst>
              <a:path h="2056870" w="3150540">
                <a:moveTo>
                  <a:pt x="0" y="0"/>
                </a:moveTo>
                <a:lnTo>
                  <a:pt x="3150540" y="0"/>
                </a:lnTo>
                <a:lnTo>
                  <a:pt x="3150540" y="2056870"/>
                </a:lnTo>
                <a:lnTo>
                  <a:pt x="0" y="2056870"/>
                </a:lnTo>
                <a:lnTo>
                  <a:pt x="0" y="0"/>
                </a:lnTo>
                <a:close/>
              </a:path>
            </a:pathLst>
          </a:custGeom>
          <a:blipFill>
            <a:blip r:embed="rId4"/>
            <a:stretch>
              <a:fillRect l="0" t="-1057" r="0" b="-1057"/>
            </a:stretch>
          </a:blipFill>
        </p:spPr>
      </p:sp>
      <p:sp>
        <p:nvSpPr>
          <p:cNvPr name="AutoShape 9" id="9"/>
          <p:cNvSpPr/>
          <p:nvPr/>
        </p:nvSpPr>
        <p:spPr>
          <a:xfrm flipH="true">
            <a:off x="3817684" y="7049251"/>
            <a:ext cx="3056632" cy="0"/>
          </a:xfrm>
          <a:prstGeom prst="line">
            <a:avLst/>
          </a:prstGeom>
          <a:ln cap="flat" w="47625">
            <a:solidFill>
              <a:srgbClr val="484540"/>
            </a:solidFill>
            <a:prstDash val="solid"/>
            <a:headEnd type="none" len="sm" w="sm"/>
            <a:tailEnd type="none" len="sm" w="sm"/>
          </a:ln>
        </p:spPr>
      </p:sp>
      <p:grpSp>
        <p:nvGrpSpPr>
          <p:cNvPr name="Group 10" id="10"/>
          <p:cNvGrpSpPr/>
          <p:nvPr/>
        </p:nvGrpSpPr>
        <p:grpSpPr>
          <a:xfrm rot="0">
            <a:off x="7331178" y="3812227"/>
            <a:ext cx="3150540" cy="2915123"/>
            <a:chOff x="0" y="0"/>
            <a:chExt cx="4200720" cy="3886831"/>
          </a:xfrm>
        </p:grpSpPr>
        <p:sp>
          <p:nvSpPr>
            <p:cNvPr name="TextBox 11" id="11"/>
            <p:cNvSpPr txBox="true"/>
            <p:nvPr/>
          </p:nvSpPr>
          <p:spPr>
            <a:xfrm rot="0">
              <a:off x="0" y="643678"/>
              <a:ext cx="4200720" cy="3243153"/>
            </a:xfrm>
            <a:prstGeom prst="rect">
              <a:avLst/>
            </a:prstGeom>
          </p:spPr>
          <p:txBody>
            <a:bodyPr anchor="t" rtlCol="false" tIns="0" lIns="0" bIns="0" rIns="0">
              <a:spAutoFit/>
            </a:bodyPr>
            <a:lstStyle/>
            <a:p>
              <a:pPr algn="l">
                <a:lnSpc>
                  <a:spcPts val="1119"/>
                </a:lnSpc>
              </a:pPr>
              <a:r>
                <a:rPr lang="en-US" sz="799" spc="39">
                  <a:solidFill>
                    <a:srgbClr val="484540"/>
                  </a:solidFill>
                  <a:latin typeface="Now Light"/>
                  <a:ea typeface="Now Light"/>
                  <a:cs typeface="Now Light"/>
                  <a:sym typeface="Now Light"/>
                </a:rPr>
                <a:t>Begeisterte Hobbymalerin, Hundeliebhaberin, leidenschaftliche Naturliebhaberin/Waldliebhaberin,</a:t>
              </a:r>
            </a:p>
            <a:p>
              <a:pPr algn="l">
                <a:lnSpc>
                  <a:spcPts val="1119"/>
                </a:lnSpc>
              </a:pPr>
            </a:p>
            <a:p>
              <a:pPr algn="l">
                <a:lnSpc>
                  <a:spcPts val="1119"/>
                </a:lnSpc>
              </a:pPr>
              <a:r>
                <a:rPr lang="en-US" sz="799" spc="39">
                  <a:solidFill>
                    <a:srgbClr val="484540"/>
                  </a:solidFill>
                  <a:latin typeface="Now Light"/>
                  <a:ea typeface="Now Light"/>
                  <a:cs typeface="Now Light"/>
                  <a:sym typeface="Now Light"/>
                </a:rPr>
                <a:t>wie ich zur Kunst gekommen bin...</a:t>
              </a:r>
            </a:p>
            <a:p>
              <a:pPr algn="l">
                <a:lnSpc>
                  <a:spcPts val="1119"/>
                </a:lnSpc>
              </a:pPr>
            </a:p>
            <a:p>
              <a:pPr algn="l">
                <a:lnSpc>
                  <a:spcPts val="1119"/>
                </a:lnSpc>
              </a:pPr>
            </a:p>
            <a:p>
              <a:pPr algn="l">
                <a:lnSpc>
                  <a:spcPts val="1119"/>
                </a:lnSpc>
              </a:pPr>
              <a:r>
                <a:rPr lang="en-US" sz="799" spc="39">
                  <a:solidFill>
                    <a:srgbClr val="484540"/>
                  </a:solidFill>
                  <a:latin typeface="Now Light"/>
                  <a:ea typeface="Now Light"/>
                  <a:cs typeface="Now Light"/>
                  <a:sym typeface="Now Light"/>
                </a:rPr>
                <a:t>Zahlreiche Kunst-/Mallehrgänge im Alanus Werkhaus Alfter</a:t>
              </a:r>
            </a:p>
            <a:p>
              <a:pPr algn="l">
                <a:lnSpc>
                  <a:spcPts val="1119"/>
                </a:lnSpc>
              </a:pPr>
            </a:p>
            <a:p>
              <a:pPr algn="l">
                <a:lnSpc>
                  <a:spcPts val="1119"/>
                </a:lnSpc>
              </a:pPr>
              <a:r>
                <a:rPr lang="en-US" sz="799" spc="39">
                  <a:solidFill>
                    <a:srgbClr val="484540"/>
                  </a:solidFill>
                  <a:latin typeface="Now Light"/>
                  <a:ea typeface="Now Light"/>
                  <a:cs typeface="Now Light"/>
                  <a:sym typeface="Now Light"/>
                </a:rPr>
                <a:t>Private Malkurse bei promovierter Dozentin </a:t>
              </a:r>
            </a:p>
            <a:p>
              <a:pPr algn="l">
                <a:lnSpc>
                  <a:spcPts val="1119"/>
                </a:lnSpc>
              </a:pPr>
            </a:p>
            <a:p>
              <a:pPr algn="l">
                <a:lnSpc>
                  <a:spcPts val="1119"/>
                </a:lnSpc>
              </a:pPr>
              <a:r>
                <a:rPr lang="en-US" sz="799" spc="39">
                  <a:solidFill>
                    <a:srgbClr val="484540"/>
                  </a:solidFill>
                  <a:latin typeface="Now Light"/>
                  <a:ea typeface="Now Light"/>
                  <a:cs typeface="Now Light"/>
                  <a:sym typeface="Now Light"/>
                </a:rPr>
                <a:t>Meine Spezialgebiete: Am liebsten male ich nach Fotovorlagen Tiere &amp; Natur.</a:t>
              </a:r>
            </a:p>
            <a:p>
              <a:pPr algn="l">
                <a:lnSpc>
                  <a:spcPts val="1119"/>
                </a:lnSpc>
              </a:pPr>
            </a:p>
            <a:p>
              <a:pPr algn="l">
                <a:lnSpc>
                  <a:spcPts val="1119"/>
                </a:lnSpc>
              </a:pPr>
              <a:r>
                <a:rPr lang="en-US" sz="799" spc="39">
                  <a:solidFill>
                    <a:srgbClr val="484540"/>
                  </a:solidFill>
                  <a:latin typeface="Now Light"/>
                  <a:ea typeface="Now Light"/>
                  <a:cs typeface="Now Light"/>
                  <a:sym typeface="Now Light"/>
                </a:rPr>
                <a:t>Ich freue mich, Dich in einem kostenlosen Beratungsgespräch näher kennenzulernen.</a:t>
              </a:r>
            </a:p>
            <a:p>
              <a:pPr algn="l">
                <a:lnSpc>
                  <a:spcPts val="1119"/>
                </a:lnSpc>
              </a:pPr>
            </a:p>
            <a:p>
              <a:pPr algn="l">
                <a:lnSpc>
                  <a:spcPts val="1119"/>
                </a:lnSpc>
              </a:pPr>
              <a:r>
                <a:rPr lang="en-US" sz="799" spc="39">
                  <a:solidFill>
                    <a:srgbClr val="484540"/>
                  </a:solidFill>
                  <a:latin typeface="Now Light"/>
                  <a:ea typeface="Now Light"/>
                  <a:cs typeface="Now Light"/>
                  <a:sym typeface="Now Light"/>
                </a:rPr>
                <a:t>KONTAKTDATEN: ....</a:t>
              </a:r>
            </a:p>
          </p:txBody>
        </p:sp>
        <p:sp>
          <p:nvSpPr>
            <p:cNvPr name="TextBox 12" id="12"/>
            <p:cNvSpPr txBox="true"/>
            <p:nvPr/>
          </p:nvSpPr>
          <p:spPr>
            <a:xfrm rot="0">
              <a:off x="0" y="-28575"/>
              <a:ext cx="4200720" cy="426673"/>
            </a:xfrm>
            <a:prstGeom prst="rect">
              <a:avLst/>
            </a:prstGeom>
          </p:spPr>
          <p:txBody>
            <a:bodyPr anchor="t" rtlCol="false" tIns="0" lIns="0" bIns="0" rIns="0">
              <a:spAutoFit/>
            </a:bodyPr>
            <a:lstStyle/>
            <a:p>
              <a:pPr algn="l">
                <a:lnSpc>
                  <a:spcPts val="2676"/>
                </a:lnSpc>
              </a:pPr>
              <a:r>
                <a:rPr lang="en-US" sz="1982" spc="469" b="true">
                  <a:solidFill>
                    <a:srgbClr val="484540"/>
                  </a:solidFill>
                  <a:latin typeface="Now Medium"/>
                  <a:ea typeface="Now Medium"/>
                  <a:cs typeface="Now Medium"/>
                  <a:sym typeface="Now Medium"/>
                </a:rPr>
                <a:t>Wer bin ich?</a:t>
              </a:r>
            </a:p>
          </p:txBody>
        </p:sp>
      </p:grpSp>
      <p:sp>
        <p:nvSpPr>
          <p:cNvPr name="TextBox 13" id="13"/>
          <p:cNvSpPr txBox="true"/>
          <p:nvPr/>
        </p:nvSpPr>
        <p:spPr>
          <a:xfrm rot="0">
            <a:off x="756000" y="7162014"/>
            <a:ext cx="2010680" cy="154305"/>
          </a:xfrm>
          <a:prstGeom prst="rect">
            <a:avLst/>
          </a:prstGeom>
        </p:spPr>
        <p:txBody>
          <a:bodyPr anchor="t" rtlCol="false" tIns="0" lIns="0" bIns="0" rIns="0">
            <a:spAutoFit/>
          </a:bodyPr>
          <a:lstStyle/>
          <a:p>
            <a:pPr algn="ctr">
              <a:lnSpc>
                <a:spcPts val="1215"/>
              </a:lnSpc>
              <a:spcBef>
                <a:spcPct val="0"/>
              </a:spcBef>
            </a:pPr>
            <a:r>
              <a:rPr lang="en-US" b="true" sz="900" spc="213">
                <a:solidFill>
                  <a:srgbClr val="484540"/>
                </a:solidFill>
                <a:latin typeface="Now Medium"/>
                <a:ea typeface="Now Medium"/>
                <a:cs typeface="Now Medium"/>
                <a:sym typeface="Now Medium"/>
              </a:rPr>
              <a:t>www.superduperseite.de</a:t>
            </a:r>
          </a:p>
        </p:txBody>
      </p:sp>
      <p:sp>
        <p:nvSpPr>
          <p:cNvPr name="TextBox 14" id="14"/>
          <p:cNvSpPr txBox="true"/>
          <p:nvPr/>
        </p:nvSpPr>
        <p:spPr>
          <a:xfrm rot="0">
            <a:off x="7854154" y="7172199"/>
            <a:ext cx="2010680" cy="154305"/>
          </a:xfrm>
          <a:prstGeom prst="rect">
            <a:avLst/>
          </a:prstGeom>
        </p:spPr>
        <p:txBody>
          <a:bodyPr anchor="t" rtlCol="false" tIns="0" lIns="0" bIns="0" rIns="0">
            <a:spAutoFit/>
          </a:bodyPr>
          <a:lstStyle/>
          <a:p>
            <a:pPr algn="ctr">
              <a:lnSpc>
                <a:spcPts val="1215"/>
              </a:lnSpc>
              <a:spcBef>
                <a:spcPct val="0"/>
              </a:spcBef>
            </a:pPr>
            <a:r>
              <a:rPr lang="en-US" b="true" sz="900" spc="213">
                <a:solidFill>
                  <a:srgbClr val="484540"/>
                </a:solidFill>
                <a:latin typeface="Now Medium"/>
                <a:ea typeface="Now Medium"/>
                <a:cs typeface="Now Medium"/>
                <a:sym typeface="Now Medium"/>
              </a:rPr>
              <a:t>Atelier Jede Stadt</a:t>
            </a:r>
          </a:p>
        </p:txBody>
      </p:sp>
      <p:sp>
        <p:nvSpPr>
          <p:cNvPr name="TextBox 15" id="15"/>
          <p:cNvSpPr txBox="true"/>
          <p:nvPr/>
        </p:nvSpPr>
        <p:spPr>
          <a:xfrm rot="0">
            <a:off x="422502" y="1756363"/>
            <a:ext cx="2677677" cy="937260"/>
          </a:xfrm>
          <a:prstGeom prst="rect">
            <a:avLst/>
          </a:prstGeom>
        </p:spPr>
        <p:txBody>
          <a:bodyPr anchor="t" rtlCol="false" tIns="0" lIns="0" bIns="0" rIns="0">
            <a:spAutoFit/>
          </a:bodyPr>
          <a:lstStyle/>
          <a:p>
            <a:pPr algn="ctr" marL="0" indent="0" lvl="0">
              <a:lnSpc>
                <a:spcPts val="3779"/>
              </a:lnSpc>
              <a:spcBef>
                <a:spcPct val="0"/>
              </a:spcBef>
            </a:pPr>
            <a:r>
              <a:rPr lang="en-US" b="true" sz="2799" spc="979" strike="noStrike" u="none">
                <a:solidFill>
                  <a:srgbClr val="484540"/>
                </a:solidFill>
                <a:latin typeface="Now Medium"/>
                <a:ea typeface="Now Medium"/>
                <a:cs typeface="Now Medium"/>
                <a:sym typeface="Now Medium"/>
              </a:rPr>
              <a:t>HELENE PAQUET</a:t>
            </a:r>
          </a:p>
        </p:txBody>
      </p:sp>
      <p:sp>
        <p:nvSpPr>
          <p:cNvPr name="TextBox 16" id="16"/>
          <p:cNvSpPr txBox="true"/>
          <p:nvPr/>
        </p:nvSpPr>
        <p:spPr>
          <a:xfrm rot="0">
            <a:off x="564046" y="4668945"/>
            <a:ext cx="2404791" cy="230505"/>
          </a:xfrm>
          <a:prstGeom prst="rect">
            <a:avLst/>
          </a:prstGeom>
        </p:spPr>
        <p:txBody>
          <a:bodyPr anchor="t" rtlCol="false" tIns="0" lIns="0" bIns="0" rIns="0">
            <a:spAutoFit/>
          </a:bodyPr>
          <a:lstStyle/>
          <a:p>
            <a:pPr algn="ctr">
              <a:lnSpc>
                <a:spcPts val="1890"/>
              </a:lnSpc>
            </a:pPr>
            <a:r>
              <a:rPr lang="en-US" sz="1400" spc="331">
                <a:solidFill>
                  <a:srgbClr val="484540"/>
                </a:solidFill>
                <a:latin typeface="Now"/>
                <a:ea typeface="Now"/>
                <a:cs typeface="Now"/>
                <a:sym typeface="Now"/>
              </a:rPr>
              <a:t>freie künstlerin</a:t>
            </a:r>
          </a:p>
        </p:txBody>
      </p:sp>
      <p:grpSp>
        <p:nvGrpSpPr>
          <p:cNvPr name="Group 17" id="17"/>
          <p:cNvGrpSpPr/>
          <p:nvPr/>
        </p:nvGrpSpPr>
        <p:grpSpPr>
          <a:xfrm rot="0">
            <a:off x="3770730" y="3786783"/>
            <a:ext cx="3150540" cy="1977156"/>
            <a:chOff x="0" y="0"/>
            <a:chExt cx="4200720" cy="2636208"/>
          </a:xfrm>
        </p:grpSpPr>
        <p:sp>
          <p:nvSpPr>
            <p:cNvPr name="TextBox 18" id="18"/>
            <p:cNvSpPr txBox="true"/>
            <p:nvPr/>
          </p:nvSpPr>
          <p:spPr>
            <a:xfrm rot="0">
              <a:off x="0" y="1133682"/>
              <a:ext cx="4200720" cy="1502526"/>
            </a:xfrm>
            <a:prstGeom prst="rect">
              <a:avLst/>
            </a:prstGeom>
          </p:spPr>
          <p:txBody>
            <a:bodyPr anchor="t" rtlCol="false" tIns="0" lIns="0" bIns="0" rIns="0">
              <a:spAutoFit/>
            </a:bodyPr>
            <a:lstStyle/>
            <a:p>
              <a:pPr algn="l" marL="0" indent="0" lvl="0">
                <a:lnSpc>
                  <a:spcPts val="1119"/>
                </a:lnSpc>
                <a:spcBef>
                  <a:spcPct val="0"/>
                </a:spcBef>
              </a:pPr>
              <a:r>
                <a:rPr lang="en-US" sz="799" spc="39" strike="noStrike" u="none">
                  <a:solidFill>
                    <a:srgbClr val="484540"/>
                  </a:solidFill>
                  <a:latin typeface="Now Light"/>
                  <a:ea typeface="Now Light"/>
                  <a:cs typeface="Now Light"/>
                  <a:sym typeface="Now Light"/>
                </a:rPr>
                <a:t>Lorem ipsum dolor sit amet, consectetur adipiscing elit. Nullam vulputate erat nec ex volutpat, eu gravida odio sodales. Proin ornare ultrices quam, in feugiat enim sollicitudin bibendum. Donec commodo, turpis ac varius mollis, massa odio volutpat nisl, et tincidunt eros diam quis metus. Nunc dui turpis, laoreet id purus eu, facilisis suscipit turpis. Sed aliquam tellus a ante malesuada, sit amet imperdiet arcu venenatis.</a:t>
              </a:r>
            </a:p>
          </p:txBody>
        </p:sp>
        <p:sp>
          <p:nvSpPr>
            <p:cNvPr name="TextBox 19" id="19"/>
            <p:cNvSpPr txBox="true"/>
            <p:nvPr/>
          </p:nvSpPr>
          <p:spPr>
            <a:xfrm rot="0">
              <a:off x="0" y="-28575"/>
              <a:ext cx="4200720" cy="882991"/>
            </a:xfrm>
            <a:prstGeom prst="rect">
              <a:avLst/>
            </a:prstGeom>
          </p:spPr>
          <p:txBody>
            <a:bodyPr anchor="t" rtlCol="false" tIns="0" lIns="0" bIns="0" rIns="0">
              <a:spAutoFit/>
            </a:bodyPr>
            <a:lstStyle/>
            <a:p>
              <a:pPr algn="l">
                <a:lnSpc>
                  <a:spcPts val="2676"/>
                </a:lnSpc>
              </a:pPr>
              <a:r>
                <a:rPr lang="en-US" sz="1982" spc="469" b="true">
                  <a:solidFill>
                    <a:srgbClr val="484540"/>
                  </a:solidFill>
                  <a:latin typeface="Now Medium"/>
                  <a:ea typeface="Now Medium"/>
                  <a:cs typeface="Now Medium"/>
                  <a:sym typeface="Now Medium"/>
                </a:rPr>
                <a:t>Sturm in der Ferne</a:t>
              </a:r>
            </a:p>
          </p:txBody>
        </p:sp>
      </p:grpSp>
      <p:sp>
        <p:nvSpPr>
          <p:cNvPr name="TextBox 20" id="20"/>
          <p:cNvSpPr txBox="true"/>
          <p:nvPr/>
        </p:nvSpPr>
        <p:spPr>
          <a:xfrm rot="0">
            <a:off x="4340660" y="7162014"/>
            <a:ext cx="2010680" cy="154305"/>
          </a:xfrm>
          <a:prstGeom prst="rect">
            <a:avLst/>
          </a:prstGeom>
        </p:spPr>
        <p:txBody>
          <a:bodyPr anchor="t" rtlCol="false" tIns="0" lIns="0" bIns="0" rIns="0">
            <a:spAutoFit/>
          </a:bodyPr>
          <a:lstStyle/>
          <a:p>
            <a:pPr algn="ctr">
              <a:lnSpc>
                <a:spcPts val="1215"/>
              </a:lnSpc>
              <a:spcBef>
                <a:spcPct val="0"/>
              </a:spcBef>
            </a:pPr>
            <a:r>
              <a:rPr lang="en-US" b="true" sz="900" spc="213">
                <a:solidFill>
                  <a:srgbClr val="484540"/>
                </a:solidFill>
                <a:latin typeface="Now Medium"/>
                <a:ea typeface="Now Medium"/>
                <a:cs typeface="Now Medium"/>
                <a:sym typeface="Now Medium"/>
              </a:rPr>
              <a:t>+0221 1234-56</a:t>
            </a:r>
          </a:p>
        </p:txBody>
      </p:sp>
      <p:sp>
        <p:nvSpPr>
          <p:cNvPr name="TextBox 21" id="21"/>
          <p:cNvSpPr txBox="true"/>
          <p:nvPr/>
        </p:nvSpPr>
        <p:spPr>
          <a:xfrm rot="0">
            <a:off x="7247462" y="1039931"/>
            <a:ext cx="3224064" cy="196215"/>
          </a:xfrm>
          <a:prstGeom prst="rect">
            <a:avLst/>
          </a:prstGeom>
        </p:spPr>
        <p:txBody>
          <a:bodyPr anchor="t" rtlCol="false" tIns="0" lIns="0" bIns="0" rIns="0">
            <a:spAutoFit/>
          </a:bodyPr>
          <a:lstStyle/>
          <a:p>
            <a:pPr algn="ctr">
              <a:lnSpc>
                <a:spcPts val="1620"/>
              </a:lnSpc>
              <a:spcBef>
                <a:spcPct val="0"/>
              </a:spcBef>
            </a:pPr>
            <a:r>
              <a:rPr lang="en-US" b="true" sz="1200" spc="420">
                <a:solidFill>
                  <a:srgbClr val="484540"/>
                </a:solidFill>
                <a:latin typeface="Now Medium"/>
                <a:ea typeface="Now Medium"/>
                <a:cs typeface="Now Medium"/>
                <a:sym typeface="Now Medium"/>
              </a:rPr>
              <a:t>FOTO VON MANU + BALOU</a:t>
            </a:r>
          </a:p>
        </p:txBody>
      </p:sp>
    </p:spTree>
  </p:cSld>
  <p:clrMapOvr>
    <a:masterClrMapping/>
  </p:clrMapOvr>
</p:sld>
</file>

<file path=ppt/slides/slide14.xml><?xml version="1.0" encoding="utf-8"?>
<p:sld xmlns:p="http://schemas.openxmlformats.org/presentationml/2006/main" xmlns:a="http://schemas.openxmlformats.org/drawingml/2006/main" xmlns:r="http://schemas.openxmlformats.org/officeDocument/2006/relationships">
  <p:cSld>
    <p:bg>
      <p:bgPr>
        <a:solidFill>
          <a:srgbClr val="484540"/>
        </a:solidFill>
      </p:bgPr>
    </p:bg>
    <p:spTree>
      <p:nvGrpSpPr>
        <p:cNvPr id="1" name=""/>
        <p:cNvGrpSpPr/>
        <p:nvPr/>
      </p:nvGrpSpPr>
      <p:grpSpPr>
        <a:xfrm>
          <a:off x="0" y="0"/>
          <a:ext cx="0" cy="0"/>
          <a:chOff x="0" y="0"/>
          <a:chExt cx="0" cy="0"/>
        </a:xfrm>
      </p:grpSpPr>
      <p:sp>
        <p:nvSpPr>
          <p:cNvPr name="AutoShape 2" id="2"/>
          <p:cNvSpPr/>
          <p:nvPr/>
        </p:nvSpPr>
        <p:spPr>
          <a:xfrm flipH="true" flipV="true">
            <a:off x="5289984" y="-167106"/>
            <a:ext cx="557" cy="7906149"/>
          </a:xfrm>
          <a:prstGeom prst="line">
            <a:avLst/>
          </a:prstGeom>
          <a:ln cap="flat" w="38100">
            <a:solidFill>
              <a:srgbClr val="FFFFFF"/>
            </a:solidFill>
            <a:prstDash val="solid"/>
            <a:headEnd type="none" len="sm" w="sm"/>
            <a:tailEnd type="none" len="sm" w="sm"/>
          </a:ln>
        </p:spPr>
      </p:sp>
      <p:grpSp>
        <p:nvGrpSpPr>
          <p:cNvPr name="Group 3" id="3"/>
          <p:cNvGrpSpPr/>
          <p:nvPr/>
        </p:nvGrpSpPr>
        <p:grpSpPr>
          <a:xfrm rot="0">
            <a:off x="5183712" y="756000"/>
            <a:ext cx="212542" cy="212542"/>
            <a:chOff x="0" y="0"/>
            <a:chExt cx="812800" cy="812800"/>
          </a:xfrm>
        </p:grpSpPr>
        <p:sp>
          <p:nvSpPr>
            <p:cNvPr name="Freeform 4" id="4"/>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p:spPr>
        </p:sp>
        <p:sp>
          <p:nvSpPr>
            <p:cNvPr name="TextBox 5" id="5"/>
            <p:cNvSpPr txBox="true"/>
            <p:nvPr/>
          </p:nvSpPr>
          <p:spPr>
            <a:xfrm>
              <a:off x="76200" y="38100"/>
              <a:ext cx="660400" cy="698500"/>
            </a:xfrm>
            <a:prstGeom prst="rect">
              <a:avLst/>
            </a:prstGeom>
          </p:spPr>
          <p:txBody>
            <a:bodyPr anchor="ctr" rtlCol="false" tIns="37333" lIns="37333" bIns="37333" rIns="37333"/>
            <a:lstStyle/>
            <a:p>
              <a:pPr algn="ctr">
                <a:lnSpc>
                  <a:spcPts val="1954"/>
                </a:lnSpc>
              </a:pPr>
            </a:p>
          </p:txBody>
        </p:sp>
      </p:grpSp>
      <p:grpSp>
        <p:nvGrpSpPr>
          <p:cNvPr name="Group 6" id="6"/>
          <p:cNvGrpSpPr/>
          <p:nvPr/>
        </p:nvGrpSpPr>
        <p:grpSpPr>
          <a:xfrm rot="0">
            <a:off x="5184269" y="2244043"/>
            <a:ext cx="212542" cy="212542"/>
            <a:chOff x="0" y="0"/>
            <a:chExt cx="812800" cy="812800"/>
          </a:xfrm>
        </p:grpSpPr>
        <p:sp>
          <p:nvSpPr>
            <p:cNvPr name="Freeform 7" id="7"/>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p:spPr>
        </p:sp>
        <p:sp>
          <p:nvSpPr>
            <p:cNvPr name="TextBox 8" id="8"/>
            <p:cNvSpPr txBox="true"/>
            <p:nvPr/>
          </p:nvSpPr>
          <p:spPr>
            <a:xfrm>
              <a:off x="76200" y="38100"/>
              <a:ext cx="660400" cy="698500"/>
            </a:xfrm>
            <a:prstGeom prst="rect">
              <a:avLst/>
            </a:prstGeom>
          </p:spPr>
          <p:txBody>
            <a:bodyPr anchor="ctr" rtlCol="false" tIns="37333" lIns="37333" bIns="37333" rIns="37333"/>
            <a:lstStyle/>
            <a:p>
              <a:pPr algn="ctr">
                <a:lnSpc>
                  <a:spcPts val="1954"/>
                </a:lnSpc>
              </a:pPr>
            </a:p>
          </p:txBody>
        </p:sp>
      </p:grpSp>
      <p:grpSp>
        <p:nvGrpSpPr>
          <p:cNvPr name="Group 9" id="9"/>
          <p:cNvGrpSpPr/>
          <p:nvPr/>
        </p:nvGrpSpPr>
        <p:grpSpPr>
          <a:xfrm rot="0">
            <a:off x="5183712" y="3045444"/>
            <a:ext cx="212542" cy="212542"/>
            <a:chOff x="0" y="0"/>
            <a:chExt cx="812800" cy="812800"/>
          </a:xfrm>
        </p:grpSpPr>
        <p:sp>
          <p:nvSpPr>
            <p:cNvPr name="Freeform 10" id="10"/>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p:spPr>
        </p:sp>
        <p:sp>
          <p:nvSpPr>
            <p:cNvPr name="TextBox 11" id="11"/>
            <p:cNvSpPr txBox="true"/>
            <p:nvPr/>
          </p:nvSpPr>
          <p:spPr>
            <a:xfrm>
              <a:off x="76200" y="38100"/>
              <a:ext cx="660400" cy="698500"/>
            </a:xfrm>
            <a:prstGeom prst="rect">
              <a:avLst/>
            </a:prstGeom>
          </p:spPr>
          <p:txBody>
            <a:bodyPr anchor="ctr" rtlCol="false" tIns="37333" lIns="37333" bIns="37333" rIns="37333"/>
            <a:lstStyle/>
            <a:p>
              <a:pPr algn="ctr">
                <a:lnSpc>
                  <a:spcPts val="1954"/>
                </a:lnSpc>
              </a:pPr>
            </a:p>
          </p:txBody>
        </p:sp>
      </p:grpSp>
      <p:grpSp>
        <p:nvGrpSpPr>
          <p:cNvPr name="Group 12" id="12"/>
          <p:cNvGrpSpPr/>
          <p:nvPr/>
        </p:nvGrpSpPr>
        <p:grpSpPr>
          <a:xfrm rot="0">
            <a:off x="5184269" y="4899450"/>
            <a:ext cx="212542" cy="212542"/>
            <a:chOff x="0" y="0"/>
            <a:chExt cx="812800" cy="812800"/>
          </a:xfrm>
        </p:grpSpPr>
        <p:sp>
          <p:nvSpPr>
            <p:cNvPr name="Freeform 13" id="1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p:spPr>
        </p:sp>
        <p:sp>
          <p:nvSpPr>
            <p:cNvPr name="TextBox 14" id="14"/>
            <p:cNvSpPr txBox="true"/>
            <p:nvPr/>
          </p:nvSpPr>
          <p:spPr>
            <a:xfrm>
              <a:off x="76200" y="38100"/>
              <a:ext cx="660400" cy="698500"/>
            </a:xfrm>
            <a:prstGeom prst="rect">
              <a:avLst/>
            </a:prstGeom>
          </p:spPr>
          <p:txBody>
            <a:bodyPr anchor="ctr" rtlCol="false" tIns="37333" lIns="37333" bIns="37333" rIns="37333"/>
            <a:lstStyle/>
            <a:p>
              <a:pPr algn="ctr">
                <a:lnSpc>
                  <a:spcPts val="1954"/>
                </a:lnSpc>
              </a:pPr>
            </a:p>
          </p:txBody>
        </p:sp>
      </p:grpSp>
      <p:sp>
        <p:nvSpPr>
          <p:cNvPr name="Freeform 15" id="15"/>
          <p:cNvSpPr/>
          <p:nvPr/>
        </p:nvSpPr>
        <p:spPr>
          <a:xfrm flipH="false" flipV="true" rot="4816551">
            <a:off x="-841597" y="3132762"/>
            <a:ext cx="4318869" cy="4048940"/>
          </a:xfrm>
          <a:custGeom>
            <a:avLst/>
            <a:gdLst/>
            <a:ahLst/>
            <a:cxnLst/>
            <a:rect r="r" b="b" t="t" l="l"/>
            <a:pathLst>
              <a:path h="4048940" w="4318869">
                <a:moveTo>
                  <a:pt x="0" y="4048939"/>
                </a:moveTo>
                <a:lnTo>
                  <a:pt x="4318869" y="4048939"/>
                </a:lnTo>
                <a:lnTo>
                  <a:pt x="4318869" y="0"/>
                </a:lnTo>
                <a:lnTo>
                  <a:pt x="0" y="0"/>
                </a:lnTo>
                <a:lnTo>
                  <a:pt x="0" y="4048939"/>
                </a:lnTo>
                <a:close/>
              </a:path>
            </a:pathLst>
          </a:custGeom>
          <a:blipFill>
            <a:blip r:embed="rId2"/>
            <a:stretch>
              <a:fillRect l="0" t="0" r="0" b="0"/>
            </a:stretch>
          </a:blipFill>
        </p:spPr>
      </p:sp>
      <p:sp>
        <p:nvSpPr>
          <p:cNvPr name="Freeform 16" id="16"/>
          <p:cNvSpPr/>
          <p:nvPr/>
        </p:nvSpPr>
        <p:spPr>
          <a:xfrm flipH="true" flipV="false" rot="0">
            <a:off x="-569107" y="3505636"/>
            <a:ext cx="5840041" cy="4223727"/>
          </a:xfrm>
          <a:custGeom>
            <a:avLst/>
            <a:gdLst/>
            <a:ahLst/>
            <a:cxnLst/>
            <a:rect r="r" b="b" t="t" l="l"/>
            <a:pathLst>
              <a:path h="4223727" w="5840041">
                <a:moveTo>
                  <a:pt x="5840041" y="0"/>
                </a:moveTo>
                <a:lnTo>
                  <a:pt x="0" y="0"/>
                </a:lnTo>
                <a:lnTo>
                  <a:pt x="0" y="4223727"/>
                </a:lnTo>
                <a:lnTo>
                  <a:pt x="5840041" y="4223727"/>
                </a:lnTo>
                <a:lnTo>
                  <a:pt x="5840041" y="0"/>
                </a:lnTo>
                <a:close/>
              </a:path>
            </a:pathLst>
          </a:custGeom>
          <a:blipFill>
            <a:blip r:embed="rId3"/>
            <a:stretch>
              <a:fillRect l="0" t="-877" r="0" b="-7144"/>
            </a:stretch>
          </a:blipFill>
        </p:spPr>
      </p:sp>
      <p:grpSp>
        <p:nvGrpSpPr>
          <p:cNvPr name="Group 17" id="17"/>
          <p:cNvGrpSpPr/>
          <p:nvPr/>
        </p:nvGrpSpPr>
        <p:grpSpPr>
          <a:xfrm rot="0">
            <a:off x="5701611" y="2244043"/>
            <a:ext cx="1089184" cy="2283856"/>
            <a:chOff x="0" y="0"/>
            <a:chExt cx="1452245" cy="3045141"/>
          </a:xfrm>
        </p:grpSpPr>
        <p:sp>
          <p:nvSpPr>
            <p:cNvPr name="TextBox 18" id="18"/>
            <p:cNvSpPr txBox="true"/>
            <p:nvPr/>
          </p:nvSpPr>
          <p:spPr>
            <a:xfrm rot="0">
              <a:off x="0" y="1427583"/>
              <a:ext cx="1452245" cy="1617558"/>
            </a:xfrm>
            <a:prstGeom prst="rect">
              <a:avLst/>
            </a:prstGeom>
          </p:spPr>
          <p:txBody>
            <a:bodyPr anchor="t" rtlCol="false" tIns="0" lIns="0" bIns="0" rIns="0">
              <a:spAutoFit/>
            </a:bodyPr>
            <a:lstStyle/>
            <a:p>
              <a:pPr algn="l">
                <a:lnSpc>
                  <a:spcPts val="1120"/>
                </a:lnSpc>
              </a:pPr>
              <a:r>
                <a:rPr lang="en-US" sz="800" spc="40">
                  <a:solidFill>
                    <a:srgbClr val="FFFFFF"/>
                  </a:solidFill>
                  <a:latin typeface="Now Light"/>
                  <a:ea typeface="Now Light"/>
                  <a:cs typeface="Now Light"/>
                  <a:sym typeface="Now Light"/>
                </a:rPr>
                <a:t>Lorem ipsum dolor sit amet, consectetur adipiscing elit. Donec lacinia lorem sapien, id pharetra neque lacinia eget. In hac habitasse.</a:t>
              </a:r>
            </a:p>
          </p:txBody>
        </p:sp>
        <p:sp>
          <p:nvSpPr>
            <p:cNvPr name="TextBox 19" id="19"/>
            <p:cNvSpPr txBox="true"/>
            <p:nvPr/>
          </p:nvSpPr>
          <p:spPr>
            <a:xfrm rot="0">
              <a:off x="0" y="256396"/>
              <a:ext cx="1452245" cy="935990"/>
            </a:xfrm>
            <a:prstGeom prst="rect">
              <a:avLst/>
            </a:prstGeom>
          </p:spPr>
          <p:txBody>
            <a:bodyPr anchor="t" rtlCol="false" tIns="0" lIns="0" bIns="0" rIns="0">
              <a:spAutoFit/>
            </a:bodyPr>
            <a:lstStyle/>
            <a:p>
              <a:pPr algn="l" marL="0" indent="0" lvl="0">
                <a:lnSpc>
                  <a:spcPts val="1889"/>
                </a:lnSpc>
                <a:spcBef>
                  <a:spcPct val="0"/>
                </a:spcBef>
              </a:pPr>
              <a:r>
                <a:rPr lang="en-US" b="true" sz="1399" spc="331">
                  <a:solidFill>
                    <a:srgbClr val="FFFFFF"/>
                  </a:solidFill>
                  <a:latin typeface="Now Medium"/>
                  <a:ea typeface="Now Medium"/>
                  <a:cs typeface="Now Medium"/>
                  <a:sym typeface="Now Medium"/>
                </a:rPr>
                <a:t>Leben in </a:t>
              </a:r>
              <a:r>
                <a:rPr lang="en-US" b="true" sz="1399" spc="331" strike="noStrike" u="none">
                  <a:solidFill>
                    <a:srgbClr val="FFFFFF"/>
                  </a:solidFill>
                  <a:latin typeface="Now Medium"/>
                  <a:ea typeface="Now Medium"/>
                  <a:cs typeface="Now Medium"/>
                  <a:sym typeface="Now Medium"/>
                </a:rPr>
                <a:t>der Natur</a:t>
              </a:r>
            </a:p>
          </p:txBody>
        </p:sp>
        <p:sp>
          <p:nvSpPr>
            <p:cNvPr name="TextBox 20" id="20"/>
            <p:cNvSpPr txBox="true"/>
            <p:nvPr/>
          </p:nvSpPr>
          <p:spPr>
            <a:xfrm rot="0">
              <a:off x="0" y="-28575"/>
              <a:ext cx="1452245" cy="217665"/>
            </a:xfrm>
            <a:prstGeom prst="rect">
              <a:avLst/>
            </a:prstGeom>
          </p:spPr>
          <p:txBody>
            <a:bodyPr anchor="t" rtlCol="false" tIns="0" lIns="0" bIns="0" rIns="0">
              <a:spAutoFit/>
            </a:bodyPr>
            <a:lstStyle/>
            <a:p>
              <a:pPr algn="l">
                <a:lnSpc>
                  <a:spcPts val="1330"/>
                </a:lnSpc>
              </a:pPr>
              <a:r>
                <a:rPr lang="en-US" sz="950" spc="47">
                  <a:solidFill>
                    <a:srgbClr val="FFFFFF"/>
                  </a:solidFill>
                  <a:latin typeface="Now Light"/>
                  <a:ea typeface="Now Light"/>
                  <a:cs typeface="Now Light"/>
                  <a:sym typeface="Now Light"/>
                </a:rPr>
                <a:t>14. Juni</a:t>
              </a:r>
            </a:p>
          </p:txBody>
        </p:sp>
      </p:grpSp>
      <p:grpSp>
        <p:nvGrpSpPr>
          <p:cNvPr name="Group 21" id="21"/>
          <p:cNvGrpSpPr/>
          <p:nvPr/>
        </p:nvGrpSpPr>
        <p:grpSpPr>
          <a:xfrm rot="0">
            <a:off x="5701611" y="4899450"/>
            <a:ext cx="1089184" cy="2286111"/>
            <a:chOff x="0" y="0"/>
            <a:chExt cx="1452245" cy="3048148"/>
          </a:xfrm>
        </p:grpSpPr>
        <p:sp>
          <p:nvSpPr>
            <p:cNvPr name="TextBox 22" id="22"/>
            <p:cNvSpPr txBox="true"/>
            <p:nvPr/>
          </p:nvSpPr>
          <p:spPr>
            <a:xfrm rot="0">
              <a:off x="0" y="1430590"/>
              <a:ext cx="1452245" cy="1617558"/>
            </a:xfrm>
            <a:prstGeom prst="rect">
              <a:avLst/>
            </a:prstGeom>
          </p:spPr>
          <p:txBody>
            <a:bodyPr anchor="t" rtlCol="false" tIns="0" lIns="0" bIns="0" rIns="0">
              <a:spAutoFit/>
            </a:bodyPr>
            <a:lstStyle/>
            <a:p>
              <a:pPr algn="l">
                <a:lnSpc>
                  <a:spcPts val="1120"/>
                </a:lnSpc>
              </a:pPr>
              <a:r>
                <a:rPr lang="en-US" sz="800" spc="40">
                  <a:solidFill>
                    <a:srgbClr val="FFFFFF"/>
                  </a:solidFill>
                  <a:latin typeface="Now Light"/>
                  <a:ea typeface="Now Light"/>
                  <a:cs typeface="Now Light"/>
                  <a:sym typeface="Now Light"/>
                </a:rPr>
                <a:t>Lorem ipsum dolor sit amet, consectetur adipiscing elit. Donec lacinia lorem sapien, id pharetra neque lacinia eget. In hac habitasse.</a:t>
              </a:r>
            </a:p>
          </p:txBody>
        </p:sp>
        <p:sp>
          <p:nvSpPr>
            <p:cNvPr name="TextBox 23" id="23"/>
            <p:cNvSpPr txBox="true"/>
            <p:nvPr/>
          </p:nvSpPr>
          <p:spPr>
            <a:xfrm rot="0">
              <a:off x="0" y="256396"/>
              <a:ext cx="1452245" cy="938997"/>
            </a:xfrm>
            <a:prstGeom prst="rect">
              <a:avLst/>
            </a:prstGeom>
          </p:spPr>
          <p:txBody>
            <a:bodyPr anchor="t" rtlCol="false" tIns="0" lIns="0" bIns="0" rIns="0">
              <a:spAutoFit/>
            </a:bodyPr>
            <a:lstStyle/>
            <a:p>
              <a:pPr algn="l" marL="0" indent="0" lvl="0">
                <a:lnSpc>
                  <a:spcPts val="1889"/>
                </a:lnSpc>
                <a:spcBef>
                  <a:spcPct val="0"/>
                </a:spcBef>
              </a:pPr>
              <a:r>
                <a:rPr lang="en-US" b="true" sz="1399" spc="331">
                  <a:solidFill>
                    <a:srgbClr val="FFFFFF"/>
                  </a:solidFill>
                  <a:latin typeface="Now Medium"/>
                  <a:ea typeface="Now Medium"/>
                  <a:cs typeface="Now Medium"/>
                  <a:sym typeface="Now Medium"/>
                </a:rPr>
                <a:t>Zeiten im Wandel</a:t>
              </a:r>
            </a:p>
          </p:txBody>
        </p:sp>
        <p:sp>
          <p:nvSpPr>
            <p:cNvPr name="TextBox 24" id="24"/>
            <p:cNvSpPr txBox="true"/>
            <p:nvPr/>
          </p:nvSpPr>
          <p:spPr>
            <a:xfrm rot="0">
              <a:off x="0" y="-28575"/>
              <a:ext cx="1452245" cy="217665"/>
            </a:xfrm>
            <a:prstGeom prst="rect">
              <a:avLst/>
            </a:prstGeom>
          </p:spPr>
          <p:txBody>
            <a:bodyPr anchor="t" rtlCol="false" tIns="0" lIns="0" bIns="0" rIns="0">
              <a:spAutoFit/>
            </a:bodyPr>
            <a:lstStyle/>
            <a:p>
              <a:pPr algn="l">
                <a:lnSpc>
                  <a:spcPts val="1330"/>
                </a:lnSpc>
              </a:pPr>
              <a:r>
                <a:rPr lang="en-US" sz="950" spc="47">
                  <a:solidFill>
                    <a:srgbClr val="FFFFFF"/>
                  </a:solidFill>
                  <a:latin typeface="Now Light"/>
                  <a:ea typeface="Now Light"/>
                  <a:cs typeface="Now Light"/>
                  <a:sym typeface="Now Light"/>
                </a:rPr>
                <a:t>27. September</a:t>
              </a:r>
            </a:p>
          </p:txBody>
        </p:sp>
      </p:grpSp>
      <p:grpSp>
        <p:nvGrpSpPr>
          <p:cNvPr name="Group 25" id="25"/>
          <p:cNvGrpSpPr/>
          <p:nvPr/>
        </p:nvGrpSpPr>
        <p:grpSpPr>
          <a:xfrm rot="0">
            <a:off x="3798435" y="787236"/>
            <a:ext cx="1163587" cy="2012922"/>
            <a:chOff x="0" y="0"/>
            <a:chExt cx="1551449" cy="2683896"/>
          </a:xfrm>
        </p:grpSpPr>
        <p:sp>
          <p:nvSpPr>
            <p:cNvPr name="TextBox 26" id="26"/>
            <p:cNvSpPr txBox="true"/>
            <p:nvPr/>
          </p:nvSpPr>
          <p:spPr>
            <a:xfrm rot="0">
              <a:off x="0" y="1427583"/>
              <a:ext cx="1551449" cy="1256313"/>
            </a:xfrm>
            <a:prstGeom prst="rect">
              <a:avLst/>
            </a:prstGeom>
          </p:spPr>
          <p:txBody>
            <a:bodyPr anchor="t" rtlCol="false" tIns="0" lIns="0" bIns="0" rIns="0">
              <a:spAutoFit/>
            </a:bodyPr>
            <a:lstStyle/>
            <a:p>
              <a:pPr algn="r">
                <a:lnSpc>
                  <a:spcPts val="1120"/>
                </a:lnSpc>
              </a:pPr>
              <a:r>
                <a:rPr lang="en-US" sz="800" spc="40">
                  <a:solidFill>
                    <a:srgbClr val="FFFFFF"/>
                  </a:solidFill>
                  <a:latin typeface="Now Light"/>
                  <a:ea typeface="Now Light"/>
                  <a:cs typeface="Now Light"/>
                  <a:sym typeface="Now Light"/>
                </a:rPr>
                <a:t>Lorem ipsum dolor sit amet, consectetur adipiscing elit. Donec lacinia lorem sapien, id pharetra neque lacinia eget. In hac habitasse.</a:t>
              </a:r>
            </a:p>
          </p:txBody>
        </p:sp>
        <p:sp>
          <p:nvSpPr>
            <p:cNvPr name="TextBox 27" id="27"/>
            <p:cNvSpPr txBox="true"/>
            <p:nvPr/>
          </p:nvSpPr>
          <p:spPr>
            <a:xfrm rot="0">
              <a:off x="0" y="256396"/>
              <a:ext cx="1551449" cy="935990"/>
            </a:xfrm>
            <a:prstGeom prst="rect">
              <a:avLst/>
            </a:prstGeom>
          </p:spPr>
          <p:txBody>
            <a:bodyPr anchor="t" rtlCol="false" tIns="0" lIns="0" bIns="0" rIns="0">
              <a:spAutoFit/>
            </a:bodyPr>
            <a:lstStyle/>
            <a:p>
              <a:pPr algn="r">
                <a:lnSpc>
                  <a:spcPts val="1889"/>
                </a:lnSpc>
              </a:pPr>
              <a:r>
                <a:rPr lang="en-US" b="true" sz="1399" spc="331">
                  <a:solidFill>
                    <a:srgbClr val="FFFFFF"/>
                  </a:solidFill>
                  <a:latin typeface="Now Medium"/>
                  <a:ea typeface="Now Medium"/>
                  <a:cs typeface="Now Medium"/>
                  <a:sym typeface="Now Medium"/>
                </a:rPr>
                <a:t>Einfach</a:t>
              </a:r>
            </a:p>
            <a:p>
              <a:pPr algn="r">
                <a:lnSpc>
                  <a:spcPts val="1889"/>
                </a:lnSpc>
              </a:pPr>
              <a:r>
                <a:rPr lang="en-US" b="true" sz="1399" spc="331">
                  <a:solidFill>
                    <a:srgbClr val="FFFFFF"/>
                  </a:solidFill>
                  <a:latin typeface="Now Medium"/>
                  <a:ea typeface="Now Medium"/>
                  <a:cs typeface="Now Medium"/>
                  <a:sym typeface="Now Medium"/>
                </a:rPr>
                <a:t>schön</a:t>
              </a:r>
            </a:p>
            <a:p>
              <a:pPr algn="r">
                <a:lnSpc>
                  <a:spcPts val="1889"/>
                </a:lnSpc>
              </a:pPr>
              <a:r>
                <a:rPr lang="en-US" b="true" sz="1399" spc="331">
                  <a:solidFill>
                    <a:srgbClr val="FFFFFF"/>
                  </a:solidFill>
                  <a:latin typeface="Now Medium"/>
                  <a:ea typeface="Now Medium"/>
                  <a:cs typeface="Now Medium"/>
                  <a:sym typeface="Now Medium"/>
                </a:rPr>
                <a:t>verrückt</a:t>
              </a:r>
            </a:p>
          </p:txBody>
        </p:sp>
        <p:sp>
          <p:nvSpPr>
            <p:cNvPr name="TextBox 28" id="28"/>
            <p:cNvSpPr txBox="true"/>
            <p:nvPr/>
          </p:nvSpPr>
          <p:spPr>
            <a:xfrm rot="0">
              <a:off x="0" y="-28575"/>
              <a:ext cx="1551449" cy="217665"/>
            </a:xfrm>
            <a:prstGeom prst="rect">
              <a:avLst/>
            </a:prstGeom>
          </p:spPr>
          <p:txBody>
            <a:bodyPr anchor="t" rtlCol="false" tIns="0" lIns="0" bIns="0" rIns="0">
              <a:spAutoFit/>
            </a:bodyPr>
            <a:lstStyle/>
            <a:p>
              <a:pPr algn="r">
                <a:lnSpc>
                  <a:spcPts val="1330"/>
                </a:lnSpc>
              </a:pPr>
              <a:r>
                <a:rPr lang="en-US" sz="950" spc="47">
                  <a:solidFill>
                    <a:srgbClr val="FFFFFF"/>
                  </a:solidFill>
                  <a:latin typeface="Now Light"/>
                  <a:ea typeface="Now Light"/>
                  <a:cs typeface="Now Light"/>
                  <a:sym typeface="Now Light"/>
                </a:rPr>
                <a:t>21. Januar </a:t>
              </a:r>
            </a:p>
          </p:txBody>
        </p:sp>
      </p:grpSp>
      <p:grpSp>
        <p:nvGrpSpPr>
          <p:cNvPr name="Group 29" id="29"/>
          <p:cNvGrpSpPr/>
          <p:nvPr/>
        </p:nvGrpSpPr>
        <p:grpSpPr>
          <a:xfrm rot="0">
            <a:off x="3798435" y="3079325"/>
            <a:ext cx="1163587" cy="2012922"/>
            <a:chOff x="0" y="0"/>
            <a:chExt cx="1551449" cy="2683896"/>
          </a:xfrm>
        </p:grpSpPr>
        <p:sp>
          <p:nvSpPr>
            <p:cNvPr name="TextBox 30" id="30"/>
            <p:cNvSpPr txBox="true"/>
            <p:nvPr/>
          </p:nvSpPr>
          <p:spPr>
            <a:xfrm rot="0">
              <a:off x="0" y="1427583"/>
              <a:ext cx="1551449" cy="1256313"/>
            </a:xfrm>
            <a:prstGeom prst="rect">
              <a:avLst/>
            </a:prstGeom>
          </p:spPr>
          <p:txBody>
            <a:bodyPr anchor="t" rtlCol="false" tIns="0" lIns="0" bIns="0" rIns="0">
              <a:spAutoFit/>
            </a:bodyPr>
            <a:lstStyle/>
            <a:p>
              <a:pPr algn="r">
                <a:lnSpc>
                  <a:spcPts val="1120"/>
                </a:lnSpc>
              </a:pPr>
              <a:r>
                <a:rPr lang="en-US" sz="800" spc="40">
                  <a:solidFill>
                    <a:srgbClr val="FFFFFF"/>
                  </a:solidFill>
                  <a:latin typeface="Now Light"/>
                  <a:ea typeface="Now Light"/>
                  <a:cs typeface="Now Light"/>
                  <a:sym typeface="Now Light"/>
                </a:rPr>
                <a:t>Lorem ipsum dolor sit amet, consectetur adipiscing elit. Donec lacinia lorem sapien, id pharetra neque lacinia eget. In hac habitasse.</a:t>
              </a:r>
            </a:p>
          </p:txBody>
        </p:sp>
        <p:sp>
          <p:nvSpPr>
            <p:cNvPr name="TextBox 31" id="31"/>
            <p:cNvSpPr txBox="true"/>
            <p:nvPr/>
          </p:nvSpPr>
          <p:spPr>
            <a:xfrm rot="0">
              <a:off x="0" y="256396"/>
              <a:ext cx="1551449" cy="935990"/>
            </a:xfrm>
            <a:prstGeom prst="rect">
              <a:avLst/>
            </a:prstGeom>
          </p:spPr>
          <p:txBody>
            <a:bodyPr anchor="t" rtlCol="false" tIns="0" lIns="0" bIns="0" rIns="0">
              <a:spAutoFit/>
            </a:bodyPr>
            <a:lstStyle/>
            <a:p>
              <a:pPr algn="r" marL="0" indent="0" lvl="0">
                <a:lnSpc>
                  <a:spcPts val="1889"/>
                </a:lnSpc>
                <a:spcBef>
                  <a:spcPct val="0"/>
                </a:spcBef>
              </a:pPr>
              <a:r>
                <a:rPr lang="en-US" b="true" sz="1399" spc="331">
                  <a:solidFill>
                    <a:srgbClr val="FFFFFF"/>
                  </a:solidFill>
                  <a:latin typeface="Now Medium"/>
                  <a:ea typeface="Now Medium"/>
                  <a:cs typeface="Now Medium"/>
                  <a:sym typeface="Now Medium"/>
                </a:rPr>
                <a:t>Meer in der Ferne</a:t>
              </a:r>
            </a:p>
          </p:txBody>
        </p:sp>
        <p:sp>
          <p:nvSpPr>
            <p:cNvPr name="TextBox 32" id="32"/>
            <p:cNvSpPr txBox="true"/>
            <p:nvPr/>
          </p:nvSpPr>
          <p:spPr>
            <a:xfrm rot="0">
              <a:off x="0" y="-28575"/>
              <a:ext cx="1551449" cy="217665"/>
            </a:xfrm>
            <a:prstGeom prst="rect">
              <a:avLst/>
            </a:prstGeom>
          </p:spPr>
          <p:txBody>
            <a:bodyPr anchor="t" rtlCol="false" tIns="0" lIns="0" bIns="0" rIns="0">
              <a:spAutoFit/>
            </a:bodyPr>
            <a:lstStyle/>
            <a:p>
              <a:pPr algn="r">
                <a:lnSpc>
                  <a:spcPts val="1330"/>
                </a:lnSpc>
              </a:pPr>
              <a:r>
                <a:rPr lang="en-US" sz="950" spc="47">
                  <a:solidFill>
                    <a:srgbClr val="FFFFFF"/>
                  </a:solidFill>
                  <a:latin typeface="Now Light"/>
                  <a:ea typeface="Now Light"/>
                  <a:cs typeface="Now Light"/>
                  <a:sym typeface="Now Light"/>
                </a:rPr>
                <a:t>16. August</a:t>
              </a:r>
            </a:p>
          </p:txBody>
        </p:sp>
      </p:grpSp>
      <p:grpSp>
        <p:nvGrpSpPr>
          <p:cNvPr name="Group 33" id="33"/>
          <p:cNvGrpSpPr/>
          <p:nvPr/>
        </p:nvGrpSpPr>
        <p:grpSpPr>
          <a:xfrm rot="0">
            <a:off x="7757407" y="333090"/>
            <a:ext cx="2549442" cy="3778691"/>
            <a:chOff x="0" y="0"/>
            <a:chExt cx="3399256" cy="5038254"/>
          </a:xfrm>
        </p:grpSpPr>
        <p:sp>
          <p:nvSpPr>
            <p:cNvPr name="TextBox 34" id="34"/>
            <p:cNvSpPr txBox="true"/>
            <p:nvPr/>
          </p:nvSpPr>
          <p:spPr>
            <a:xfrm rot="0">
              <a:off x="0" y="-38100"/>
              <a:ext cx="3399256" cy="1243330"/>
            </a:xfrm>
            <a:prstGeom prst="rect">
              <a:avLst/>
            </a:prstGeom>
          </p:spPr>
          <p:txBody>
            <a:bodyPr anchor="t" rtlCol="false" tIns="0" lIns="0" bIns="0" rIns="0">
              <a:spAutoFit/>
            </a:bodyPr>
            <a:lstStyle/>
            <a:p>
              <a:pPr algn="r">
                <a:lnSpc>
                  <a:spcPts val="3779"/>
                </a:lnSpc>
              </a:pPr>
              <a:r>
                <a:rPr lang="en-US" b="true" sz="2799" spc="979">
                  <a:solidFill>
                    <a:srgbClr val="FFFFFF"/>
                  </a:solidFill>
                  <a:latin typeface="Now Medium"/>
                  <a:ea typeface="Now Medium"/>
                  <a:cs typeface="Now Medium"/>
                  <a:sym typeface="Now Medium"/>
                </a:rPr>
                <a:t>MEINE</a:t>
              </a:r>
            </a:p>
            <a:p>
              <a:pPr algn="r">
                <a:lnSpc>
                  <a:spcPts val="3779"/>
                </a:lnSpc>
              </a:pPr>
              <a:r>
                <a:rPr lang="en-US" b="true" sz="2799" spc="979">
                  <a:solidFill>
                    <a:srgbClr val="FFFFFF"/>
                  </a:solidFill>
                  <a:latin typeface="Now Medium"/>
                  <a:ea typeface="Now Medium"/>
                  <a:cs typeface="Now Medium"/>
                  <a:sym typeface="Now Medium"/>
                </a:rPr>
                <a:t>ARBEIT</a:t>
              </a:r>
            </a:p>
          </p:txBody>
        </p:sp>
        <p:sp>
          <p:nvSpPr>
            <p:cNvPr name="TextBox 35" id="35"/>
            <p:cNvSpPr txBox="true"/>
            <p:nvPr/>
          </p:nvSpPr>
          <p:spPr>
            <a:xfrm rot="0">
              <a:off x="0" y="1614465"/>
              <a:ext cx="3399256" cy="3423790"/>
            </a:xfrm>
            <a:prstGeom prst="rect">
              <a:avLst/>
            </a:prstGeom>
          </p:spPr>
          <p:txBody>
            <a:bodyPr anchor="t" rtlCol="false" tIns="0" lIns="0" bIns="0" rIns="0">
              <a:spAutoFit/>
            </a:bodyPr>
            <a:lstStyle/>
            <a:p>
              <a:pPr algn="r">
                <a:lnSpc>
                  <a:spcPts val="1120"/>
                </a:lnSpc>
              </a:pPr>
              <a:r>
                <a:rPr lang="en-US" sz="800" spc="40">
                  <a:solidFill>
                    <a:srgbClr val="FFFFFF"/>
                  </a:solidFill>
                  <a:latin typeface="Now Light"/>
                  <a:ea typeface="Now Light"/>
                  <a:cs typeface="Now Light"/>
                  <a:sym typeface="Now Light"/>
                </a:rPr>
                <a:t>Lorem ipsum dolor sit amet, consectetur adipiscing elit. Nullam vulputate erat nec ex volutpat, eu gravida odio sodales. Proin ornare ultrices quam, in feugiat enim sollicitudin bibendum. Donec commodo, turpis ac varius mollis, massa odio volutpat nisl, et tincidunt eros diam quis metus. Nunc dui turpis, laoreet id purus eu, facilisis suscipit turpis. Sed aliquam tellus a ante malesuada, sit amet imperdiet arcu venenatis.</a:t>
              </a:r>
            </a:p>
            <a:p>
              <a:pPr algn="r">
                <a:lnSpc>
                  <a:spcPts val="1120"/>
                </a:lnSpc>
              </a:pPr>
            </a:p>
            <a:p>
              <a:pPr algn="r">
                <a:lnSpc>
                  <a:spcPts val="1120"/>
                </a:lnSpc>
              </a:pPr>
              <a:r>
                <a:rPr lang="en-US" sz="800" spc="40">
                  <a:solidFill>
                    <a:srgbClr val="FFFFFF"/>
                  </a:solidFill>
                  <a:latin typeface="Now Light"/>
                  <a:ea typeface="Now Light"/>
                  <a:cs typeface="Now Light"/>
                  <a:sym typeface="Now Light"/>
                </a:rPr>
                <a:t>Donec dignissim fermentum turpis, vitae sollicitudin risus vulputate ut. Praesent condimentum sodales dictum. Nulla facilisi. Etiam feugiat sapien in finibus varius. Cras eget nibh sit amet elit maximus porttitor vel eu ipsum. Integer efficitur eget neque eu tempus. Sed at lacinia erat. Nunc consequat turpis at ex dignissim, et venenatis lacus ullamcorper.</a:t>
              </a:r>
            </a:p>
          </p:txBody>
        </p:sp>
      </p:grpSp>
      <p:sp>
        <p:nvSpPr>
          <p:cNvPr name="TextBox 36" id="36"/>
          <p:cNvSpPr txBox="true"/>
          <p:nvPr/>
        </p:nvSpPr>
        <p:spPr>
          <a:xfrm rot="5400000">
            <a:off x="-779141" y="1248169"/>
            <a:ext cx="2070093" cy="134198"/>
          </a:xfrm>
          <a:prstGeom prst="rect">
            <a:avLst/>
          </a:prstGeom>
        </p:spPr>
        <p:txBody>
          <a:bodyPr anchor="t" rtlCol="false" tIns="0" lIns="0" bIns="0" rIns="0">
            <a:spAutoFit/>
          </a:bodyPr>
          <a:lstStyle/>
          <a:p>
            <a:pPr algn="just">
              <a:lnSpc>
                <a:spcPts val="1120"/>
              </a:lnSpc>
            </a:pPr>
            <a:r>
              <a:rPr lang="en-US" sz="800" spc="40">
                <a:solidFill>
                  <a:srgbClr val="FFFFFF"/>
                </a:solidFill>
                <a:latin typeface="Now Light"/>
                <a:ea typeface="Now Light"/>
                <a:cs typeface="Now Light"/>
                <a:sym typeface="Now Light"/>
              </a:rPr>
              <a:t>Helene Paquet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DAGafT2VshY</dc:identifier>
  <dcterms:modified xsi:type="dcterms:W3CDTF">2011-08-01T06:04:30Z</dcterms:modified>
  <cp:revision>1</cp:revision>
  <dc:title>Flyer Manu Print</dc:title>
</cp:coreProperties>
</file>